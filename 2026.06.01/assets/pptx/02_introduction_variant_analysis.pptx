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442" r:id="rId2"/>
    <p:sldId id="457" r:id="rId3"/>
    <p:sldId id="450" r:id="rId4"/>
    <p:sldId id="458" r:id="rId5"/>
    <p:sldId id="448" r:id="rId6"/>
    <p:sldId id="451" r:id="rId7"/>
    <p:sldId id="462" r:id="rId8"/>
    <p:sldId id="464" r:id="rId9"/>
    <p:sldId id="465" r:id="rId10"/>
    <p:sldId id="453" r:id="rId11"/>
    <p:sldId id="452" r:id="rId12"/>
    <p:sldId id="267" r:id="rId13"/>
    <p:sldId id="460" r:id="rId14"/>
    <p:sldId id="459" r:id="rId15"/>
    <p:sldId id="456" r:id="rId16"/>
    <p:sldId id="454" r:id="rId17"/>
    <p:sldId id="463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ert van Geest" initials="GvG" lastIdx="1" clrIdx="0">
    <p:extLst>
      <p:ext uri="{19B8F6BF-5375-455C-9EA6-DF929625EA0E}">
        <p15:presenceInfo xmlns:p15="http://schemas.microsoft.com/office/powerpoint/2012/main" userId="Geert van Gees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99EB"/>
    <a:srgbClr val="DB55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7275E2-09BB-B3AC-4E0C-DAF9AAEFE833}" v="11" dt="2026-04-08T07:49:54.3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Stijl, lich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586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936" y="1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drille Duchemin" userId="S::wandrille.duchemin@sib.swiss::596953ca-d0e7-4045-97a9-2ed7b88fab1e" providerId="AD" clId="Web-{8E7275E2-09BB-B3AC-4E0C-DAF9AAEFE833}"/>
    <pc:docChg chg="modSld">
      <pc:chgData name="Wandrille Duchemin" userId="S::wandrille.duchemin@sib.swiss::596953ca-d0e7-4045-97a9-2ed7b88fab1e" providerId="AD" clId="Web-{8E7275E2-09BB-B3AC-4E0C-DAF9AAEFE833}" dt="2026-04-08T07:49:36.954" v="9" actId="20577"/>
      <pc:docMkLst>
        <pc:docMk/>
      </pc:docMkLst>
      <pc:sldChg chg="modSp">
        <pc:chgData name="Wandrille Duchemin" userId="S::wandrille.duchemin@sib.swiss::596953ca-d0e7-4045-97a9-2ed7b88fab1e" providerId="AD" clId="Web-{8E7275E2-09BB-B3AC-4E0C-DAF9AAEFE833}" dt="2026-04-08T07:37:07.122" v="0" actId="20577"/>
        <pc:sldMkLst>
          <pc:docMk/>
          <pc:sldMk cId="3916993735" sldId="451"/>
        </pc:sldMkLst>
        <pc:spChg chg="mod">
          <ac:chgData name="Wandrille Duchemin" userId="S::wandrille.duchemin@sib.swiss::596953ca-d0e7-4045-97a9-2ed7b88fab1e" providerId="AD" clId="Web-{8E7275E2-09BB-B3AC-4E0C-DAF9AAEFE833}" dt="2026-04-08T07:37:07.122" v="0" actId="20577"/>
          <ac:spMkLst>
            <pc:docMk/>
            <pc:sldMk cId="3916993735" sldId="451"/>
            <ac:spMk id="2" creationId="{7F2BC76E-FDE1-7944-90AA-D481D01B47BE}"/>
          </ac:spMkLst>
        </pc:spChg>
      </pc:sldChg>
      <pc:sldChg chg="modSp">
        <pc:chgData name="Wandrille Duchemin" userId="S::wandrille.duchemin@sib.swiss::596953ca-d0e7-4045-97a9-2ed7b88fab1e" providerId="AD" clId="Web-{8E7275E2-09BB-B3AC-4E0C-DAF9AAEFE833}" dt="2026-04-08T07:49:36.954" v="9" actId="20577"/>
        <pc:sldMkLst>
          <pc:docMk/>
          <pc:sldMk cId="951868885" sldId="459"/>
        </pc:sldMkLst>
        <pc:spChg chg="mod">
          <ac:chgData name="Wandrille Duchemin" userId="S::wandrille.duchemin@sib.swiss::596953ca-d0e7-4045-97a9-2ed7b88fab1e" providerId="AD" clId="Web-{8E7275E2-09BB-B3AC-4E0C-DAF9AAEFE833}" dt="2026-04-08T07:49:09.907" v="5" actId="20577"/>
          <ac:spMkLst>
            <pc:docMk/>
            <pc:sldMk cId="951868885" sldId="459"/>
            <ac:spMk id="3" creationId="{6F00EE71-E365-0545-AAB0-83FAF045EF42}"/>
          </ac:spMkLst>
        </pc:spChg>
        <pc:spChg chg="mod">
          <ac:chgData name="Wandrille Duchemin" userId="S::wandrille.duchemin@sib.swiss::596953ca-d0e7-4045-97a9-2ed7b88fab1e" providerId="AD" clId="Web-{8E7275E2-09BB-B3AC-4E0C-DAF9AAEFE833}" dt="2026-04-08T07:49:36.954" v="9" actId="20577"/>
          <ac:spMkLst>
            <pc:docMk/>
            <pc:sldMk cId="951868885" sldId="459"/>
            <ac:spMk id="6" creationId="{5AAE4BF8-2D87-3C42-9C01-DE6F6E692688}"/>
          </ac:spMkLst>
        </pc:spChg>
      </pc:sldChg>
      <pc:sldChg chg="modSp">
        <pc:chgData name="Wandrille Duchemin" userId="S::wandrille.duchemin@sib.swiss::596953ca-d0e7-4045-97a9-2ed7b88fab1e" providerId="AD" clId="Web-{8E7275E2-09BB-B3AC-4E0C-DAF9AAEFE833}" dt="2026-04-08T07:48:09.360" v="3" actId="20577"/>
        <pc:sldMkLst>
          <pc:docMk/>
          <pc:sldMk cId="2648771610" sldId="460"/>
        </pc:sldMkLst>
        <pc:spChg chg="mod">
          <ac:chgData name="Wandrille Duchemin" userId="S::wandrille.duchemin@sib.swiss::596953ca-d0e7-4045-97a9-2ed7b88fab1e" providerId="AD" clId="Web-{8E7275E2-09BB-B3AC-4E0C-DAF9AAEFE833}" dt="2026-04-08T07:48:09.360" v="3" actId="20577"/>
          <ac:spMkLst>
            <pc:docMk/>
            <pc:sldMk cId="2648771610" sldId="460"/>
            <ac:spMk id="2" creationId="{B234F491-3307-EB4A-B4F9-25537CC097F7}"/>
          </ac:spMkLst>
        </pc:spChg>
      </pc:sldChg>
      <pc:sldChg chg="modSp">
        <pc:chgData name="Wandrille Duchemin" userId="S::wandrille.duchemin@sib.swiss::596953ca-d0e7-4045-97a9-2ed7b88fab1e" providerId="AD" clId="Web-{8E7275E2-09BB-B3AC-4E0C-DAF9AAEFE833}" dt="2026-04-08T07:42:29.359" v="1" actId="20577"/>
        <pc:sldMkLst>
          <pc:docMk/>
          <pc:sldMk cId="2849368500" sldId="465"/>
        </pc:sldMkLst>
        <pc:spChg chg="mod">
          <ac:chgData name="Wandrille Duchemin" userId="S::wandrille.duchemin@sib.swiss::596953ca-d0e7-4045-97a9-2ed7b88fab1e" providerId="AD" clId="Web-{8E7275E2-09BB-B3AC-4E0C-DAF9AAEFE833}" dt="2026-04-08T07:42:29.359" v="1" actId="20577"/>
          <ac:spMkLst>
            <pc:docMk/>
            <pc:sldMk cId="2849368500" sldId="465"/>
            <ac:spMk id="2" creationId="{CEA3AB14-81D4-A42C-51FA-F4ECDFA62A2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DEC89-0886-420E-BA80-019B54138DC0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69826-3F6A-4D3F-89A3-ED6A12A088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9253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69826-3F6A-4D3F-89A3-ED6A12A0882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3782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0746-0CDE-4074-BDE5-E623F7146983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6132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Klik om de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E43D9-9064-4F11-9875-3DC42457D86C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726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A713F-5FE2-4DC7-A660-466F25E4EAED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476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83AA8-1775-46AE-88D7-871ABB959436}" type="datetime1">
              <a:rPr lang="en-GB" smtClean="0"/>
              <a:t>08/04/2026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715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81AF8-1EB4-4CCB-BAD6-D5824E8F7DDC}" type="datetime1">
              <a:rPr lang="en-GB" smtClean="0"/>
              <a:t>08/04/2026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1386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F14D-29EE-4785-B586-2D7AC2C36860}" type="datetime1">
              <a:rPr lang="en-GB" smtClean="0"/>
              <a:t>08/04/2026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6615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30A99-36EB-4660-8947-15D8E10E490E}" type="datetime1">
              <a:rPr lang="en-GB" smtClean="0"/>
              <a:t>08/04/2026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626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B993D-33E3-484B-97CE-88461009D7BB}" type="datetime1">
              <a:rPr lang="en-GB" smtClean="0"/>
              <a:t>08/04/2026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1241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AFE4C-1BFC-4B5D-A48B-D19CBF206252}" type="datetime1">
              <a:rPr lang="en-GB" smtClean="0"/>
              <a:t>08/04/2026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672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A398-4A14-4452-B35F-7EA90DD56283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7613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65B57-DD6C-4DD3-A370-C9B21AE60DC8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4795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94E0E-2BC3-44B2-B96D-B63459DB3886}" type="datetime1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213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Aneuploidy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7194" y="1131999"/>
            <a:ext cx="7878156" cy="4000546"/>
          </a:xfrm>
        </p:spPr>
        <p:txBody>
          <a:bodyPr>
            <a:noAutofit/>
          </a:bodyPr>
          <a:lstStyle/>
          <a:p>
            <a:r>
              <a:rPr lang="en-GB" b="1" dirty="0"/>
              <a:t>NGS – variant analysis</a:t>
            </a:r>
            <a:br>
              <a:rPr lang="en-GB" b="1" dirty="0"/>
            </a:br>
            <a:br>
              <a:rPr lang="en-GB" b="1" dirty="0"/>
            </a:br>
            <a:r>
              <a:rPr lang="en-GB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Introduction to </a:t>
            </a:r>
            <a:r>
              <a:rPr lang="en-GB" sz="2400" b="1">
                <a:solidFill>
                  <a:schemeClr val="tx1">
                    <a:lumMod val="50000"/>
                    <a:lumOff val="50000"/>
                  </a:schemeClr>
                </a:solidFill>
              </a:rPr>
              <a:t>variant analysis</a:t>
            </a:r>
            <a:br>
              <a:rPr lang="en-GB" b="1" dirty="0"/>
            </a:br>
            <a:endParaRPr lang="en-GB" b="1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4329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9F569-88C7-F848-BB51-9A6FCA297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Why study variants?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DF3D2-4480-5048-AE86-A4C7B7995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Find causes for phenotypic variation</a:t>
            </a:r>
          </a:p>
          <a:p>
            <a:r>
              <a:rPr lang="en-CH" dirty="0"/>
              <a:t>Understand relatedness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871EA-7657-A641-9BD2-E97361F08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2</a:t>
            </a:fld>
            <a:endParaRPr lang="en-GB"/>
          </a:p>
        </p:txBody>
      </p:sp>
      <p:pic>
        <p:nvPicPr>
          <p:cNvPr id="6" name="Picture 5" descr="Diagram, schematic&#10;&#10;Description automatically generated">
            <a:extLst>
              <a:ext uri="{FF2B5EF4-FFF2-40B4-BE49-F238E27FC236}">
                <a16:creationId xmlns:a16="http://schemas.microsoft.com/office/drawing/2014/main" id="{C14CA1D6-1073-144F-81A8-CE98F6D5C8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6403" y="2389649"/>
            <a:ext cx="2831888" cy="41032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9194928-27E7-6349-9D52-2517653739CE}"/>
              </a:ext>
            </a:extLst>
          </p:cNvPr>
          <p:cNvSpPr/>
          <p:nvPr/>
        </p:nvSpPr>
        <p:spPr>
          <a:xfrm>
            <a:off x="5330142" y="6538913"/>
            <a:ext cx="489030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Liu PL et al. </a:t>
            </a:r>
            <a:r>
              <a:rPr lang="en-US" sz="1200" dirty="0" err="1"/>
              <a:t>PLoS</a:t>
            </a:r>
            <a:r>
              <a:rPr lang="en-US" sz="1200" dirty="0"/>
              <a:t> One (2012) 7:e48970</a:t>
            </a:r>
            <a:endParaRPr lang="en-CH" sz="1200" dirty="0"/>
          </a:p>
        </p:txBody>
      </p:sp>
      <p:pic>
        <p:nvPicPr>
          <p:cNvPr id="1026" name="Picture 2" descr="Manhattan plot of a GWAS">
            <a:extLst>
              <a:ext uri="{FF2B5EF4-FFF2-40B4-BE49-F238E27FC236}">
                <a16:creationId xmlns:a16="http://schemas.microsoft.com/office/drawing/2014/main" id="{F7FF61F6-3878-4547-B180-B9C5C09C5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028" y="4001294"/>
            <a:ext cx="4977114" cy="1937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EB7A535-2A34-054D-AAD2-649F4AF8B87F}"/>
              </a:ext>
            </a:extLst>
          </p:cNvPr>
          <p:cNvSpPr/>
          <p:nvPr/>
        </p:nvSpPr>
        <p:spPr>
          <a:xfrm>
            <a:off x="525709" y="5899964"/>
            <a:ext cx="526069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H" sz="1200" dirty="0"/>
              <a:t>https://en.wikipedia.org/wiki/Genome-wide_association_study</a:t>
            </a:r>
          </a:p>
        </p:txBody>
      </p:sp>
    </p:spTree>
    <p:extLst>
      <p:ext uri="{BB962C8B-B14F-4D97-AF65-F5344CB8AC3E}">
        <p14:creationId xmlns:p14="http://schemas.microsoft.com/office/powerpoint/2010/main" val="2221502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BC061-CAFA-DD45-BE6B-B7397FE4A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Mutation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1C2BE-EDAC-E44F-9A94-89BB11F82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3</a:t>
            </a:fld>
            <a:endParaRPr lang="en-GB"/>
          </a:p>
        </p:txBody>
      </p:sp>
      <p:pic>
        <p:nvPicPr>
          <p:cNvPr id="5" name="Afbeelding 8">
            <a:extLst>
              <a:ext uri="{FF2B5EF4-FFF2-40B4-BE49-F238E27FC236}">
                <a16:creationId xmlns:a16="http://schemas.microsoft.com/office/drawing/2014/main" id="{6A30AEA4-22B2-F446-A8FF-F05336302F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90" b="16585"/>
          <a:stretch/>
        </p:blipFill>
        <p:spPr>
          <a:xfrm>
            <a:off x="5888181" y="1236195"/>
            <a:ext cx="2895379" cy="276509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130CDA3-EDE3-D64F-9B5D-68A6E4F03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CH" dirty="0"/>
              <a:t>Causes variation</a:t>
            </a:r>
          </a:p>
          <a:p>
            <a:pPr marL="0" indent="0">
              <a:buNone/>
            </a:pPr>
            <a:r>
              <a:rPr lang="en-CH" dirty="0"/>
              <a:t>Change in DNA sequence</a:t>
            </a:r>
          </a:p>
          <a:p>
            <a:pPr marL="0" indent="0">
              <a:buNone/>
            </a:pPr>
            <a:endParaRPr lang="en-CH" dirty="0"/>
          </a:p>
        </p:txBody>
      </p:sp>
      <p:sp>
        <p:nvSpPr>
          <p:cNvPr id="13" name="Rechthoek 5">
            <a:extLst>
              <a:ext uri="{FF2B5EF4-FFF2-40B4-BE49-F238E27FC236}">
                <a16:creationId xmlns:a16="http://schemas.microsoft.com/office/drawing/2014/main" id="{FC1B5540-7469-D742-8655-98AEB86A8023}"/>
              </a:ext>
            </a:extLst>
          </p:cNvPr>
          <p:cNvSpPr/>
          <p:nvPr/>
        </p:nvSpPr>
        <p:spPr>
          <a:xfrm>
            <a:off x="1504994" y="4348461"/>
            <a:ext cx="2531215" cy="38572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hthoek 11">
            <a:extLst>
              <a:ext uri="{FF2B5EF4-FFF2-40B4-BE49-F238E27FC236}">
                <a16:creationId xmlns:a16="http://schemas.microsoft.com/office/drawing/2014/main" id="{CFCB2195-7CB5-234E-94DA-56CD2382CEE9}"/>
              </a:ext>
            </a:extLst>
          </p:cNvPr>
          <p:cNvSpPr/>
          <p:nvPr/>
        </p:nvSpPr>
        <p:spPr>
          <a:xfrm>
            <a:off x="4036209" y="4348461"/>
            <a:ext cx="1069777" cy="3857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FD9DA7-88D4-7A47-B290-E3A82A29C845}"/>
              </a:ext>
            </a:extLst>
          </p:cNvPr>
          <p:cNvSpPr txBox="1"/>
          <p:nvPr/>
        </p:nvSpPr>
        <p:spPr>
          <a:xfrm>
            <a:off x="4036209" y="4341269"/>
            <a:ext cx="1069777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H" sz="2000" dirty="0"/>
              <a:t>CCD4a</a:t>
            </a:r>
          </a:p>
        </p:txBody>
      </p:sp>
      <p:sp>
        <p:nvSpPr>
          <p:cNvPr id="7" name="Curved Down Arrow 6">
            <a:extLst>
              <a:ext uri="{FF2B5EF4-FFF2-40B4-BE49-F238E27FC236}">
                <a16:creationId xmlns:a16="http://schemas.microsoft.com/office/drawing/2014/main" id="{169CF351-3B9E-334E-8C7F-AC167C0D1411}"/>
              </a:ext>
            </a:extLst>
          </p:cNvPr>
          <p:cNvSpPr/>
          <p:nvPr/>
        </p:nvSpPr>
        <p:spPr>
          <a:xfrm>
            <a:off x="3809097" y="4773080"/>
            <a:ext cx="1524000" cy="554181"/>
          </a:xfrm>
          <a:prstGeom prst="curved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BE95CF-FD18-ED48-961E-0083CBA10A57}"/>
              </a:ext>
            </a:extLst>
          </p:cNvPr>
          <p:cNvSpPr txBox="1"/>
          <p:nvPr/>
        </p:nvSpPr>
        <p:spPr>
          <a:xfrm>
            <a:off x="2559585" y="5344876"/>
            <a:ext cx="1752686" cy="40011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CH" sz="2000" dirty="0"/>
              <a:t>Carotenoids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EDDD46-5184-E94E-8901-0E2005DAFE57}"/>
              </a:ext>
            </a:extLst>
          </p:cNvPr>
          <p:cNvSpPr txBox="1"/>
          <p:nvPr/>
        </p:nvSpPr>
        <p:spPr>
          <a:xfrm>
            <a:off x="4572000" y="5341623"/>
            <a:ext cx="2192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000" dirty="0"/>
              <a:t>Apocarotenoids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154F436-68BE-7342-B9B2-F3022BCDAFB2}"/>
              </a:ext>
            </a:extLst>
          </p:cNvPr>
          <p:cNvCxnSpPr/>
          <p:nvPr/>
        </p:nvCxnSpPr>
        <p:spPr>
          <a:xfrm flipV="1">
            <a:off x="4036209" y="4348461"/>
            <a:ext cx="1069777" cy="38572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631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4C2B1-8A0C-A04D-A0E4-DF3A0343E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Mutations - causes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C2D15-7615-FC49-80E7-BC3C71251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/>
              <a:t>Repair </a:t>
            </a:r>
            <a:r>
              <a:rPr lang="en-CH" dirty="0"/>
              <a:t>mistakes</a:t>
            </a:r>
          </a:p>
          <a:p>
            <a:r>
              <a:rPr lang="en-CH"/>
              <a:t>Unbalanced </a:t>
            </a:r>
            <a:r>
              <a:rPr lang="en-US" dirty="0"/>
              <a:t>cell division</a:t>
            </a:r>
            <a:endParaRPr lang="en-CH" dirty="0"/>
          </a:p>
          <a:p>
            <a:r>
              <a:rPr lang="en-CH" dirty="0"/>
              <a:t>Transposable elements</a:t>
            </a:r>
          </a:p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8A283-A60C-E84C-9EE8-6C8FDB37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4</a:t>
            </a:fld>
            <a:endParaRPr lang="en-GB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2827CCD-AFD5-0D4B-B47F-BED8EB97C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6520" y="4001294"/>
            <a:ext cx="3738830" cy="2256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67BA30F-46D9-684B-A4E4-A4F001443449}"/>
              </a:ext>
            </a:extLst>
          </p:cNvPr>
          <p:cNvSpPr/>
          <p:nvPr/>
        </p:nvSpPr>
        <p:spPr>
          <a:xfrm>
            <a:off x="4776520" y="6257574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H" sz="1100" dirty="0"/>
              <a:t>https://nl.wikipedia.org/wiki/Springend_gen</a:t>
            </a:r>
          </a:p>
        </p:txBody>
      </p:sp>
    </p:spTree>
    <p:extLst>
      <p:ext uri="{BB962C8B-B14F-4D97-AF65-F5344CB8AC3E}">
        <p14:creationId xmlns:p14="http://schemas.microsoft.com/office/powerpoint/2010/main" val="1045201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01698-007A-5E4C-BA67-987265FEA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Mutations - types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CFB5D-A6A7-5143-8789-3A91A3FF3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inherited – germline variant</a:t>
            </a:r>
          </a:p>
          <a:p>
            <a:r>
              <a:rPr lang="en-CH" dirty="0"/>
              <a:t>cells – caused by somatic mutation</a:t>
            </a:r>
          </a:p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66CEF-E8F0-EF46-B479-1D89AAF55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5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72DE36-0C27-9D4B-B204-0719DBE75D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8650" y="3429000"/>
            <a:ext cx="4126524" cy="2063262"/>
          </a:xfrm>
          <a:prstGeom prst="rect">
            <a:avLst/>
          </a:prstGeom>
        </p:spPr>
      </p:pic>
      <p:pic>
        <p:nvPicPr>
          <p:cNvPr id="11" name="Picture 10" descr="A black rectangle with a white circle on it&#10;&#10;Description automatically generated with low confidence">
            <a:extLst>
              <a:ext uri="{FF2B5EF4-FFF2-40B4-BE49-F238E27FC236}">
                <a16:creationId xmlns:a16="http://schemas.microsoft.com/office/drawing/2014/main" id="{A5F564A1-E6D9-C34B-A6DE-F1199ED23F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028" y="3065171"/>
            <a:ext cx="1432674" cy="323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70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Afbeelding 8">
            <a:extLst>
              <a:ext uri="{FF2B5EF4-FFF2-40B4-BE49-F238E27FC236}">
                <a16:creationId xmlns:a16="http://schemas.microsoft.com/office/drawing/2014/main" id="{A17D3AB4-A051-F649-89CD-BB26971CB8C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77" b="24273"/>
          <a:stretch/>
        </p:blipFill>
        <p:spPr>
          <a:xfrm>
            <a:off x="20" y="1"/>
            <a:ext cx="9143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2BC76E-FDE1-7944-90AA-D481D01B4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22362"/>
            <a:ext cx="6858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Question 4</a:t>
            </a:r>
            <a:endParaRPr lang="en-US" sz="6000" dirty="0">
              <a:solidFill>
                <a:srgbClr val="FFFF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A4A74-E655-0C45-96F4-29A3AE3B2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981FFD7-BD89-4AAB-A8FF-0A6846053A87}" type="slidenum">
              <a:rPr lang="en-US" sz="1000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6</a:t>
            </a:fld>
            <a:endParaRPr lang="en-US" sz="100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169937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A722C-AFAE-C549-B9E5-BCF444C4B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Some definitions..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1EE32-1DC7-AB46-A3BB-2415FCF17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b="1" dirty="0"/>
              <a:t>Mutation</a:t>
            </a:r>
            <a:r>
              <a:rPr lang="en-CH" dirty="0"/>
              <a:t>: a change in DNA</a:t>
            </a:r>
            <a:endParaRPr lang="en-CH" b="1" dirty="0"/>
          </a:p>
          <a:p>
            <a:r>
              <a:rPr lang="en-CH" b="1" dirty="0"/>
              <a:t>Variant</a:t>
            </a:r>
            <a:r>
              <a:rPr lang="en-CH" dirty="0"/>
              <a:t>: any difference that exists betwe</a:t>
            </a:r>
            <a:r>
              <a:rPr lang="en-US" dirty="0"/>
              <a:t>e</a:t>
            </a:r>
            <a:r>
              <a:rPr lang="en-CH" dirty="0"/>
              <a:t>n any DNA</a:t>
            </a:r>
          </a:p>
          <a:p>
            <a:r>
              <a:rPr lang="en-CH" b="1"/>
              <a:t>Polymorphism</a:t>
            </a:r>
            <a:r>
              <a:rPr lang="en-CH" dirty="0"/>
              <a:t>: variation that is common in a population (often AF &gt; 1%)</a:t>
            </a:r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r>
              <a:rPr lang="en-CH" dirty="0"/>
              <a:t>Variant vs polymorphism can be problematic: depends on the population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556F8-114D-CA4B-BA1B-CEE747AEA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1060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EF116-CBEC-C2CF-30D6-C3436F6D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8</a:t>
            </a:fld>
            <a:endParaRPr lang="en-GB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36FDF62-6AF8-2873-7894-101D50321CEE}"/>
              </a:ext>
            </a:extLst>
          </p:cNvPr>
          <p:cNvSpPr/>
          <p:nvPr/>
        </p:nvSpPr>
        <p:spPr>
          <a:xfrm>
            <a:off x="417688" y="383822"/>
            <a:ext cx="6355645" cy="6152443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F9EFE2B-FD85-3584-9473-F29F1B18AB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2159" y="2595878"/>
            <a:ext cx="902923" cy="314098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08B8F59-6944-C6AF-EE0B-9AA0967291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91864" y="2595878"/>
            <a:ext cx="902923" cy="314098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3DF2817-5F13-7336-274E-3BB52C4771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3577933" y="383822"/>
            <a:ext cx="902923" cy="554826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E7CD2800-7680-BFE1-B708-04CD61F0B0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158971" y="345689"/>
            <a:ext cx="902923" cy="55482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00300E0-E36A-EA9D-F912-FFBF58247D53}"/>
              </a:ext>
            </a:extLst>
          </p:cNvPr>
          <p:cNvSpPr txBox="1"/>
          <p:nvPr/>
        </p:nvSpPr>
        <p:spPr>
          <a:xfrm>
            <a:off x="959071" y="464252"/>
            <a:ext cx="3957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400" dirty="0"/>
              <a:t>nucleus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336AB09-2504-2B8D-E27C-5036041418D7}"/>
              </a:ext>
            </a:extLst>
          </p:cNvPr>
          <p:cNvGrpSpPr/>
          <p:nvPr/>
        </p:nvGrpSpPr>
        <p:grpSpPr>
          <a:xfrm>
            <a:off x="3577935" y="1063751"/>
            <a:ext cx="2494828" cy="158046"/>
            <a:chOff x="3577935" y="1063751"/>
            <a:chExt cx="2494828" cy="15804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6385766-0F39-FBA2-7C7E-4082437A42B4}"/>
                </a:ext>
              </a:extLst>
            </p:cNvPr>
            <p:cNvSpPr/>
            <p:nvPr/>
          </p:nvSpPr>
          <p:spPr>
            <a:xfrm>
              <a:off x="5169839" y="1063751"/>
              <a:ext cx="902924" cy="1580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EE792E-4D8B-67ED-8F48-D23B239EF631}"/>
                </a:ext>
              </a:extLst>
            </p:cNvPr>
            <p:cNvSpPr/>
            <p:nvPr/>
          </p:nvSpPr>
          <p:spPr>
            <a:xfrm>
              <a:off x="3577935" y="1063752"/>
              <a:ext cx="902924" cy="15804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FC211A4-5F16-4187-BF27-62E75A09F699}"/>
              </a:ext>
            </a:extLst>
          </p:cNvPr>
          <p:cNvGrpSpPr/>
          <p:nvPr/>
        </p:nvGrpSpPr>
        <p:grpSpPr>
          <a:xfrm>
            <a:off x="3577935" y="1882195"/>
            <a:ext cx="2494828" cy="164042"/>
            <a:chOff x="3577935" y="1882195"/>
            <a:chExt cx="2494828" cy="16404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B8DEAB4-E45D-21E9-B65E-8395AFCAF646}"/>
                </a:ext>
              </a:extLst>
            </p:cNvPr>
            <p:cNvSpPr/>
            <p:nvPr/>
          </p:nvSpPr>
          <p:spPr>
            <a:xfrm>
              <a:off x="3577935" y="1882195"/>
              <a:ext cx="902924" cy="1580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60BFE07-6B97-B38D-6CE6-3A82D811874E}"/>
                </a:ext>
              </a:extLst>
            </p:cNvPr>
            <p:cNvSpPr/>
            <p:nvPr/>
          </p:nvSpPr>
          <p:spPr>
            <a:xfrm>
              <a:off x="5169839" y="1888192"/>
              <a:ext cx="902924" cy="15804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63052CF-E5A1-B2DA-C138-5F31479F3CCE}"/>
              </a:ext>
            </a:extLst>
          </p:cNvPr>
          <p:cNvGrpSpPr/>
          <p:nvPr/>
        </p:nvGrpSpPr>
        <p:grpSpPr>
          <a:xfrm>
            <a:off x="3397955" y="1793123"/>
            <a:ext cx="5542844" cy="646331"/>
            <a:chOff x="3397955" y="1793123"/>
            <a:chExt cx="5542844" cy="646331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330F448E-77F0-BADF-CCC8-520B0F15A6C7}"/>
                </a:ext>
              </a:extLst>
            </p:cNvPr>
            <p:cNvSpPr/>
            <p:nvPr/>
          </p:nvSpPr>
          <p:spPr>
            <a:xfrm>
              <a:off x="3397955" y="1802549"/>
              <a:ext cx="2889956" cy="328473"/>
            </a:xfrm>
            <a:prstGeom prst="roundRect">
              <a:avLst/>
            </a:prstGeom>
            <a:noFill/>
            <a:ln w="381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3934670-8C4F-4E92-979D-7FE054509B2C}"/>
                </a:ext>
              </a:extLst>
            </p:cNvPr>
            <p:cNvSpPr txBox="1"/>
            <p:nvPr/>
          </p:nvSpPr>
          <p:spPr>
            <a:xfrm>
              <a:off x="7093594" y="1793123"/>
              <a:ext cx="18472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dirty="0"/>
                <a:t>Heterozygous Variant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DF41E530-3EF1-238A-3EA9-9CC9BD5F7F99}"/>
                </a:ext>
              </a:extLst>
            </p:cNvPr>
            <p:cNvCxnSpPr>
              <a:cxnSpLocks/>
            </p:cNvCxnSpPr>
            <p:nvPr/>
          </p:nvCxnSpPr>
          <p:spPr>
            <a:xfrm>
              <a:off x="6422955" y="1977789"/>
              <a:ext cx="656872" cy="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08F4365-CAE0-F68D-544F-ABC208469D51}"/>
              </a:ext>
            </a:extLst>
          </p:cNvPr>
          <p:cNvGrpSpPr/>
          <p:nvPr/>
        </p:nvGrpSpPr>
        <p:grpSpPr>
          <a:xfrm>
            <a:off x="3567069" y="3967624"/>
            <a:ext cx="2494828" cy="164042"/>
            <a:chOff x="3567069" y="3967624"/>
            <a:chExt cx="2494828" cy="164042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4AB62B2-A700-C6BA-4E17-2C09DB93AEFA}"/>
                </a:ext>
              </a:extLst>
            </p:cNvPr>
            <p:cNvSpPr/>
            <p:nvPr/>
          </p:nvSpPr>
          <p:spPr>
            <a:xfrm>
              <a:off x="3567069" y="3967624"/>
              <a:ext cx="902924" cy="1580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9D652E1-009F-F175-CCC6-BB29852820F3}"/>
                </a:ext>
              </a:extLst>
            </p:cNvPr>
            <p:cNvSpPr/>
            <p:nvPr/>
          </p:nvSpPr>
          <p:spPr>
            <a:xfrm>
              <a:off x="5158973" y="3973621"/>
              <a:ext cx="902924" cy="15804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90B96F7-BEEA-5A5D-8668-05A6352E3C59}"/>
              </a:ext>
            </a:extLst>
          </p:cNvPr>
          <p:cNvGrpSpPr/>
          <p:nvPr/>
        </p:nvGrpSpPr>
        <p:grpSpPr>
          <a:xfrm>
            <a:off x="3397955" y="3878552"/>
            <a:ext cx="5542844" cy="646331"/>
            <a:chOff x="3397955" y="3878552"/>
            <a:chExt cx="5542844" cy="646331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819C1CD-5428-272D-B861-1CF237FEBF40}"/>
                </a:ext>
              </a:extLst>
            </p:cNvPr>
            <p:cNvSpPr txBox="1"/>
            <p:nvPr/>
          </p:nvSpPr>
          <p:spPr>
            <a:xfrm>
              <a:off x="7093595" y="3878552"/>
              <a:ext cx="184720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dirty="0"/>
                <a:t>Homozygous variant</a:t>
              </a: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A76E5F2C-A300-24D9-FE06-3FEC03D4DE36}"/>
                </a:ext>
              </a:extLst>
            </p:cNvPr>
            <p:cNvSpPr/>
            <p:nvPr/>
          </p:nvSpPr>
          <p:spPr>
            <a:xfrm>
              <a:off x="3397955" y="3887145"/>
              <a:ext cx="2889956" cy="328473"/>
            </a:xfrm>
            <a:prstGeom prst="roundRect">
              <a:avLst/>
            </a:prstGeom>
            <a:noFill/>
            <a:ln w="381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C8A287BE-9457-C41D-979D-5A96EC0F1724}"/>
                </a:ext>
              </a:extLst>
            </p:cNvPr>
            <p:cNvCxnSpPr>
              <a:cxnSpLocks/>
            </p:cNvCxnSpPr>
            <p:nvPr/>
          </p:nvCxnSpPr>
          <p:spPr>
            <a:xfrm>
              <a:off x="6412089" y="4063218"/>
              <a:ext cx="656872" cy="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916123F-8969-076A-E8DC-86591AFA74CB}"/>
              </a:ext>
            </a:extLst>
          </p:cNvPr>
          <p:cNvGrpSpPr/>
          <p:nvPr/>
        </p:nvGrpSpPr>
        <p:grpSpPr>
          <a:xfrm>
            <a:off x="4984082" y="952080"/>
            <a:ext cx="3235923" cy="369332"/>
            <a:chOff x="4984082" y="952080"/>
            <a:chExt cx="3235923" cy="36933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FF87F36-7333-5864-0D78-353FFE128678}"/>
                </a:ext>
              </a:extLst>
            </p:cNvPr>
            <p:cNvCxnSpPr>
              <a:cxnSpLocks/>
            </p:cNvCxnSpPr>
            <p:nvPr/>
          </p:nvCxnSpPr>
          <p:spPr>
            <a:xfrm>
              <a:off x="6412089" y="1142773"/>
              <a:ext cx="656872" cy="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4916C141-0203-EAA9-69B5-63D99D40A780}"/>
                </a:ext>
              </a:extLst>
            </p:cNvPr>
            <p:cNvSpPr/>
            <p:nvPr/>
          </p:nvSpPr>
          <p:spPr>
            <a:xfrm>
              <a:off x="4984082" y="976126"/>
              <a:ext cx="1252706" cy="328473"/>
            </a:xfrm>
            <a:prstGeom prst="roundRect">
              <a:avLst/>
            </a:prstGeom>
            <a:noFill/>
            <a:ln w="381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5502E8A-0730-D25D-D28C-E31A6D612F0E}"/>
                </a:ext>
              </a:extLst>
            </p:cNvPr>
            <p:cNvSpPr txBox="1"/>
            <p:nvPr/>
          </p:nvSpPr>
          <p:spPr>
            <a:xfrm>
              <a:off x="7124983" y="952080"/>
              <a:ext cx="10950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H" dirty="0"/>
                <a:t>Allele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B7F37DB-19E7-3FFB-AA39-132F9B02B38F}"/>
              </a:ext>
            </a:extLst>
          </p:cNvPr>
          <p:cNvGrpSpPr/>
          <p:nvPr/>
        </p:nvGrpSpPr>
        <p:grpSpPr>
          <a:xfrm>
            <a:off x="3573947" y="2749363"/>
            <a:ext cx="2503090" cy="170974"/>
            <a:chOff x="3573947" y="2749363"/>
            <a:chExt cx="2503090" cy="170974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7D0DBF6-3D59-DD61-D896-B0764DB86BC6}"/>
                </a:ext>
              </a:extLst>
            </p:cNvPr>
            <p:cNvSpPr/>
            <p:nvPr/>
          </p:nvSpPr>
          <p:spPr>
            <a:xfrm>
              <a:off x="3573947" y="2762292"/>
              <a:ext cx="902924" cy="15804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AF988F7-1C29-C39D-D759-183F32BD717C}"/>
                </a:ext>
              </a:extLst>
            </p:cNvPr>
            <p:cNvSpPr/>
            <p:nvPr/>
          </p:nvSpPr>
          <p:spPr>
            <a:xfrm>
              <a:off x="5174113" y="2749363"/>
              <a:ext cx="902924" cy="15804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6A1C849-29F4-6ED2-D1EC-E509C370BB18}"/>
              </a:ext>
            </a:extLst>
          </p:cNvPr>
          <p:cNvGrpSpPr/>
          <p:nvPr/>
        </p:nvGrpSpPr>
        <p:grpSpPr>
          <a:xfrm>
            <a:off x="684628" y="5631508"/>
            <a:ext cx="5603233" cy="692183"/>
            <a:chOff x="684628" y="5631508"/>
            <a:chExt cx="5603233" cy="692183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4837850-DB94-48C4-47F0-AD22518501AC}"/>
                </a:ext>
              </a:extLst>
            </p:cNvPr>
            <p:cNvSpPr txBox="1"/>
            <p:nvPr/>
          </p:nvSpPr>
          <p:spPr>
            <a:xfrm>
              <a:off x="3724064" y="5954359"/>
              <a:ext cx="20026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dirty="0"/>
                <a:t>chromsome 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93EA82B-5E0A-A511-8E22-731EB46D3C1D}"/>
                </a:ext>
              </a:extLst>
            </p:cNvPr>
            <p:cNvSpPr txBox="1"/>
            <p:nvPr/>
          </p:nvSpPr>
          <p:spPr>
            <a:xfrm>
              <a:off x="897639" y="5951974"/>
              <a:ext cx="20026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dirty="0"/>
                <a:t>chromosome 1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BF65900-1AAE-932D-8E78-5BF12129ECE7}"/>
                </a:ext>
              </a:extLst>
            </p:cNvPr>
            <p:cNvSpPr txBox="1"/>
            <p:nvPr/>
          </p:nvSpPr>
          <p:spPr>
            <a:xfrm>
              <a:off x="684628" y="5631508"/>
              <a:ext cx="13179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400" dirty="0"/>
                <a:t>homolog A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AAE89E4-6C01-D281-103E-49C2AEE9AD01}"/>
                </a:ext>
              </a:extLst>
            </p:cNvPr>
            <p:cNvSpPr txBox="1"/>
            <p:nvPr/>
          </p:nvSpPr>
          <p:spPr>
            <a:xfrm>
              <a:off x="1805947" y="5631508"/>
              <a:ext cx="13179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400" dirty="0"/>
                <a:t>homolog B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6B0B432-06A9-4863-D442-5DBC1AA105ED}"/>
                </a:ext>
              </a:extLst>
            </p:cNvPr>
            <p:cNvSpPr txBox="1"/>
            <p:nvPr/>
          </p:nvSpPr>
          <p:spPr>
            <a:xfrm>
              <a:off x="3355511" y="5684139"/>
              <a:ext cx="13179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400" dirty="0"/>
                <a:t>homolog A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300A912-5697-8EF0-18B6-433A3711F3BE}"/>
                </a:ext>
              </a:extLst>
            </p:cNvPr>
            <p:cNvSpPr txBox="1"/>
            <p:nvPr/>
          </p:nvSpPr>
          <p:spPr>
            <a:xfrm>
              <a:off x="4969878" y="5684139"/>
              <a:ext cx="13179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400" dirty="0"/>
                <a:t>homolog B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82742D4-C9B9-7DFC-D4E2-109CB58665AE}"/>
              </a:ext>
            </a:extLst>
          </p:cNvPr>
          <p:cNvGrpSpPr/>
          <p:nvPr/>
        </p:nvGrpSpPr>
        <p:grpSpPr>
          <a:xfrm>
            <a:off x="4480859" y="1142774"/>
            <a:ext cx="1614367" cy="818444"/>
            <a:chOff x="4480859" y="1142774"/>
            <a:chExt cx="1614367" cy="818444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B681D60-5628-E340-DEAD-DD2130C13B7B}"/>
                </a:ext>
              </a:extLst>
            </p:cNvPr>
            <p:cNvCxnSpPr>
              <a:cxnSpLocks/>
              <a:stCxn id="13" idx="3"/>
              <a:endCxn id="12" idx="1"/>
            </p:cNvCxnSpPr>
            <p:nvPr/>
          </p:nvCxnSpPr>
          <p:spPr>
            <a:xfrm flipV="1">
              <a:off x="4480859" y="1142774"/>
              <a:ext cx="688980" cy="818444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805CA04-1E02-31EE-7C23-51E88BBDF881}"/>
                </a:ext>
              </a:extLst>
            </p:cNvPr>
            <p:cNvSpPr txBox="1"/>
            <p:nvPr/>
          </p:nvSpPr>
          <p:spPr>
            <a:xfrm>
              <a:off x="4842523" y="1352765"/>
              <a:ext cx="12527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H" dirty="0">
                  <a:solidFill>
                    <a:srgbClr val="C00000"/>
                  </a:solidFill>
                </a:rPr>
                <a:t>repulsion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85E6430-8322-FB76-B843-FFC7808883B4}"/>
              </a:ext>
            </a:extLst>
          </p:cNvPr>
          <p:cNvGrpSpPr/>
          <p:nvPr/>
        </p:nvGrpSpPr>
        <p:grpSpPr>
          <a:xfrm>
            <a:off x="4025409" y="2040240"/>
            <a:ext cx="1326320" cy="722052"/>
            <a:chOff x="4025409" y="2040240"/>
            <a:chExt cx="1326320" cy="722052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423D65D-404C-CB40-D644-E1A1E3E09AA8}"/>
                </a:ext>
              </a:extLst>
            </p:cNvPr>
            <p:cNvCxnSpPr>
              <a:cxnSpLocks/>
              <a:stCxn id="29" idx="0"/>
              <a:endCxn id="13" idx="2"/>
            </p:cNvCxnSpPr>
            <p:nvPr/>
          </p:nvCxnSpPr>
          <p:spPr>
            <a:xfrm flipV="1">
              <a:off x="4025409" y="2040240"/>
              <a:ext cx="3988" cy="722052"/>
            </a:xfrm>
            <a:prstGeom prst="straightConnector1">
              <a:avLst/>
            </a:prstGeom>
            <a:ln w="57150">
              <a:solidFill>
                <a:schemeClr val="accent6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69AB010-63F4-B97B-1E33-AC6B891F8251}"/>
                </a:ext>
              </a:extLst>
            </p:cNvPr>
            <p:cNvSpPr txBox="1"/>
            <p:nvPr/>
          </p:nvSpPr>
          <p:spPr>
            <a:xfrm>
              <a:off x="4099026" y="2226546"/>
              <a:ext cx="125270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CH" dirty="0">
                  <a:solidFill>
                    <a:schemeClr val="accent6">
                      <a:lumMod val="75000"/>
                    </a:schemeClr>
                  </a:solidFill>
                </a:rPr>
                <a:t>coupling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8EF0E27-F280-4573-5B48-918735BCAD1F}"/>
              </a:ext>
            </a:extLst>
          </p:cNvPr>
          <p:cNvGrpSpPr/>
          <p:nvPr/>
        </p:nvGrpSpPr>
        <p:grpSpPr>
          <a:xfrm>
            <a:off x="1083733" y="976126"/>
            <a:ext cx="3557122" cy="2079668"/>
            <a:chOff x="1083733" y="976126"/>
            <a:chExt cx="3557122" cy="2079668"/>
          </a:xfrm>
        </p:grpSpPr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3E1E323E-7372-B409-B362-71A17C2EE534}"/>
                </a:ext>
              </a:extLst>
            </p:cNvPr>
            <p:cNvSpPr/>
            <p:nvPr/>
          </p:nvSpPr>
          <p:spPr>
            <a:xfrm>
              <a:off x="3322871" y="976126"/>
              <a:ext cx="1317984" cy="2079668"/>
            </a:xfrm>
            <a:prstGeom prst="roundRect">
              <a:avLst/>
            </a:prstGeom>
            <a:noFill/>
            <a:ln w="381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492925D5-6F98-5F0B-D873-510898644367}"/>
                </a:ext>
              </a:extLst>
            </p:cNvPr>
            <p:cNvCxnSpPr>
              <a:cxnSpLocks/>
              <a:stCxn id="49" idx="1"/>
              <a:endCxn id="53" idx="3"/>
            </p:cNvCxnSpPr>
            <p:nvPr/>
          </p:nvCxnSpPr>
          <p:spPr>
            <a:xfrm flipH="1">
              <a:off x="2506530" y="2015960"/>
              <a:ext cx="816341" cy="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B19A7A2-C699-945B-50F7-9CD78FD30872}"/>
                </a:ext>
              </a:extLst>
            </p:cNvPr>
            <p:cNvSpPr txBox="1"/>
            <p:nvPr/>
          </p:nvSpPr>
          <p:spPr>
            <a:xfrm>
              <a:off x="1083733" y="1831294"/>
              <a:ext cx="1422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dirty="0"/>
                <a:t>Haplotype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1840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3AB14-81D4-A42C-51FA-F4ECDFA62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Question 5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7FA4A-3617-C0FA-61F1-2A9270294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270FF-DBFC-6C90-E19E-052477D15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9368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7179B-BCB3-394E-A5F9-B3201C7E1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Detecting variants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115C2-6790-5F42-934A-C9532BD89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Phenotypic analysis</a:t>
            </a:r>
          </a:p>
          <a:p>
            <a:r>
              <a:rPr lang="en-CH" dirty="0"/>
              <a:t>Molecular analysis </a:t>
            </a:r>
          </a:p>
          <a:p>
            <a:pPr lvl="1"/>
            <a:r>
              <a:rPr lang="en-CH" dirty="0"/>
              <a:t>Sequencing</a:t>
            </a:r>
          </a:p>
          <a:p>
            <a:endParaRPr lang="en-CH" dirty="0"/>
          </a:p>
          <a:p>
            <a:endParaRPr lang="en-CH" dirty="0"/>
          </a:p>
        </p:txBody>
      </p:sp>
      <p:pic>
        <p:nvPicPr>
          <p:cNvPr id="8" name="Afbeelding 3">
            <a:extLst>
              <a:ext uri="{FF2B5EF4-FFF2-40B4-BE49-F238E27FC236}">
                <a16:creationId xmlns:a16="http://schemas.microsoft.com/office/drawing/2014/main" id="{402CBBFC-D74F-7548-91B3-7965F1E5D7A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07" t="20999" r="37766" b="58666"/>
          <a:stretch/>
        </p:blipFill>
        <p:spPr>
          <a:xfrm>
            <a:off x="3161321" y="3909830"/>
            <a:ext cx="2004646" cy="24835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94D5A56-5A79-0D42-BE17-679BBEBB2329}"/>
              </a:ext>
            </a:extLst>
          </p:cNvPr>
          <p:cNvGrpSpPr/>
          <p:nvPr/>
        </p:nvGrpSpPr>
        <p:grpSpPr>
          <a:xfrm>
            <a:off x="801887" y="3789921"/>
            <a:ext cx="1786460" cy="2931555"/>
            <a:chOff x="3132781" y="2714941"/>
            <a:chExt cx="2441542" cy="4006535"/>
          </a:xfrm>
        </p:grpSpPr>
        <p:pic>
          <p:nvPicPr>
            <p:cNvPr id="9" name="Picture 8" descr="Timeline&#10;&#10;Description automatically generated">
              <a:extLst>
                <a:ext uri="{FF2B5EF4-FFF2-40B4-BE49-F238E27FC236}">
                  <a16:creationId xmlns:a16="http://schemas.microsoft.com/office/drawing/2014/main" id="{1094E7C5-CEBA-274B-A660-8BF9B66966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58815" r="73297"/>
            <a:stretch/>
          </p:blipFill>
          <p:spPr>
            <a:xfrm>
              <a:off x="3132781" y="4575967"/>
              <a:ext cx="2441542" cy="2145509"/>
            </a:xfrm>
            <a:prstGeom prst="rect">
              <a:avLst/>
            </a:prstGeom>
          </p:spPr>
        </p:pic>
        <p:pic>
          <p:nvPicPr>
            <p:cNvPr id="10" name="Picture 9" descr="Timeline&#10;&#10;Description automatically generated">
              <a:extLst>
                <a:ext uri="{FF2B5EF4-FFF2-40B4-BE49-F238E27FC236}">
                  <a16:creationId xmlns:a16="http://schemas.microsoft.com/office/drawing/2014/main" id="{FFC4C2CE-A213-8546-B90C-789CCB896E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73297" b="63962"/>
            <a:stretch/>
          </p:blipFill>
          <p:spPr>
            <a:xfrm>
              <a:off x="3132781" y="2714941"/>
              <a:ext cx="2441542" cy="1877380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366F80E8-DE6F-E949-9E47-F107AFF622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8941" y="1372493"/>
            <a:ext cx="3072274" cy="507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686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C9536-DCB5-5345-9354-8ECD29311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Small variants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D3879-2CBC-A147-B164-F027A20B2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Single nucleotide variant (SNV)</a:t>
            </a:r>
          </a:p>
          <a:p>
            <a:endParaRPr lang="en-CH" dirty="0"/>
          </a:p>
          <a:p>
            <a:endParaRPr lang="en-CH" dirty="0"/>
          </a:p>
          <a:p>
            <a:endParaRPr lang="en-CH" dirty="0"/>
          </a:p>
          <a:p>
            <a:r>
              <a:rPr lang="en-CH" dirty="0"/>
              <a:t>Insertion/deletion (INDEL)</a:t>
            </a:r>
          </a:p>
          <a:p>
            <a:endParaRPr lang="en-CH" dirty="0"/>
          </a:p>
          <a:p>
            <a:pPr marL="0" indent="0">
              <a:buNone/>
            </a:pP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12F21-B31D-F140-8F1A-3FB1EDB0A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11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798D6C-C824-E44A-976A-B0CADE2B6DC0}"/>
              </a:ext>
            </a:extLst>
          </p:cNvPr>
          <p:cNvSpPr txBox="1"/>
          <p:nvPr/>
        </p:nvSpPr>
        <p:spPr>
          <a:xfrm>
            <a:off x="917958" y="2514486"/>
            <a:ext cx="34772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3600" dirty="0">
                <a:latin typeface="+mj-lt"/>
              </a:rPr>
              <a:t>ATCATG</a:t>
            </a:r>
            <a:r>
              <a:rPr lang="en-CH" sz="3600" dirty="0">
                <a:solidFill>
                  <a:srgbClr val="FF0000"/>
                </a:solidFill>
                <a:latin typeface="+mj-lt"/>
              </a:rPr>
              <a:t>A</a:t>
            </a:r>
            <a:r>
              <a:rPr lang="en-CH" sz="3600" dirty="0">
                <a:latin typeface="+mj-lt"/>
              </a:rPr>
              <a:t>CCGTCA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6D51CF-B157-014F-A7D6-C51F297205A3}"/>
              </a:ext>
            </a:extLst>
          </p:cNvPr>
          <p:cNvSpPr txBox="1"/>
          <p:nvPr/>
        </p:nvSpPr>
        <p:spPr>
          <a:xfrm>
            <a:off x="917957" y="2943923"/>
            <a:ext cx="34772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3600" dirty="0">
                <a:latin typeface="+mj-lt"/>
              </a:rPr>
              <a:t>ATCATG</a:t>
            </a:r>
            <a:r>
              <a:rPr lang="en-CH" sz="3600" dirty="0">
                <a:solidFill>
                  <a:srgbClr val="FF0000"/>
                </a:solidFill>
                <a:latin typeface="+mj-lt"/>
              </a:rPr>
              <a:t>T</a:t>
            </a:r>
            <a:r>
              <a:rPr lang="en-CH" sz="3600" dirty="0">
                <a:latin typeface="+mj-lt"/>
              </a:rPr>
              <a:t>CCGTCA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E41837-F861-D54A-BD0C-4637009409A6}"/>
              </a:ext>
            </a:extLst>
          </p:cNvPr>
          <p:cNvSpPr txBox="1"/>
          <p:nvPr/>
        </p:nvSpPr>
        <p:spPr>
          <a:xfrm>
            <a:off x="917957" y="4478114"/>
            <a:ext cx="34772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3600" dirty="0">
                <a:latin typeface="+mj-lt"/>
              </a:rPr>
              <a:t>ATCATG</a:t>
            </a:r>
            <a:r>
              <a:rPr lang="en-CH" sz="3600" dirty="0">
                <a:solidFill>
                  <a:srgbClr val="FF0000"/>
                </a:solidFill>
                <a:latin typeface="+mj-lt"/>
              </a:rPr>
              <a:t>ACC</a:t>
            </a:r>
            <a:r>
              <a:rPr lang="en-CH" sz="3600" dirty="0">
                <a:latin typeface="+mj-lt"/>
              </a:rPr>
              <a:t>GTCA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DBE4BC-45B4-0044-ADD5-E6944094D000}"/>
              </a:ext>
            </a:extLst>
          </p:cNvPr>
          <p:cNvSpPr txBox="1"/>
          <p:nvPr/>
        </p:nvSpPr>
        <p:spPr>
          <a:xfrm>
            <a:off x="917957" y="4920300"/>
            <a:ext cx="34772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3600" dirty="0">
                <a:latin typeface="+mj-lt"/>
              </a:rPr>
              <a:t>ATCATG</a:t>
            </a:r>
            <a:r>
              <a:rPr lang="en-CH" sz="3600" dirty="0">
                <a:solidFill>
                  <a:srgbClr val="FF0000"/>
                </a:solidFill>
                <a:latin typeface="+mj-lt"/>
              </a:rPr>
              <a:t>---</a:t>
            </a:r>
            <a:r>
              <a:rPr lang="en-CH" sz="3600" dirty="0">
                <a:latin typeface="+mj-lt"/>
              </a:rPr>
              <a:t>GTCA</a:t>
            </a:r>
          </a:p>
        </p:txBody>
      </p:sp>
    </p:spTree>
    <p:extLst>
      <p:ext uri="{BB962C8B-B14F-4D97-AF65-F5344CB8AC3E}">
        <p14:creationId xmlns:p14="http://schemas.microsoft.com/office/powerpoint/2010/main" val="2157984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DF493-8FEA-B044-87C7-D45CA1583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Haplotypes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2DFFB-77F0-4845-9E58-6C7CBE19D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4256637" cy="4351338"/>
          </a:xfrm>
        </p:spPr>
        <p:txBody>
          <a:bodyPr/>
          <a:lstStyle/>
          <a:p>
            <a:r>
              <a:rPr lang="en-US" dirty="0"/>
              <a:t>NGS variants: mostly SNP</a:t>
            </a:r>
          </a:p>
          <a:p>
            <a:r>
              <a:rPr lang="en-US" dirty="0"/>
              <a:t>Most SNPs are bi-allelic e.g. [A/T], [G/C]</a:t>
            </a:r>
          </a:p>
          <a:p>
            <a:r>
              <a:rPr lang="en-US" dirty="0"/>
              <a:t>Genetic variation is often multi-allelic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CCDFDCF-51EE-3478-323F-A14B0F8D03F4}"/>
              </a:ext>
            </a:extLst>
          </p:cNvPr>
          <p:cNvGrpSpPr/>
          <p:nvPr/>
        </p:nvGrpSpPr>
        <p:grpSpPr>
          <a:xfrm>
            <a:off x="5083974" y="1575445"/>
            <a:ext cx="3834248" cy="722512"/>
            <a:chOff x="5083976" y="1929253"/>
            <a:chExt cx="3834248" cy="722512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711913A6-6BF8-55F1-851E-3B3C05E79A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6639844" y="373385"/>
              <a:ext cx="722511" cy="3834248"/>
            </a:xfrm>
            <a:prstGeom prst="rect">
              <a:avLst/>
            </a:prstGeom>
          </p:spPr>
        </p:pic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73327E6-C689-2159-616E-C67C6A5E95AA}"/>
                </a:ext>
              </a:extLst>
            </p:cNvPr>
            <p:cNvCxnSpPr/>
            <p:nvPr/>
          </p:nvCxnSpPr>
          <p:spPr>
            <a:xfrm>
              <a:off x="5839554" y="1929253"/>
              <a:ext cx="0" cy="722512"/>
            </a:xfrm>
            <a:prstGeom prst="line">
              <a:avLst/>
            </a:prstGeom>
            <a:ln w="762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C052C0C-DECB-1C49-A352-2C2880E6AF3C}"/>
                </a:ext>
              </a:extLst>
            </p:cNvPr>
            <p:cNvSpPr txBox="1"/>
            <p:nvPr/>
          </p:nvSpPr>
          <p:spPr>
            <a:xfrm>
              <a:off x="5694525" y="2105843"/>
              <a:ext cx="29006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6">
                      <a:lumMod val="75000"/>
                    </a:schemeClr>
                  </a:solidFill>
                </a:rPr>
                <a:t>A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EEB5CCB-B8E4-E3A1-81D8-968D7652605E}"/>
                </a:ext>
              </a:extLst>
            </p:cNvPr>
            <p:cNvCxnSpPr/>
            <p:nvPr/>
          </p:nvCxnSpPr>
          <p:spPr>
            <a:xfrm>
              <a:off x="6182564" y="1929253"/>
              <a:ext cx="0" cy="722512"/>
            </a:xfrm>
            <a:prstGeom prst="line">
              <a:avLst/>
            </a:prstGeom>
            <a:ln w="762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A9A7F56-3A8E-4E42-A98A-12D3B29B5203}"/>
                </a:ext>
              </a:extLst>
            </p:cNvPr>
            <p:cNvSpPr txBox="1"/>
            <p:nvPr/>
          </p:nvSpPr>
          <p:spPr>
            <a:xfrm>
              <a:off x="6037535" y="2110376"/>
              <a:ext cx="29006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4">
                      <a:lumMod val="75000"/>
                    </a:schemeClr>
                  </a:solidFill>
                </a:rPr>
                <a:t>G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98F4542-8E00-31B4-31BC-100EAF02C2FD}"/>
              </a:ext>
            </a:extLst>
          </p:cNvPr>
          <p:cNvGrpSpPr/>
          <p:nvPr/>
        </p:nvGrpSpPr>
        <p:grpSpPr>
          <a:xfrm>
            <a:off x="5083976" y="2767836"/>
            <a:ext cx="3834248" cy="722512"/>
            <a:chOff x="5083976" y="2688247"/>
            <a:chExt cx="3834248" cy="722512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673BC787-4803-4FDC-B0FB-6742D4852F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6639844" y="1132379"/>
              <a:ext cx="722511" cy="3834248"/>
            </a:xfrm>
            <a:prstGeom prst="rect">
              <a:avLst/>
            </a:prstGeom>
          </p:spPr>
        </p:pic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6236354-4582-E334-A280-DD1E1078308A}"/>
                </a:ext>
              </a:extLst>
            </p:cNvPr>
            <p:cNvCxnSpPr/>
            <p:nvPr/>
          </p:nvCxnSpPr>
          <p:spPr>
            <a:xfrm>
              <a:off x="5838849" y="2688247"/>
              <a:ext cx="0" cy="722512"/>
            </a:xfrm>
            <a:prstGeom prst="line">
              <a:avLst/>
            </a:prstGeom>
            <a:ln w="762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A0C5E26-0B01-674F-AB55-386FE0FB4E0A}"/>
                </a:ext>
              </a:extLst>
            </p:cNvPr>
            <p:cNvSpPr txBox="1"/>
            <p:nvPr/>
          </p:nvSpPr>
          <p:spPr>
            <a:xfrm>
              <a:off x="5694524" y="2864837"/>
              <a:ext cx="29006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6">
                      <a:lumMod val="75000"/>
                    </a:schemeClr>
                  </a:solidFill>
                </a:rPr>
                <a:t>A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6671545-06CD-BED0-EE3D-F424AD1A8D78}"/>
                </a:ext>
              </a:extLst>
            </p:cNvPr>
            <p:cNvCxnSpPr/>
            <p:nvPr/>
          </p:nvCxnSpPr>
          <p:spPr>
            <a:xfrm>
              <a:off x="6182564" y="2688247"/>
              <a:ext cx="0" cy="722512"/>
            </a:xfrm>
            <a:prstGeom prst="line">
              <a:avLst/>
            </a:prstGeom>
            <a:ln w="762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6AF9452-D638-114A-A8BF-0EC7E860631A}"/>
                </a:ext>
              </a:extLst>
            </p:cNvPr>
            <p:cNvSpPr txBox="1"/>
            <p:nvPr/>
          </p:nvSpPr>
          <p:spPr>
            <a:xfrm>
              <a:off x="6037535" y="2864837"/>
              <a:ext cx="29006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5">
                      <a:lumMod val="75000"/>
                    </a:schemeClr>
                  </a:solidFill>
                </a:rPr>
                <a:t>C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07B2B2D-EAB9-6A36-D634-3B21798F8FA8}"/>
              </a:ext>
            </a:extLst>
          </p:cNvPr>
          <p:cNvGrpSpPr/>
          <p:nvPr/>
        </p:nvGrpSpPr>
        <p:grpSpPr>
          <a:xfrm>
            <a:off x="5083975" y="3960227"/>
            <a:ext cx="3834248" cy="722512"/>
            <a:chOff x="5083975" y="3447241"/>
            <a:chExt cx="3834248" cy="722512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C4D9C01-E586-3FAE-8072-2AE1ED4659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6639843" y="1891373"/>
              <a:ext cx="722511" cy="3834248"/>
            </a:xfrm>
            <a:prstGeom prst="rect">
              <a:avLst/>
            </a:prstGeom>
          </p:spPr>
        </p:pic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2C24FB6-91A4-F3B2-E3C8-86386D1331F6}"/>
                </a:ext>
              </a:extLst>
            </p:cNvPr>
            <p:cNvCxnSpPr/>
            <p:nvPr/>
          </p:nvCxnSpPr>
          <p:spPr>
            <a:xfrm>
              <a:off x="5838849" y="3447241"/>
              <a:ext cx="0" cy="72251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08F11DF-9236-D74F-B684-4DCCB2A7258A}"/>
                </a:ext>
              </a:extLst>
            </p:cNvPr>
            <p:cNvSpPr txBox="1"/>
            <p:nvPr/>
          </p:nvSpPr>
          <p:spPr>
            <a:xfrm>
              <a:off x="5694524" y="3617936"/>
              <a:ext cx="29006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T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4DF2D37-5D72-52C4-079C-09F0DD3ADBB7}"/>
                </a:ext>
              </a:extLst>
            </p:cNvPr>
            <p:cNvCxnSpPr/>
            <p:nvPr/>
          </p:nvCxnSpPr>
          <p:spPr>
            <a:xfrm>
              <a:off x="6182564" y="3447241"/>
              <a:ext cx="0" cy="722512"/>
            </a:xfrm>
            <a:prstGeom prst="line">
              <a:avLst/>
            </a:prstGeom>
            <a:ln w="762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4DA1358-1E4C-AD44-B608-82A64D5A3865}"/>
                </a:ext>
              </a:extLst>
            </p:cNvPr>
            <p:cNvSpPr txBox="1"/>
            <p:nvPr/>
          </p:nvSpPr>
          <p:spPr>
            <a:xfrm>
              <a:off x="6037535" y="3618795"/>
              <a:ext cx="29006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4">
                      <a:lumMod val="75000"/>
                    </a:schemeClr>
                  </a:solidFill>
                </a:rPr>
                <a:t>G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C9E4CFF-900E-FE4F-CB99-A45CA3D8BA3B}"/>
              </a:ext>
            </a:extLst>
          </p:cNvPr>
          <p:cNvGrpSpPr/>
          <p:nvPr/>
        </p:nvGrpSpPr>
        <p:grpSpPr>
          <a:xfrm>
            <a:off x="5083974" y="5152618"/>
            <a:ext cx="3834248" cy="722512"/>
            <a:chOff x="5083974" y="4206235"/>
            <a:chExt cx="3834248" cy="722512"/>
          </a:xfrm>
        </p:grpSpPr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EDF5EBCA-8B08-8158-2D42-3116CE1B96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6639842" y="2650367"/>
              <a:ext cx="722511" cy="3834248"/>
            </a:xfrm>
            <a:prstGeom prst="rect">
              <a:avLst/>
            </a:prstGeom>
          </p:spPr>
        </p:pic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7A1D044-7522-A416-DFCA-12114CEF47FB}"/>
                </a:ext>
              </a:extLst>
            </p:cNvPr>
            <p:cNvCxnSpPr/>
            <p:nvPr/>
          </p:nvCxnSpPr>
          <p:spPr>
            <a:xfrm>
              <a:off x="5838849" y="4206235"/>
              <a:ext cx="0" cy="72251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15AB56B-500E-5EA0-5F8D-1DE2DB66C768}"/>
                </a:ext>
              </a:extLst>
            </p:cNvPr>
            <p:cNvCxnSpPr/>
            <p:nvPr/>
          </p:nvCxnSpPr>
          <p:spPr>
            <a:xfrm>
              <a:off x="6182564" y="4206235"/>
              <a:ext cx="0" cy="722512"/>
            </a:xfrm>
            <a:prstGeom prst="line">
              <a:avLst/>
            </a:prstGeom>
            <a:ln w="762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C4BD1E8-64F9-634F-8AD6-1567E85090CB}"/>
                </a:ext>
              </a:extLst>
            </p:cNvPr>
            <p:cNvSpPr txBox="1"/>
            <p:nvPr/>
          </p:nvSpPr>
          <p:spPr>
            <a:xfrm>
              <a:off x="5694781" y="4382825"/>
              <a:ext cx="29006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53B5CE3-9D56-E448-AAB8-50A75CC2C493}"/>
                </a:ext>
              </a:extLst>
            </p:cNvPr>
            <p:cNvSpPr txBox="1"/>
            <p:nvPr/>
          </p:nvSpPr>
          <p:spPr>
            <a:xfrm>
              <a:off x="6037534" y="4388703"/>
              <a:ext cx="29006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5">
                      <a:lumMod val="75000"/>
                    </a:schemeClr>
                  </a:solidFill>
                </a:rPr>
                <a:t>C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C2F2C37D-FA4F-13C7-D866-9B86C4DABAA4}"/>
              </a:ext>
            </a:extLst>
          </p:cNvPr>
          <p:cNvSpPr txBox="1"/>
          <p:nvPr/>
        </p:nvSpPr>
        <p:spPr>
          <a:xfrm>
            <a:off x="5083973" y="1198133"/>
            <a:ext cx="3834249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H" dirty="0"/>
              <a:t>Major symptoms</a:t>
            </a:r>
          </a:p>
          <a:p>
            <a:endParaRPr lang="en-CH" dirty="0"/>
          </a:p>
          <a:p>
            <a:endParaRPr lang="en-CH" dirty="0"/>
          </a:p>
          <a:p>
            <a:endParaRPr lang="en-CH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2E5A7D-D85A-875D-4F09-28B277627C32}"/>
              </a:ext>
            </a:extLst>
          </p:cNvPr>
          <p:cNvSpPr txBox="1"/>
          <p:nvPr/>
        </p:nvSpPr>
        <p:spPr>
          <a:xfrm>
            <a:off x="5083973" y="2398462"/>
            <a:ext cx="3834249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H" dirty="0"/>
              <a:t>Minor symptoms</a:t>
            </a:r>
          </a:p>
          <a:p>
            <a:endParaRPr lang="en-CH" dirty="0"/>
          </a:p>
          <a:p>
            <a:endParaRPr lang="en-CH" dirty="0"/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970316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34F491-3307-EB4A-B4F9-25537CC09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Question 6</a:t>
            </a: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DC076AB-AD19-9E40-A0F5-722DE290E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13</a:t>
            </a:fld>
            <a:endParaRPr lang="en-GB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FE36F952-B3D3-D845-86A7-88D0845ECDF3}"/>
              </a:ext>
            </a:extLst>
          </p:cNvPr>
          <p:cNvSpPr txBox="1"/>
          <p:nvPr/>
        </p:nvSpPr>
        <p:spPr>
          <a:xfrm>
            <a:off x="2917650" y="2823741"/>
            <a:ext cx="419725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sz="2800" dirty="0"/>
              <a:t>/</a:t>
            </a:r>
            <a:r>
              <a:rPr lang="en-US" sz="2800" dirty="0">
                <a:solidFill>
                  <a:srgbClr val="FF0000"/>
                </a:solidFill>
              </a:rPr>
              <a:t>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CCBD235-EDF2-3446-BCE3-BD080E926E0F}"/>
              </a:ext>
            </a:extLst>
          </p:cNvPr>
          <p:cNvSpPr txBox="1"/>
          <p:nvPr/>
        </p:nvSpPr>
        <p:spPr>
          <a:xfrm>
            <a:off x="4152275" y="2823741"/>
            <a:ext cx="419725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4">
                    <a:lumMod val="75000"/>
                  </a:schemeClr>
                </a:solidFill>
              </a:rPr>
              <a:t>G</a:t>
            </a:r>
            <a:r>
              <a:rPr lang="en-US" sz="2800" dirty="0"/>
              <a:t>/</a:t>
            </a:r>
            <a:r>
              <a:rPr lang="en-US" sz="2800" dirty="0">
                <a:solidFill>
                  <a:srgbClr val="FF0000"/>
                </a:solidFill>
              </a:rPr>
              <a:t>T</a:t>
            </a:r>
          </a:p>
        </p:txBody>
      </p:sp>
      <p:cxnSp>
        <p:nvCxnSpPr>
          <p:cNvPr id="7" name="Straight Connector 10">
            <a:extLst>
              <a:ext uri="{FF2B5EF4-FFF2-40B4-BE49-F238E27FC236}">
                <a16:creationId xmlns:a16="http://schemas.microsoft.com/office/drawing/2014/main" id="{62A413EA-4266-254D-B87B-0D4C0AAECBF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337375" y="3516239"/>
            <a:ext cx="8149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6">
            <a:extLst>
              <a:ext uri="{FF2B5EF4-FFF2-40B4-BE49-F238E27FC236}">
                <a16:creationId xmlns:a16="http://schemas.microsoft.com/office/drawing/2014/main" id="{96CBFAC3-61BC-6441-A6B8-72FC4805A990}"/>
              </a:ext>
            </a:extLst>
          </p:cNvPr>
          <p:cNvSpPr txBox="1"/>
          <p:nvPr/>
        </p:nvSpPr>
        <p:spPr>
          <a:xfrm>
            <a:off x="5386900" y="2823741"/>
            <a:ext cx="419725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T</a:t>
            </a:r>
            <a:r>
              <a:rPr lang="en-US" sz="2800" dirty="0"/>
              <a:t>/</a:t>
            </a:r>
            <a:r>
              <a:rPr lang="en-US" sz="2800" dirty="0">
                <a:solidFill>
                  <a:schemeClr val="accent5"/>
                </a:solidFill>
              </a:rPr>
              <a:t>C</a:t>
            </a:r>
          </a:p>
        </p:txBody>
      </p:sp>
      <p:cxnSp>
        <p:nvCxnSpPr>
          <p:cNvPr id="10" name="Straight Connector 10">
            <a:extLst>
              <a:ext uri="{FF2B5EF4-FFF2-40B4-BE49-F238E27FC236}">
                <a16:creationId xmlns:a16="http://schemas.microsoft.com/office/drawing/2014/main" id="{BEDEAD6C-AD65-F14C-B1CE-5A65333C85CC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4572000" y="3516239"/>
            <a:ext cx="8149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771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95EE2-8EDF-6749-BC3A-C1F45FB40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Large variants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0EE71-E365-0545-AAB0-83FAF045E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CH"/>
              <a:t>Structural variation </a:t>
            </a:r>
            <a:r>
              <a:rPr lang="en-CH" dirty="0"/>
              <a:t>(&gt; 1,000 base pairs)</a:t>
            </a:r>
          </a:p>
          <a:p>
            <a:pPr lvl="1"/>
            <a:r>
              <a:rPr lang="en-CH" dirty="0"/>
              <a:t>Copy number variation</a:t>
            </a:r>
          </a:p>
          <a:p>
            <a:pPr lvl="1"/>
            <a:r>
              <a:rPr lang="en-CH" dirty="0"/>
              <a:t>Translocations</a:t>
            </a:r>
          </a:p>
          <a:p>
            <a:pPr lvl="1"/>
            <a:r>
              <a:rPr lang="en-CH" dirty="0"/>
              <a:t>Inversions</a:t>
            </a:r>
            <a:endParaRPr lang="en-US" dirty="0"/>
          </a:p>
          <a:p>
            <a:pPr lvl="1"/>
            <a:r>
              <a:rPr lang="en-US" dirty="0"/>
              <a:t>Deletions/insertions</a:t>
            </a:r>
            <a:endParaRPr lang="en-CH" dirty="0"/>
          </a:p>
          <a:p>
            <a:r>
              <a:rPr lang="en-CH" dirty="0"/>
              <a:t>Chromosomal </a:t>
            </a:r>
            <a:r>
              <a:rPr lang="en-CH"/>
              <a:t>aberration</a:t>
            </a:r>
            <a:endParaRPr lang="en-CH" dirty="0">
              <a:ea typeface="Verdana"/>
            </a:endParaRPr>
          </a:p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484E1-4435-EB4D-9ADD-C303DA581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14</a:t>
            </a:fld>
            <a:endParaRPr lang="en-GB"/>
          </a:p>
        </p:txBody>
      </p:sp>
      <p:pic>
        <p:nvPicPr>
          <p:cNvPr id="5" name="Afbeelding 8">
            <a:extLst>
              <a:ext uri="{FF2B5EF4-FFF2-40B4-BE49-F238E27FC236}">
                <a16:creationId xmlns:a16="http://schemas.microsoft.com/office/drawing/2014/main" id="{9D0B830B-9365-7D48-9218-6EC3D4F819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90" b="16585"/>
          <a:stretch/>
        </p:blipFill>
        <p:spPr>
          <a:xfrm>
            <a:off x="6038960" y="3956377"/>
            <a:ext cx="2895379" cy="2765099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A3F1E2E9-7A90-4747-B896-01919F91EF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440" r="36321"/>
          <a:stretch/>
        </p:blipFill>
        <p:spPr bwMode="auto">
          <a:xfrm>
            <a:off x="1370736" y="4644445"/>
            <a:ext cx="3091934" cy="1388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AAE4BF8-2D87-3C42-9C01-DE6F6E692688}"/>
              </a:ext>
            </a:extLst>
          </p:cNvPr>
          <p:cNvSpPr/>
          <p:nvPr/>
        </p:nvSpPr>
        <p:spPr>
          <a:xfrm>
            <a:off x="1257465" y="6297114"/>
            <a:ext cx="4572000" cy="261610"/>
          </a:xfrm>
          <a:prstGeom prst="rect">
            <a:avLst/>
          </a:prstGeom>
        </p:spPr>
        <p:txBody>
          <a:bodyPr lIns="91440" tIns="45720" rIns="91440" bIns="45720" anchor="t">
            <a:spAutoFit/>
          </a:bodyPr>
          <a:lstStyle/>
          <a:p>
            <a:r>
              <a:rPr lang="en-US" sz="1100" dirty="0">
                <a:hlinkClick r:id="rId4"/>
              </a:rPr>
              <a:t>https://en.wikipedia.org/wiki/Aneuploidy</a:t>
            </a:r>
            <a:endParaRPr lang="en-US" sz="1100"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951868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470A4-60B3-A040-8A7E-8A269BA70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B4975-B1E5-9B48-A636-802B99999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Inherited (germline) small variants</a:t>
            </a:r>
          </a:p>
          <a:p>
            <a:r>
              <a:rPr lang="en-CH" dirty="0"/>
              <a:t>Detection by next generation sequencing (NGS)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28CAD-ECC3-E44A-9D9F-068D7F54B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173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31FEF-7A45-3745-8C2A-E49F66E12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16</a:t>
            </a:fld>
            <a:endParaRPr lang="en-GB" dirty="0"/>
          </a:p>
        </p:txBody>
      </p:sp>
      <p:pic>
        <p:nvPicPr>
          <p:cNvPr id="6" name="Picture 5" descr="Timeline&#10;&#10;Description automatically generated">
            <a:extLst>
              <a:ext uri="{FF2B5EF4-FFF2-40B4-BE49-F238E27FC236}">
                <a16:creationId xmlns:a16="http://schemas.microsoft.com/office/drawing/2014/main" id="{DB5122E9-8400-8141-913B-8F1AAEB713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73297"/>
          <a:stretch/>
        </p:blipFill>
        <p:spPr>
          <a:xfrm>
            <a:off x="1666496" y="824308"/>
            <a:ext cx="2441542" cy="5209383"/>
          </a:xfrm>
          <a:prstGeom prst="rect">
            <a:avLst/>
          </a:prstGeom>
        </p:spPr>
      </p:pic>
      <p:pic>
        <p:nvPicPr>
          <p:cNvPr id="5" name="Picture 4" descr="Timeline&#10;&#10;Description automatically generated">
            <a:extLst>
              <a:ext uri="{FF2B5EF4-FFF2-40B4-BE49-F238E27FC236}">
                <a16:creationId xmlns:a16="http://schemas.microsoft.com/office/drawing/2014/main" id="{912EA0B1-A149-3B49-A8AE-87A806CD94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35"/>
          <a:stretch/>
        </p:blipFill>
        <p:spPr>
          <a:xfrm>
            <a:off x="4108038" y="824308"/>
            <a:ext cx="3498915" cy="520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54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7C067-3B7C-9247-A4A4-6C7F52D4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17</a:t>
            </a:fld>
            <a:endParaRPr lang="en-GB"/>
          </a:p>
        </p:txBody>
      </p:sp>
      <p:pic>
        <p:nvPicPr>
          <p:cNvPr id="5" name="Content Placeholder 5" descr="A picture containing diagram&#10;&#10;Description automatically generated">
            <a:extLst>
              <a:ext uri="{FF2B5EF4-FFF2-40B4-BE49-F238E27FC236}">
                <a16:creationId xmlns:a16="http://schemas.microsoft.com/office/drawing/2014/main" id="{7455C55E-E399-D94C-9DC1-9D9DC95411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531768"/>
            <a:ext cx="7886700" cy="3608165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564338F-F14D-674B-B8FB-F06B432F8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CH" dirty="0"/>
              <a:t>GATK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407C2E-A4F0-B64B-8743-D6C9C8B36540}"/>
              </a:ext>
            </a:extLst>
          </p:cNvPr>
          <p:cNvSpPr/>
          <p:nvPr/>
        </p:nvSpPr>
        <p:spPr>
          <a:xfrm>
            <a:off x="89452" y="6538913"/>
            <a:ext cx="816002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H" sz="1100" dirty="0"/>
              <a:t>https://gatk.broadinstitute.org/hc/en-us/articles/360035535932-Germline-short-variant-discovery-SNPs-Indels-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41598B-2BFC-344B-BAF0-823ACCC909D2}"/>
              </a:ext>
            </a:extLst>
          </p:cNvPr>
          <p:cNvSpPr/>
          <p:nvPr/>
        </p:nvSpPr>
        <p:spPr>
          <a:xfrm>
            <a:off x="846667" y="2639883"/>
            <a:ext cx="1715911" cy="200942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838A77-A602-CA4B-B7B7-17E405263ACA}"/>
              </a:ext>
            </a:extLst>
          </p:cNvPr>
          <p:cNvSpPr txBox="1"/>
          <p:nvPr/>
        </p:nvSpPr>
        <p:spPr>
          <a:xfrm>
            <a:off x="999066" y="1791677"/>
            <a:ext cx="1411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Today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6C837E-12B4-C649-8467-F60F666A8FAF}"/>
              </a:ext>
            </a:extLst>
          </p:cNvPr>
          <p:cNvCxnSpPr>
            <a:stCxn id="8" idx="0"/>
            <a:endCxn id="9" idx="2"/>
          </p:cNvCxnSpPr>
          <p:nvPr/>
        </p:nvCxnSpPr>
        <p:spPr>
          <a:xfrm flipH="1" flipV="1">
            <a:off x="1704622" y="2161009"/>
            <a:ext cx="1" cy="4788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2619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theme/theme1.xml><?xml version="1.0" encoding="utf-8"?>
<a:theme xmlns:a="http://schemas.openxmlformats.org/drawingml/2006/main" name="Kantoorthema">
  <a:themeElements>
    <a:clrScheme name="Kantoorth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322</Words>
  <Application>Microsoft Office PowerPoint</Application>
  <PresentationFormat>On-screen Show (4:3)</PresentationFormat>
  <Paragraphs>105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Kantoorthema</vt:lpstr>
      <vt:lpstr>NGS – variant analysis  Introduction to variant analysis </vt:lpstr>
      <vt:lpstr>Why study variants?</vt:lpstr>
      <vt:lpstr>Mutation</vt:lpstr>
      <vt:lpstr>Mutations - causes</vt:lpstr>
      <vt:lpstr>Mutations - types</vt:lpstr>
      <vt:lpstr>Question 4</vt:lpstr>
      <vt:lpstr>Some definitions.. </vt:lpstr>
      <vt:lpstr>PowerPoint Presentation</vt:lpstr>
      <vt:lpstr>Question 5</vt:lpstr>
      <vt:lpstr>Detecting variants</vt:lpstr>
      <vt:lpstr>Small variants</vt:lpstr>
      <vt:lpstr>Haplotypes</vt:lpstr>
      <vt:lpstr>Question 6</vt:lpstr>
      <vt:lpstr>Large variants</vt:lpstr>
      <vt:lpstr>This course</vt:lpstr>
      <vt:lpstr>PowerPoint Presentation</vt:lpstr>
      <vt:lpstr>GATK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NGS – variant analysis  Introduction to variant analysis </dc:title>
  <dc:creator>van Geest, Gerrit Adriaan (BIOINFORMATICS)</dc:creator>
  <cp:lastModifiedBy>Geert vanGeest</cp:lastModifiedBy>
  <cp:revision>53</cp:revision>
  <dcterms:created xsi:type="dcterms:W3CDTF">2020-12-04T07:03:52Z</dcterms:created>
  <dcterms:modified xsi:type="dcterms:W3CDTF">2026-04-08T07:49:54Z</dcterms:modified>
</cp:coreProperties>
</file>