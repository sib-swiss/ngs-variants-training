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442" r:id="rId2"/>
    <p:sldId id="443" r:id="rId3"/>
    <p:sldId id="444" r:id="rId4"/>
    <p:sldId id="445" r:id="rId5"/>
    <p:sldId id="446" r:id="rId6"/>
    <p:sldId id="447" r:id="rId7"/>
    <p:sldId id="448" r:id="rId8"/>
    <p:sldId id="449" r:id="rId9"/>
    <p:sldId id="451" r:id="rId10"/>
    <p:sldId id="45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ert van Geest" initials="GvG" lastIdx="1" clrIdx="0">
    <p:extLst>
      <p:ext uri="{19B8F6BF-5375-455C-9EA6-DF929625EA0E}">
        <p15:presenceInfo xmlns:p15="http://schemas.microsoft.com/office/powerpoint/2012/main" userId="Geert van Gee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9EB"/>
    <a:srgbClr val="DB5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E70C62-7A2D-7EC6-857E-FC9262F5503A}" v="4" dt="2026-04-08T08:31:23.8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9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76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drille Duchemin" userId="S::wandrille.duchemin@sib.swiss::596953ca-d0e7-4045-97a9-2ed7b88fab1e" providerId="AD" clId="Web-{E1E70C62-7A2D-7EC6-857E-FC9262F5503A}"/>
    <pc:docChg chg="modSld">
      <pc:chgData name="Wandrille Duchemin" userId="S::wandrille.duchemin@sib.swiss::596953ca-d0e7-4045-97a9-2ed7b88fab1e" providerId="AD" clId="Web-{E1E70C62-7A2D-7EC6-857E-FC9262F5503A}" dt="2026-04-08T08:31:23.899" v="3" actId="20577"/>
      <pc:docMkLst>
        <pc:docMk/>
      </pc:docMkLst>
      <pc:sldChg chg="modSp">
        <pc:chgData name="Wandrille Duchemin" userId="S::wandrille.duchemin@sib.swiss::596953ca-d0e7-4045-97a9-2ed7b88fab1e" providerId="AD" clId="Web-{E1E70C62-7A2D-7EC6-857E-FC9262F5503A}" dt="2026-04-08T08:30:34.837" v="1" actId="20577"/>
        <pc:sldMkLst>
          <pc:docMk/>
          <pc:sldMk cId="4094329666" sldId="442"/>
        </pc:sldMkLst>
        <pc:spChg chg="mod">
          <ac:chgData name="Wandrille Duchemin" userId="S::wandrille.duchemin@sib.swiss::596953ca-d0e7-4045-97a9-2ed7b88fab1e" providerId="AD" clId="Web-{E1E70C62-7A2D-7EC6-857E-FC9262F5503A}" dt="2026-04-08T08:30:34.837" v="1" actId="20577"/>
          <ac:spMkLst>
            <pc:docMk/>
            <pc:sldMk cId="4094329666" sldId="442"/>
            <ac:spMk id="2" creationId="{00000000-0000-0000-0000-000000000000}"/>
          </ac:spMkLst>
        </pc:spChg>
      </pc:sldChg>
      <pc:sldChg chg="modSp">
        <pc:chgData name="Wandrille Duchemin" userId="S::wandrille.duchemin@sib.swiss::596953ca-d0e7-4045-97a9-2ed7b88fab1e" providerId="AD" clId="Web-{E1E70C62-7A2D-7EC6-857E-FC9262F5503A}" dt="2026-04-08T08:31:23.899" v="3" actId="20577"/>
        <pc:sldMkLst>
          <pc:docMk/>
          <pc:sldMk cId="954217739" sldId="446"/>
        </pc:sldMkLst>
        <pc:spChg chg="mod">
          <ac:chgData name="Wandrille Duchemin" userId="S::wandrille.duchemin@sib.swiss::596953ca-d0e7-4045-97a9-2ed7b88fab1e" providerId="AD" clId="Web-{E1E70C62-7A2D-7EC6-857E-FC9262F5503A}" dt="2026-04-08T08:31:23.899" v="3" actId="20577"/>
          <ac:spMkLst>
            <pc:docMk/>
            <pc:sldMk cId="954217739" sldId="446"/>
            <ac:spMk id="3" creationId="{CCA1A06D-2B8B-CC41-8B91-391F03C172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DEC89-0886-420E-BA80-019B54138DC0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69826-3F6A-4D3F-89A3-ED6A12A088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2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69826-3F6A-4D3F-89A3-ED6A12A0882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7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746-0CDE-4074-BDE5-E623F7146983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E43D9-9064-4F11-9875-3DC42457D86C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2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713F-5FE2-4DC7-A660-466F25E4EAED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3AA8-1775-46AE-88D7-871ABB959436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15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81AF8-1EB4-4CCB-BAD6-D5824E8F7DDC}" type="datetime1">
              <a:rPr lang="en-GB" smtClean="0"/>
              <a:t>08/04/2026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38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F14D-29EE-4785-B586-2D7AC2C36860}" type="datetime1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61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0A99-36EB-4660-8947-15D8E10E490E}" type="datetime1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62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993D-33E3-484B-97CE-88461009D7BB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4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AFE4C-1BFC-4B5D-A48B-D19CBF206252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67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A398-4A14-4452-B35F-7EA90DD56283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61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5B57-DD6C-4DD3-A370-C9B21AE60DC8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79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94E0E-2BC3-44B2-B96D-B63459DB3886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1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194" y="1131999"/>
            <a:ext cx="7878156" cy="4000546"/>
          </a:xfrm>
        </p:spPr>
        <p:txBody>
          <a:bodyPr>
            <a:noAutofit/>
          </a:bodyPr>
          <a:lstStyle/>
          <a:p>
            <a:r>
              <a:rPr lang="en-GB" b="1"/>
              <a:t>NGS – variant analysis</a:t>
            </a:r>
            <a:br>
              <a:rPr lang="en-GB" b="1" dirty="0"/>
            </a:br>
            <a:br>
              <a:rPr lang="en-GB" b="1" dirty="0"/>
            </a:br>
            <a:r>
              <a:rPr lang="en-GB" sz="2400" b="1">
                <a:solidFill>
                  <a:schemeClr val="tx1">
                    <a:lumMod val="50000"/>
                    <a:lumOff val="50000"/>
                  </a:schemeClr>
                </a:solidFill>
              </a:rPr>
              <a:t>Reproducible computational research</a:t>
            </a:r>
            <a:br>
              <a:rPr lang="en-GB" b="1" dirty="0"/>
            </a:br>
            <a:endParaRPr lang="en-GB" b="1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32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0B5C1-E3D5-0949-A256-05968DCA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Why reproducible?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0360F-D6A3-0B4D-9F6B-94DC2993C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H" dirty="0"/>
              <a:t>For yourself!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CH" dirty="0"/>
              <a:t>Adjusting your analysis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CH" dirty="0"/>
              <a:t>Sharing your analysis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CH" dirty="0"/>
              <a:t>Find out what the heck you did &gt; 2 weeks ago</a:t>
            </a:r>
          </a:p>
          <a:p>
            <a:pPr marL="514350" indent="-514350">
              <a:buFont typeface="+mj-lt"/>
              <a:buAutoNum type="arabicPeriod"/>
            </a:pPr>
            <a:r>
              <a:rPr lang="en-CH" dirty="0"/>
              <a:t>Because the academic community requires it..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H" dirty="0"/>
              <a:t>Many journals require accompanied code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H" dirty="0"/>
              <a:t>Proposals often require a data management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C6841-359B-AD45-92E0-244FD78C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65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CC34F-1989-F94E-9066-A00580E21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51734"/>
            <a:ext cx="7886700" cy="1325563"/>
          </a:xfrm>
        </p:spPr>
        <p:txBody>
          <a:bodyPr/>
          <a:lstStyle/>
          <a:p>
            <a:pPr algn="ctr"/>
            <a:r>
              <a:rPr lang="en-CH" dirty="0"/>
              <a:t>5 simple rules to get started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FF81D-D829-954D-9D54-ABAB0FF8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134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D4B5-CBE8-7A42-9477-ABCAD77B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Rule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F118-2314-8B4E-A7F7-37CCFCEA2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0377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Execute the commands from a script</a:t>
            </a:r>
            <a:r>
              <a:rPr lang="en-US" dirty="0">
                <a:solidFill>
                  <a:schemeClr val="tx2"/>
                </a:solidFill>
              </a:rPr>
              <a:t> in order to be able to trace back your steps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All output </a:t>
            </a:r>
            <a:r>
              <a:rPr lang="en-US" b="1" dirty="0"/>
              <a:t>files</a:t>
            </a:r>
            <a:r>
              <a:rPr lang="en-US" dirty="0"/>
              <a:t> and </a:t>
            </a:r>
            <a:r>
              <a:rPr lang="en-US" b="1" dirty="0"/>
              <a:t>directories</a:t>
            </a:r>
            <a:r>
              <a:rPr lang="en-US" dirty="0"/>
              <a:t> created from within a script</a:t>
            </a:r>
          </a:p>
          <a:p>
            <a:r>
              <a:rPr lang="en-US" b="1" dirty="0"/>
              <a:t>Adjusting</a:t>
            </a:r>
            <a:r>
              <a:rPr lang="en-US" dirty="0"/>
              <a:t> your analysis becomes possible</a:t>
            </a:r>
          </a:p>
          <a:p>
            <a:r>
              <a:rPr lang="en-CH" dirty="0"/>
              <a:t>Makes your analysis </a:t>
            </a:r>
            <a:r>
              <a:rPr lang="en-CH" b="1" dirty="0"/>
              <a:t>portable</a:t>
            </a:r>
            <a:r>
              <a:rPr lang="en-CH" dirty="0"/>
              <a:t>. It can be run:</a:t>
            </a:r>
          </a:p>
          <a:p>
            <a:pPr lvl="1"/>
            <a:r>
              <a:rPr lang="en-CH" dirty="0"/>
              <a:t>On a different computer</a:t>
            </a:r>
          </a:p>
          <a:p>
            <a:pPr lvl="1"/>
            <a:r>
              <a:rPr lang="en-CH" dirty="0"/>
              <a:t>By your colleague</a:t>
            </a:r>
          </a:p>
          <a:p>
            <a:endParaRPr lang="en-US" dirty="0"/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01119-E774-4B4C-AFFF-7D1E0CFD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4</a:t>
            </a:fld>
            <a:endParaRPr lang="en-GB"/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D299D6F2-0705-4647-8F8F-3CE64BD1D8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8800" y="5707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53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4E9A-ECE4-4F47-A1E8-FF7DBD5E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Rule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1A06D-2B8B-CC41-8B91-391F03C17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Number scripts</a:t>
            </a:r>
            <a:r>
              <a:rPr lang="en-US" dirty="0">
                <a:solidFill>
                  <a:schemeClr val="tx2"/>
                </a:solidFill>
              </a:rPr>
              <a:t> based on their order of execution (e.g.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01_download_reads.sh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endParaRPr lang="en-CH" dirty="0"/>
          </a:p>
          <a:p>
            <a:r>
              <a:rPr lang="en-CH" dirty="0"/>
              <a:t>Easily trace the order of execution</a:t>
            </a:r>
          </a:p>
          <a:p>
            <a:r>
              <a:rPr lang="en-CH"/>
              <a:t>Separates</a:t>
            </a:r>
            <a:r>
              <a:rPr lang="en-CH" dirty="0"/>
              <a:t> </a:t>
            </a:r>
            <a:r>
              <a:rPr lang="en-CH" b="1" dirty="0"/>
              <a:t>main</a:t>
            </a:r>
            <a:r>
              <a:rPr lang="en-CH" dirty="0"/>
              <a:t> scripts from </a:t>
            </a:r>
            <a:r>
              <a:rPr lang="en-CH" b="1" dirty="0"/>
              <a:t>secondary</a:t>
            </a:r>
            <a:r>
              <a:rPr lang="en-CH" dirty="0"/>
              <a:t> scripts (i.e. scripts called by another script)</a:t>
            </a:r>
            <a:endParaRPr lang="en-CH" dirty="0">
              <a:ea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2D371-CA7E-9943-8704-9E4FCC26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5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8E412-4A11-1A4A-88AA-1AD987EBECB3}"/>
              </a:ext>
            </a:extLst>
          </p:cNvPr>
          <p:cNvSpPr txBox="1"/>
          <p:nvPr/>
        </p:nvSpPr>
        <p:spPr>
          <a:xfrm>
            <a:off x="4333461" y="5091815"/>
            <a:ext cx="3677478" cy="132343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01_download_reads.sh 02_run_fastqc.sh 03_trim_reads.sh 04_run_fastqc_trimmed.sh</a:t>
            </a:r>
            <a:endParaRPr lang="en-CH" sz="2000" dirty="0">
              <a:latin typeface="+mj-lt"/>
            </a:endParaRPr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CF96AEF1-F3BC-4C42-B07A-B884A64802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8800" y="5707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17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7B38-741A-A446-9BA8-51004342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Rule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963A-47A9-6B45-83E5-D48ED2D9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Give your scripts a </a:t>
            </a:r>
            <a:r>
              <a:rPr lang="en-US" b="1" dirty="0">
                <a:solidFill>
                  <a:schemeClr val="tx2"/>
                </a:solidFill>
              </a:rPr>
              <a:t>descriptive and active name</a:t>
            </a:r>
            <a:r>
              <a:rPr lang="en-US" dirty="0">
                <a:solidFill>
                  <a:schemeClr val="tx2"/>
                </a:solidFill>
              </a:rPr>
              <a:t>, e.g.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06_build_bowtie_index.sh</a:t>
            </a:r>
          </a:p>
          <a:p>
            <a:endParaRPr lang="en-US" dirty="0"/>
          </a:p>
          <a:p>
            <a:r>
              <a:rPr lang="en-US" dirty="0"/>
              <a:t>Makes it easier to identify the script of interest</a:t>
            </a:r>
          </a:p>
          <a:p>
            <a:r>
              <a:rPr lang="en-US" dirty="0"/>
              <a:t>Helps you to adhere to rule 4</a:t>
            </a: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63541-6CCB-524B-8704-9F74218E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6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49EF5-030D-7B4F-93C0-7A631B872EB5}"/>
              </a:ext>
            </a:extLst>
          </p:cNvPr>
          <p:cNvSpPr txBox="1"/>
          <p:nvPr/>
        </p:nvSpPr>
        <p:spPr>
          <a:xfrm>
            <a:off x="4837872" y="5333710"/>
            <a:ext cx="3677478" cy="132343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01_download_reads.sh 02_run_fastqc.sh 03_trim_reads.sh 04_run_fastqc_trimmed.sh</a:t>
            </a:r>
            <a:endParaRPr lang="en-CH" sz="2000" dirty="0">
              <a:latin typeface="+mj-lt"/>
            </a:endParaRPr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F59A9A6E-E453-CE4D-BA21-94361025C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8800" y="5707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9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19CB-80F6-7A4F-A71A-D8E1D158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Rule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8B9A-2869-7C44-8635-01F5AD5AE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Make your scripts </a:t>
            </a:r>
            <a:r>
              <a:rPr lang="en-US" b="1" dirty="0">
                <a:solidFill>
                  <a:schemeClr val="tx2"/>
                </a:solidFill>
              </a:rPr>
              <a:t>specific</a:t>
            </a:r>
            <a:r>
              <a:rPr lang="en-US" dirty="0">
                <a:solidFill>
                  <a:schemeClr val="tx2"/>
                </a:solidFill>
              </a:rPr>
              <a:t>, i.e. do not combine many different commands in the same script</a:t>
            </a:r>
          </a:p>
          <a:p>
            <a:endParaRPr lang="en-CH" dirty="0"/>
          </a:p>
          <a:p>
            <a:r>
              <a:rPr lang="en-CH" dirty="0"/>
              <a:t>Makes your scripts </a:t>
            </a:r>
            <a:r>
              <a:rPr lang="en-CH" b="1" dirty="0"/>
              <a:t>modular</a:t>
            </a:r>
            <a:r>
              <a:rPr lang="en-CH" dirty="0"/>
              <a:t> (i.e. you can use it for other analyses</a:t>
            </a:r>
          </a:p>
          <a:p>
            <a:r>
              <a:rPr lang="en-CH" dirty="0"/>
              <a:t>Makes </a:t>
            </a:r>
            <a:r>
              <a:rPr lang="en-CH" b="1" dirty="0"/>
              <a:t>job submission </a:t>
            </a:r>
            <a:r>
              <a:rPr lang="en-CH" dirty="0"/>
              <a:t>more efficient</a:t>
            </a:r>
          </a:p>
          <a:p>
            <a:r>
              <a:rPr lang="en-CH" dirty="0"/>
              <a:t>Turn your script in a </a:t>
            </a:r>
            <a:r>
              <a:rPr lang="en-CH" b="1" dirty="0"/>
              <a:t>pipeline</a:t>
            </a:r>
            <a:r>
              <a:rPr lang="en-CH" dirty="0"/>
              <a:t> </a:t>
            </a:r>
            <a:r>
              <a:rPr lang="en-US" dirty="0"/>
              <a:t>later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128D5-AAEE-404A-B65E-E0A87EAB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7</a:t>
            </a:fld>
            <a:endParaRPr lang="en-GB"/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9692C617-69B2-714F-9DE0-B1E2899C00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8800" y="5707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65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F23F-F54F-6746-A44D-BE896AA8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Rule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189B9-A888-404D-928A-D6F2943A4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Refer to </a:t>
            </a:r>
            <a:r>
              <a:rPr lang="en-US" b="1" dirty="0">
                <a:solidFill>
                  <a:schemeClr val="tx2"/>
                </a:solidFill>
              </a:rPr>
              <a:t>directories and variables at the beginning</a:t>
            </a:r>
            <a:r>
              <a:rPr lang="en-US" dirty="0">
                <a:solidFill>
                  <a:schemeClr val="tx2"/>
                </a:solidFill>
              </a:rPr>
              <a:t> of the script</a:t>
            </a:r>
          </a:p>
          <a:p>
            <a:endParaRPr lang="en-CH" dirty="0"/>
          </a:p>
          <a:p>
            <a:r>
              <a:rPr lang="en-CH" dirty="0"/>
              <a:t>Directories and variables need to be </a:t>
            </a:r>
            <a:r>
              <a:rPr lang="en-CH" b="1" dirty="0"/>
              <a:t>changed</a:t>
            </a:r>
            <a:r>
              <a:rPr lang="en-CH" dirty="0"/>
              <a:t> often</a:t>
            </a:r>
          </a:p>
          <a:p>
            <a:r>
              <a:rPr lang="en-CH" dirty="0"/>
              <a:t>No need to </a:t>
            </a:r>
            <a:r>
              <a:rPr lang="en-CH" b="1" dirty="0"/>
              <a:t>search</a:t>
            </a:r>
            <a:r>
              <a:rPr lang="en-CH" dirty="0"/>
              <a:t> through the whole script to change them</a:t>
            </a:r>
          </a:p>
          <a:p>
            <a:r>
              <a:rPr lang="en-CH" b="1" dirty="0"/>
              <a:t>Debugging</a:t>
            </a:r>
            <a:r>
              <a:rPr lang="en-CH" dirty="0"/>
              <a:t> is easier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18688-6BBF-7041-939D-C7E64971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8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F87257-4386-F546-95FD-76DAE693B960}"/>
              </a:ext>
            </a:extLst>
          </p:cNvPr>
          <p:cNvSpPr/>
          <p:nvPr/>
        </p:nvSpPr>
        <p:spPr>
          <a:xfrm>
            <a:off x="4400549" y="5657671"/>
            <a:ext cx="4743451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#!/</a:t>
            </a:r>
            <a:r>
              <a:rPr lang="en-US" dirty="0" err="1">
                <a:latin typeface="+mj-lt"/>
              </a:rPr>
              <a:t>usr</a:t>
            </a:r>
            <a:r>
              <a:rPr lang="en-US" dirty="0">
                <a:latin typeface="+mj-lt"/>
              </a:rPr>
              <a:t>/bin/env bash TRIMMED_DIR=~/</a:t>
            </a:r>
            <a:r>
              <a:rPr lang="en-US" dirty="0" err="1">
                <a:latin typeface="+mj-lt"/>
              </a:rPr>
              <a:t>workdir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trimmed_data</a:t>
            </a:r>
            <a:r>
              <a:rPr lang="en-US" dirty="0">
                <a:latin typeface="+mj-lt"/>
              </a:rPr>
              <a:t> READS_DIR=~/</a:t>
            </a:r>
            <a:r>
              <a:rPr lang="en-US" dirty="0" err="1">
                <a:latin typeface="+mj-lt"/>
              </a:rPr>
              <a:t>workdir</a:t>
            </a:r>
            <a:r>
              <a:rPr lang="en-US" dirty="0">
                <a:latin typeface="+mj-lt"/>
              </a:rPr>
              <a:t>/reads</a:t>
            </a:r>
          </a:p>
          <a:p>
            <a:r>
              <a:rPr lang="en-US" dirty="0" err="1">
                <a:latin typeface="+mj-lt"/>
              </a:rPr>
              <a:t>mkdir</a:t>
            </a:r>
            <a:r>
              <a:rPr lang="en-US" dirty="0">
                <a:latin typeface="+mj-lt"/>
              </a:rPr>
              <a:t> -p $TRIMMED_DIR</a:t>
            </a:r>
            <a:endParaRPr lang="en-CH" dirty="0">
              <a:latin typeface="+mj-lt"/>
            </a:endParaRPr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90D36AB8-3F31-1343-A477-E551E410AD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8800" y="5707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82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CC34F-1989-F94E-9066-A00580E2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5 simple rules to get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A6976-8FEB-E94C-8328-8051EC3A5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37639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Execute the commands from a script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Number scripts based on their order of execution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Give your scripts a descriptive and active name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 your scripts specific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Directories and variables at the beginning of the script</a:t>
            </a: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FF81D-D829-954D-9D54-ABAB0FF8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83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ACB3-D95B-0C42-9B50-261B1ABD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Further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000D8-FA64-6C4B-9859-FF077984A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Version control (git, GitHub, GitLab)</a:t>
            </a:r>
          </a:p>
          <a:p>
            <a:r>
              <a:rPr lang="en-CH" dirty="0"/>
              <a:t>Pipelines</a:t>
            </a:r>
          </a:p>
          <a:p>
            <a:r>
              <a:rPr lang="en-CH" dirty="0"/>
              <a:t>Notebooks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3ACE5-F1AE-3349-9E65-FB789196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EBD88-CCBF-064E-810F-DFC164858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108" y="580232"/>
            <a:ext cx="895350" cy="895350"/>
          </a:xfrm>
          <a:prstGeom prst="rect">
            <a:avLst/>
          </a:prstGeom>
        </p:spPr>
      </p:pic>
      <p:pic>
        <p:nvPicPr>
          <p:cNvPr id="6" name="Picture 4" descr="GitLab · GitHub">
            <a:extLst>
              <a:ext uri="{FF2B5EF4-FFF2-40B4-BE49-F238E27FC236}">
                <a16:creationId xmlns:a16="http://schemas.microsoft.com/office/drawing/2014/main" id="{8BB4EB87-3AFF-D849-B54C-31615B7FD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751" y="0"/>
            <a:ext cx="1915316" cy="191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Jupyter Lab: Evolution of the Jupyter Notebook | by Parul Pandey | Towards  Data Science">
            <a:extLst>
              <a:ext uri="{FF2B5EF4-FFF2-40B4-BE49-F238E27FC236}">
                <a16:creationId xmlns:a16="http://schemas.microsoft.com/office/drawing/2014/main" id="{487C0085-942E-5849-8848-8443F4608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666" y="3755678"/>
            <a:ext cx="1223262" cy="141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nakemake · GitHub">
            <a:extLst>
              <a:ext uri="{FF2B5EF4-FFF2-40B4-BE49-F238E27FC236}">
                <a16:creationId xmlns:a16="http://schemas.microsoft.com/office/drawing/2014/main" id="{CEAA7B4E-512E-454A-90BF-D03CCBDF6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492" y="4675123"/>
            <a:ext cx="1416755" cy="141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ynamic Documents for R • rmarkdown">
            <a:extLst>
              <a:ext uri="{FF2B5EF4-FFF2-40B4-BE49-F238E27FC236}">
                <a16:creationId xmlns:a16="http://schemas.microsoft.com/office/drawing/2014/main" id="{BE94E6B8-C5B0-3F4A-851A-AC4C4B23D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082" y="2891734"/>
            <a:ext cx="1227513" cy="141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nextflow-io/nextflow: A DSL for data-driven computational pipelines">
            <a:extLst>
              <a:ext uri="{FF2B5EF4-FFF2-40B4-BE49-F238E27FC236}">
                <a16:creationId xmlns:a16="http://schemas.microsoft.com/office/drawing/2014/main" id="{9139259C-CA52-AF49-AD9D-EF2096A4A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142" y="5374598"/>
            <a:ext cx="2520398" cy="126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nda — CRC User documentation">
            <a:extLst>
              <a:ext uri="{FF2B5EF4-FFF2-40B4-BE49-F238E27FC236}">
                <a16:creationId xmlns:a16="http://schemas.microsoft.com/office/drawing/2014/main" id="{CEADDACE-A8A2-8E47-897F-360A1CAEB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409" y="2376399"/>
            <a:ext cx="2541049" cy="101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Quarto">
            <a:extLst>
              <a:ext uri="{FF2B5EF4-FFF2-40B4-BE49-F238E27FC236}">
                <a16:creationId xmlns:a16="http://schemas.microsoft.com/office/drawing/2014/main" id="{B2C01590-C650-0948-E63E-B970BD862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80" y="3600111"/>
            <a:ext cx="2538688" cy="61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75760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437</Words>
  <Application>Microsoft Office PowerPoint</Application>
  <PresentationFormat>On-screen Show (4:3)</PresentationFormat>
  <Paragraphs>65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Kantoorthema</vt:lpstr>
      <vt:lpstr>NGS – variant analysis  Reproducible computational research </vt:lpstr>
      <vt:lpstr>Why reproducible?</vt:lpstr>
      <vt:lpstr>5 simple rules to get started</vt:lpstr>
      <vt:lpstr>Rule 1</vt:lpstr>
      <vt:lpstr>Rule 2</vt:lpstr>
      <vt:lpstr>Rule 3</vt:lpstr>
      <vt:lpstr>Rule 4</vt:lpstr>
      <vt:lpstr>Rule 5</vt:lpstr>
      <vt:lpstr>5 simple rules to get started</vt:lpstr>
      <vt:lpstr>Further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NGS - quality control, alignment, visualisation  Quality control + database retrieval </dc:title>
  <dc:creator>van Geest, Gerrit Adriaan (BIOINFORMATICS)</dc:creator>
  <cp:lastModifiedBy>Geert vanGeest</cp:lastModifiedBy>
  <cp:revision>37</cp:revision>
  <dcterms:created xsi:type="dcterms:W3CDTF">2020-10-13T06:07:28Z</dcterms:created>
  <dcterms:modified xsi:type="dcterms:W3CDTF">2026-04-08T08:31:33Z</dcterms:modified>
</cp:coreProperties>
</file>