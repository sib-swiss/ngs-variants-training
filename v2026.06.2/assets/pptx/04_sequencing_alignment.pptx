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442" r:id="rId2"/>
    <p:sldId id="482" r:id="rId3"/>
    <p:sldId id="483" r:id="rId4"/>
    <p:sldId id="451" r:id="rId5"/>
    <p:sldId id="452" r:id="rId6"/>
    <p:sldId id="477" r:id="rId7"/>
    <p:sldId id="474" r:id="rId8"/>
    <p:sldId id="475" r:id="rId9"/>
    <p:sldId id="446" r:id="rId10"/>
    <p:sldId id="478" r:id="rId11"/>
    <p:sldId id="473" r:id="rId12"/>
    <p:sldId id="454" r:id="rId13"/>
    <p:sldId id="472" r:id="rId14"/>
    <p:sldId id="278" r:id="rId15"/>
    <p:sldId id="455" r:id="rId16"/>
    <p:sldId id="466" r:id="rId17"/>
    <p:sldId id="458" r:id="rId18"/>
    <p:sldId id="471" r:id="rId19"/>
    <p:sldId id="484" r:id="rId20"/>
    <p:sldId id="485" r:id="rId21"/>
    <p:sldId id="463" r:id="rId22"/>
    <p:sldId id="459" r:id="rId23"/>
    <p:sldId id="460" r:id="rId24"/>
    <p:sldId id="261" r:id="rId25"/>
    <p:sldId id="467" r:id="rId26"/>
    <p:sldId id="260" r:id="rId27"/>
    <p:sldId id="461" r:id="rId28"/>
    <p:sldId id="462" r:id="rId29"/>
    <p:sldId id="465" r:id="rId30"/>
    <p:sldId id="480" r:id="rId31"/>
    <p:sldId id="481" r:id="rId32"/>
    <p:sldId id="468" r:id="rId33"/>
    <p:sldId id="479" r:id="rId34"/>
    <p:sldId id="469" r:id="rId35"/>
    <p:sldId id="470" r:id="rId36"/>
    <p:sldId id="486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ert van Geest" initials="GvG" lastIdx="1" clrIdx="0">
    <p:extLst>
      <p:ext uri="{19B8F6BF-5375-455C-9EA6-DF929625EA0E}">
        <p15:presenceInfo xmlns:p15="http://schemas.microsoft.com/office/powerpoint/2012/main" userId="Geert van Gees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9EB"/>
    <a:srgbClr val="DB5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3F4BDE-382B-3BA3-12DE-D28C1CCE6B98}" v="129" dt="2026-04-08T13:05:26.3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ijl, lich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496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drille Duchemin" userId="S::wandrille.duchemin@sib.swiss::596953ca-d0e7-4045-97a9-2ed7b88fab1e" providerId="AD" clId="Web-{123F4BDE-382B-3BA3-12DE-D28C1CCE6B98}"/>
    <pc:docChg chg="addSld delSld modSld">
      <pc:chgData name="Wandrille Duchemin" userId="S::wandrille.duchemin@sib.swiss::596953ca-d0e7-4045-97a9-2ed7b88fab1e" providerId="AD" clId="Web-{123F4BDE-382B-3BA3-12DE-D28C1CCE6B98}" dt="2026-04-08T13:05:26.329" v="134" actId="20577"/>
      <pc:docMkLst>
        <pc:docMk/>
      </pc:docMkLst>
      <pc:sldChg chg="del">
        <pc:chgData name="Wandrille Duchemin" userId="S::wandrille.duchemin@sib.swiss::596953ca-d0e7-4045-97a9-2ed7b88fab1e" providerId="AD" clId="Web-{123F4BDE-382B-3BA3-12DE-D28C1CCE6B98}" dt="2026-04-08T10:40:12.144" v="1"/>
        <pc:sldMkLst>
          <pc:docMk/>
          <pc:sldMk cId="231817160" sldId="449"/>
        </pc:sldMkLst>
      </pc:sldChg>
      <pc:sldChg chg="modSp">
        <pc:chgData name="Wandrille Duchemin" userId="S::wandrille.duchemin@sib.swiss::596953ca-d0e7-4045-97a9-2ed7b88fab1e" providerId="AD" clId="Web-{123F4BDE-382B-3BA3-12DE-D28C1CCE6B98}" dt="2026-04-08T12:17:56.733" v="125" actId="20577"/>
        <pc:sldMkLst>
          <pc:docMk/>
          <pc:sldMk cId="1299029195" sldId="460"/>
        </pc:sldMkLst>
        <pc:spChg chg="mod">
          <ac:chgData name="Wandrille Duchemin" userId="S::wandrille.duchemin@sib.swiss::596953ca-d0e7-4045-97a9-2ed7b88fab1e" providerId="AD" clId="Web-{123F4BDE-382B-3BA3-12DE-D28C1CCE6B98}" dt="2026-04-08T12:17:56.733" v="125" actId="20577"/>
          <ac:spMkLst>
            <pc:docMk/>
            <pc:sldMk cId="1299029195" sldId="460"/>
            <ac:spMk id="3" creationId="{E3591940-9ABC-7245-B645-D9C431C6A681}"/>
          </ac:spMkLst>
        </pc:spChg>
      </pc:sldChg>
      <pc:sldChg chg="modSp">
        <pc:chgData name="Wandrille Duchemin" userId="S::wandrille.duchemin@sib.swiss::596953ca-d0e7-4045-97a9-2ed7b88fab1e" providerId="AD" clId="Web-{123F4BDE-382B-3BA3-12DE-D28C1CCE6B98}" dt="2026-04-08T12:22:03.125" v="127" actId="20577"/>
        <pc:sldMkLst>
          <pc:docMk/>
          <pc:sldMk cId="743950664" sldId="465"/>
        </pc:sldMkLst>
        <pc:spChg chg="mod">
          <ac:chgData name="Wandrille Duchemin" userId="S::wandrille.duchemin@sib.swiss::596953ca-d0e7-4045-97a9-2ed7b88fab1e" providerId="AD" clId="Web-{123F4BDE-382B-3BA3-12DE-D28C1CCE6B98}" dt="2026-04-08T12:22:03.125" v="127" actId="20577"/>
          <ac:spMkLst>
            <pc:docMk/>
            <pc:sldMk cId="743950664" sldId="465"/>
            <ac:spMk id="2" creationId="{3E6CA4DE-F559-BF4A-BF96-DC561CE62E06}"/>
          </ac:spMkLst>
        </pc:spChg>
      </pc:sldChg>
      <pc:sldChg chg="modSp">
        <pc:chgData name="Wandrille Duchemin" userId="S::wandrille.duchemin@sib.swiss::596953ca-d0e7-4045-97a9-2ed7b88fab1e" providerId="AD" clId="Web-{123F4BDE-382B-3BA3-12DE-D28C1CCE6B98}" dt="2026-04-08T12:06:51.176" v="119" actId="20577"/>
        <pc:sldMkLst>
          <pc:docMk/>
          <pc:sldMk cId="601419548" sldId="467"/>
        </pc:sldMkLst>
        <pc:spChg chg="mod">
          <ac:chgData name="Wandrille Duchemin" userId="S::wandrille.duchemin@sib.swiss::596953ca-d0e7-4045-97a9-2ed7b88fab1e" providerId="AD" clId="Web-{123F4BDE-382B-3BA3-12DE-D28C1CCE6B98}" dt="2026-04-08T12:06:51.176" v="119" actId="20577"/>
          <ac:spMkLst>
            <pc:docMk/>
            <pc:sldMk cId="601419548" sldId="467"/>
            <ac:spMk id="2" creationId="{BBDC0A23-4390-C84E-8FA5-8FFA7DB9D7F4}"/>
          </ac:spMkLst>
        </pc:spChg>
      </pc:sldChg>
      <pc:sldChg chg="modSp">
        <pc:chgData name="Wandrille Duchemin" userId="S::wandrille.duchemin@sib.swiss::596953ca-d0e7-4045-97a9-2ed7b88fab1e" providerId="AD" clId="Web-{123F4BDE-382B-3BA3-12DE-D28C1CCE6B98}" dt="2026-04-08T10:49:55.664" v="6" actId="20577"/>
        <pc:sldMkLst>
          <pc:docMk/>
          <pc:sldMk cId="1054718736" sldId="478"/>
        </pc:sldMkLst>
        <pc:spChg chg="mod">
          <ac:chgData name="Wandrille Duchemin" userId="S::wandrille.duchemin@sib.swiss::596953ca-d0e7-4045-97a9-2ed7b88fab1e" providerId="AD" clId="Web-{123F4BDE-382B-3BA3-12DE-D28C1CCE6B98}" dt="2026-04-08T10:49:55.664" v="6" actId="20577"/>
          <ac:spMkLst>
            <pc:docMk/>
            <pc:sldMk cId="1054718736" sldId="478"/>
            <ac:spMk id="2" creationId="{80A3B994-C209-8A22-4B85-72EBDFE8C843}"/>
          </ac:spMkLst>
        </pc:spChg>
      </pc:sldChg>
      <pc:sldChg chg="delSp">
        <pc:chgData name="Wandrille Duchemin" userId="S::wandrille.duchemin@sib.swiss::596953ca-d0e7-4045-97a9-2ed7b88fab1e" providerId="AD" clId="Web-{123F4BDE-382B-3BA3-12DE-D28C1CCE6B98}" dt="2026-04-08T10:39:01.893" v="0"/>
        <pc:sldMkLst>
          <pc:docMk/>
          <pc:sldMk cId="1430616444" sldId="483"/>
        </pc:sldMkLst>
        <pc:picChg chg="del">
          <ac:chgData name="Wandrille Duchemin" userId="S::wandrille.duchemin@sib.swiss::596953ca-d0e7-4045-97a9-2ed7b88fab1e" providerId="AD" clId="Web-{123F4BDE-382B-3BA3-12DE-D28C1CCE6B98}" dt="2026-04-08T10:39:01.893" v="0"/>
          <ac:picMkLst>
            <pc:docMk/>
            <pc:sldMk cId="1430616444" sldId="483"/>
            <ac:picMk id="1028" creationId="{B8631F72-B396-439C-8F5A-FFE9CE6540FC}"/>
          </ac:picMkLst>
        </pc:picChg>
      </pc:sldChg>
      <pc:sldChg chg="addSp delSp modSp new">
        <pc:chgData name="Wandrille Duchemin" userId="S::wandrille.duchemin@sib.swiss::596953ca-d0e7-4045-97a9-2ed7b88fab1e" providerId="AD" clId="Web-{123F4BDE-382B-3BA3-12DE-D28C1CCE6B98}" dt="2026-04-08T11:53:22.869" v="13"/>
        <pc:sldMkLst>
          <pc:docMk/>
          <pc:sldMk cId="2139727365" sldId="484"/>
        </pc:sldMkLst>
        <pc:spChg chg="mod">
          <ac:chgData name="Wandrille Duchemin" userId="S::wandrille.duchemin@sib.swiss::596953ca-d0e7-4045-97a9-2ed7b88fab1e" providerId="AD" clId="Web-{123F4BDE-382B-3BA3-12DE-D28C1CCE6B98}" dt="2026-04-08T11:53:16.666" v="12" actId="20577"/>
          <ac:spMkLst>
            <pc:docMk/>
            <pc:sldMk cId="2139727365" sldId="484"/>
            <ac:spMk id="2" creationId="{47ABA2D4-6C4E-532C-FED3-6290B6D19480}"/>
          </ac:spMkLst>
        </pc:spChg>
        <pc:spChg chg="del">
          <ac:chgData name="Wandrille Duchemin" userId="S::wandrille.duchemin@sib.swiss::596953ca-d0e7-4045-97a9-2ed7b88fab1e" providerId="AD" clId="Web-{123F4BDE-382B-3BA3-12DE-D28C1CCE6B98}" dt="2026-04-08T11:53:22.869" v="13"/>
          <ac:spMkLst>
            <pc:docMk/>
            <pc:sldMk cId="2139727365" sldId="484"/>
            <ac:spMk id="3" creationId="{606FE87B-66F6-F80D-DB29-1DDD6D7109FC}"/>
          </ac:spMkLst>
        </pc:spChg>
        <pc:spChg chg="add del">
          <ac:chgData name="Wandrille Duchemin" userId="S::wandrille.duchemin@sib.swiss::596953ca-d0e7-4045-97a9-2ed7b88fab1e" providerId="AD" clId="Web-{123F4BDE-382B-3BA3-12DE-D28C1CCE6B98}" dt="2026-04-08T11:53:09.994" v="9"/>
          <ac:spMkLst>
            <pc:docMk/>
            <pc:sldMk cId="2139727365" sldId="484"/>
            <ac:spMk id="6" creationId="{4564338F-F14D-674B-B8FB-F06B432F84F6}"/>
          </ac:spMkLst>
        </pc:spChg>
        <pc:spChg chg="add">
          <ac:chgData name="Wandrille Duchemin" userId="S::wandrille.duchemin@sib.swiss::596953ca-d0e7-4045-97a9-2ed7b88fab1e" providerId="AD" clId="Web-{123F4BDE-382B-3BA3-12DE-D28C1CCE6B98}" dt="2026-04-08T11:53:01.025" v="8"/>
          <ac:spMkLst>
            <pc:docMk/>
            <pc:sldMk cId="2139727365" sldId="484"/>
            <ac:spMk id="7" creationId="{A3407C2E-A4F0-B64B-8743-D6C9C8B36540}"/>
          </ac:spMkLst>
        </pc:spChg>
        <pc:spChg chg="add">
          <ac:chgData name="Wandrille Duchemin" userId="S::wandrille.duchemin@sib.swiss::596953ca-d0e7-4045-97a9-2ed7b88fab1e" providerId="AD" clId="Web-{123F4BDE-382B-3BA3-12DE-D28C1CCE6B98}" dt="2026-04-08T11:53:01.025" v="8"/>
          <ac:spMkLst>
            <pc:docMk/>
            <pc:sldMk cId="2139727365" sldId="484"/>
            <ac:spMk id="8" creationId="{F241598B-2BFC-344B-BAF0-823ACCC909D2}"/>
          </ac:spMkLst>
        </pc:spChg>
        <pc:spChg chg="add">
          <ac:chgData name="Wandrille Duchemin" userId="S::wandrille.duchemin@sib.swiss::596953ca-d0e7-4045-97a9-2ed7b88fab1e" providerId="AD" clId="Web-{123F4BDE-382B-3BA3-12DE-D28C1CCE6B98}" dt="2026-04-08T11:53:01.025" v="8"/>
          <ac:spMkLst>
            <pc:docMk/>
            <pc:sldMk cId="2139727365" sldId="484"/>
            <ac:spMk id="9" creationId="{AB838A77-A602-CA4B-B7B7-17E405263ACA}"/>
          </ac:spMkLst>
        </pc:spChg>
        <pc:picChg chg="add">
          <ac:chgData name="Wandrille Duchemin" userId="S::wandrille.duchemin@sib.swiss::596953ca-d0e7-4045-97a9-2ed7b88fab1e" providerId="AD" clId="Web-{123F4BDE-382B-3BA3-12DE-D28C1CCE6B98}" dt="2026-04-08T11:53:01.025" v="8"/>
          <ac:picMkLst>
            <pc:docMk/>
            <pc:sldMk cId="2139727365" sldId="484"/>
            <ac:picMk id="5" creationId="{7455C55E-E399-D94C-9DC1-9D9DC954110D}"/>
          </ac:picMkLst>
        </pc:picChg>
        <pc:cxnChg chg="add">
          <ac:chgData name="Wandrille Duchemin" userId="S::wandrille.duchemin@sib.swiss::596953ca-d0e7-4045-97a9-2ed7b88fab1e" providerId="AD" clId="Web-{123F4BDE-382B-3BA3-12DE-D28C1CCE6B98}" dt="2026-04-08T11:53:01.025" v="8"/>
          <ac:cxnSpMkLst>
            <pc:docMk/>
            <pc:sldMk cId="2139727365" sldId="484"/>
            <ac:cxnSpMk id="10" creationId="{AC6C837E-12B4-C649-8467-F60F666A8FAF}"/>
          </ac:cxnSpMkLst>
        </pc:cxnChg>
      </pc:sldChg>
      <pc:sldChg chg="modSp new">
        <pc:chgData name="Wandrille Duchemin" userId="S::wandrille.duchemin@sib.swiss::596953ca-d0e7-4045-97a9-2ed7b88fab1e" providerId="AD" clId="Web-{123F4BDE-382B-3BA3-12DE-D28C1CCE6B98}" dt="2026-04-08T12:04:48.094" v="118" actId="20577"/>
        <pc:sldMkLst>
          <pc:docMk/>
          <pc:sldMk cId="3997019007" sldId="485"/>
        </pc:sldMkLst>
        <pc:spChg chg="mod">
          <ac:chgData name="Wandrille Duchemin" userId="S::wandrille.duchemin@sib.swiss::596953ca-d0e7-4045-97a9-2ed7b88fab1e" providerId="AD" clId="Web-{123F4BDE-382B-3BA3-12DE-D28C1CCE6B98}" dt="2026-04-08T11:54:28.729" v="49" actId="20577"/>
          <ac:spMkLst>
            <pc:docMk/>
            <pc:sldMk cId="3997019007" sldId="485"/>
            <ac:spMk id="2" creationId="{557B75FA-3056-82AF-E030-5E93EDD93502}"/>
          </ac:spMkLst>
        </pc:spChg>
        <pc:spChg chg="mod">
          <ac:chgData name="Wandrille Duchemin" userId="S::wandrille.duchemin@sib.swiss::596953ca-d0e7-4045-97a9-2ed7b88fab1e" providerId="AD" clId="Web-{123F4BDE-382B-3BA3-12DE-D28C1CCE6B98}" dt="2026-04-08T12:04:48.094" v="118" actId="20577"/>
          <ac:spMkLst>
            <pc:docMk/>
            <pc:sldMk cId="3997019007" sldId="485"/>
            <ac:spMk id="3" creationId="{C7DBB49E-1F64-81FD-3BDD-FF8A51583E23}"/>
          </ac:spMkLst>
        </pc:spChg>
      </pc:sldChg>
      <pc:sldChg chg="modSp add replId">
        <pc:chgData name="Wandrille Duchemin" userId="S::wandrille.duchemin@sib.swiss::596953ca-d0e7-4045-97a9-2ed7b88fab1e" providerId="AD" clId="Web-{123F4BDE-382B-3BA3-12DE-D28C1CCE6B98}" dt="2026-04-08T13:05:26.329" v="134" actId="20577"/>
        <pc:sldMkLst>
          <pc:docMk/>
          <pc:sldMk cId="1892248618" sldId="486"/>
        </pc:sldMkLst>
        <pc:spChg chg="mod">
          <ac:chgData name="Wandrille Duchemin" userId="S::wandrille.duchemin@sib.swiss::596953ca-d0e7-4045-97a9-2ed7b88fab1e" providerId="AD" clId="Web-{123F4BDE-382B-3BA3-12DE-D28C1CCE6B98}" dt="2026-04-08T13:05:26.329" v="134" actId="20577"/>
          <ac:spMkLst>
            <pc:docMk/>
            <pc:sldMk cId="1892248618" sldId="486"/>
            <ac:spMk id="3" creationId="{E57E2FE3-04C5-17A6-4B09-A78ECCEBE1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DEC89-0886-420E-BA80-019B54138DC0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69826-3F6A-4D3F-89A3-ED6A12A088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25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69826-3F6A-4D3F-89A3-ED6A12A0882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78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746-0CDE-4074-BDE5-E623F7146983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13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E43D9-9064-4F11-9875-3DC42457D86C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72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713F-5FE2-4DC7-A660-466F25E4EAED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47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3AA8-1775-46AE-88D7-871ABB959436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715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81AF8-1EB4-4CCB-BAD6-D5824E8F7DDC}" type="datetime1">
              <a:rPr lang="en-GB" smtClean="0"/>
              <a:t>08/04/2026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38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F14D-29EE-4785-B586-2D7AC2C36860}" type="datetime1">
              <a:rPr lang="en-GB" smtClean="0"/>
              <a:t>08/04/2026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61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0A99-36EB-4660-8947-15D8E10E490E}" type="datetime1">
              <a:rPr lang="en-GB" smtClean="0"/>
              <a:t>08/04/2026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62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B993D-33E3-484B-97CE-88461009D7BB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24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AFE4C-1BFC-4B5D-A48B-D19CBF206252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67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A398-4A14-4452-B35F-7EA90DD56283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61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5B57-DD6C-4DD3-A370-C9B21AE60DC8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79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94E0E-2BC3-44B2-B96D-B63459DB3886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13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GMMfhyLK0-q8XkIo3YxlWaZA5vVMuhU1kg41g4xLkXc/ed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youtube.com/watch?v=fCd6B5HRaZ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ib-swiss.github.io/sequencing-data-analysis-training/latest/day1/quality_control/" TargetMode="External"/><Relationship Id="rId2" Type="http://schemas.openxmlformats.org/officeDocument/2006/relationships/hyperlink" Target="https://sequencing.qcfail.com/&#8203;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ib-swiss.github.io/RNAseq-introduction-training/days/trimming/" TargetMode="External"/><Relationship Id="rId5" Type="http://schemas.openxmlformats.org/officeDocument/2006/relationships/hyperlink" Target="https://sib-swiss.github.io/sequencing-data-analysis-training/latest/day1/quality_control/#trim-the-reads" TargetMode="External"/><Relationship Id="rId4" Type="http://schemas.openxmlformats.org/officeDocument/2006/relationships/hyperlink" Target="https://sib-swiss.github.io/RNAseq-introduction-training/days/quality_control/&#8203;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sib-swiss.github.io/NGS-longreads-training/latest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hyperlink" Target="https://umi-tools.readthedocs.io/en/latest/QUICK_START.html" TargetMode="External"/><Relationship Id="rId7" Type="http://schemas.openxmlformats.org/officeDocument/2006/relationships/image" Target="../media/image26.svg"/><Relationship Id="rId2" Type="http://schemas.openxmlformats.org/officeDocument/2006/relationships/hyperlink" Target="https://gatk.broadinstitute.org/hc/en-us/articles/27007983249179-UmiAwareMarkDuplicatesWithMateCigar-Picard-EXPERIMENTA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194" y="1131999"/>
            <a:ext cx="7878156" cy="4000546"/>
          </a:xfrm>
        </p:spPr>
        <p:txBody>
          <a:bodyPr>
            <a:noAutofit/>
          </a:bodyPr>
          <a:lstStyle/>
          <a:p>
            <a:r>
              <a:rPr lang="en-GB" b="1" dirty="0"/>
              <a:t>NGS – </a:t>
            </a:r>
            <a:r>
              <a:rPr lang="en-GB" b="1"/>
              <a:t>variant analysis</a:t>
            </a:r>
            <a:br>
              <a:rPr lang="en-GB" b="1" dirty="0"/>
            </a:br>
            <a:br>
              <a:rPr lang="en-GB" b="1" dirty="0"/>
            </a:br>
            <a:r>
              <a:rPr lang="en-GB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Sequencing and alignment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32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5B604-A529-252C-64E2-0EA7899D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3D7E1-1BC6-3C76-F6E8-8917F079D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360" y="330032"/>
            <a:ext cx="7335280" cy="58682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C824DB-DB46-D144-0491-0C421CF89F62}"/>
              </a:ext>
            </a:extLst>
          </p:cNvPr>
          <p:cNvSpPr txBox="1"/>
          <p:nvPr/>
        </p:nvSpPr>
        <p:spPr>
          <a:xfrm>
            <a:off x="119269" y="6280684"/>
            <a:ext cx="7464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bg1">
                    <a:lumMod val="50000"/>
                  </a:schemeClr>
                </a:solidFill>
              </a:rPr>
              <a:t>drawn from: </a:t>
            </a:r>
            <a:r>
              <a:rPr lang="en-GB" sz="1400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https://docs.google.com/spreadsheets/d/1GMMfhyLK0-q8XkIo3YxlWaZA5vVMuhU1kg41g4xLkXc/</a:t>
            </a:r>
            <a:r>
              <a:rPr lang="en-GB" sz="1400" dirty="0">
                <a:solidFill>
                  <a:schemeClr val="bg1">
                    <a:lumMod val="50000"/>
                  </a:schemeClr>
                </a:solidFill>
              </a:rPr>
              <a:t> Albert </a:t>
            </a:r>
            <a:r>
              <a:rPr lang="en-GB" sz="1400" dirty="0" err="1">
                <a:solidFill>
                  <a:schemeClr val="bg1">
                    <a:lumMod val="50000"/>
                  </a:schemeClr>
                </a:solidFill>
              </a:rPr>
              <a:t>Vilella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797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6AAE-6C24-ED45-BEA3-E7293BFE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Sequencing-by-synthesis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03A44-E31E-4A45-B002-A6DCC5984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2nd generation sequencing</a:t>
            </a:r>
          </a:p>
          <a:p>
            <a:r>
              <a:rPr lang="en-CH" dirty="0"/>
              <a:t>Massive throughput: up to 500x10</a:t>
            </a:r>
            <a:r>
              <a:rPr lang="en-CH" baseline="30000" dirty="0"/>
              <a:t>9 </a:t>
            </a:r>
            <a:r>
              <a:rPr lang="en-CH" dirty="0"/>
              <a:t>bases/run </a:t>
            </a:r>
          </a:p>
          <a:p>
            <a:r>
              <a:rPr lang="en-CH" dirty="0"/>
              <a:t>Illumina still most used platform today</a:t>
            </a:r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8F274-1666-7444-8DE3-7DBED1DF2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3</a:t>
            </a:fld>
            <a:endParaRPr lang="en-GB"/>
          </a:p>
        </p:txBody>
      </p:sp>
      <p:pic>
        <p:nvPicPr>
          <p:cNvPr id="3074" name="Picture 2" descr="Illumina | Sequencing and array-based solutions for genetic research">
            <a:extLst>
              <a:ext uri="{FF2B5EF4-FFF2-40B4-BE49-F238E27FC236}">
                <a16:creationId xmlns:a16="http://schemas.microsoft.com/office/drawing/2014/main" id="{EAACFC81-75BB-4247-A757-218BA74181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2" t="29359" r="12003" b="26320"/>
          <a:stretch/>
        </p:blipFill>
        <p:spPr bwMode="auto">
          <a:xfrm>
            <a:off x="417520" y="5177480"/>
            <a:ext cx="3338934" cy="1178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lement Biosciences Closes $276 Million Series C Financing to Democratize  Access to Genomics">
            <a:extLst>
              <a:ext uri="{FF2B5EF4-FFF2-40B4-BE49-F238E27FC236}">
                <a16:creationId xmlns:a16="http://schemas.microsoft.com/office/drawing/2014/main" id="{03CA27DA-D08F-E62A-9489-55337A74C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458" y="4188939"/>
            <a:ext cx="3475645" cy="80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GI : Quotes, Address, Contact">
            <a:extLst>
              <a:ext uri="{FF2B5EF4-FFF2-40B4-BE49-F238E27FC236}">
                <a16:creationId xmlns:a16="http://schemas.microsoft.com/office/drawing/2014/main" id="{958DB6E3-23C8-376F-BED7-A0FBAD15DA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51" b="25318"/>
          <a:stretch/>
        </p:blipFill>
        <p:spPr bwMode="auto">
          <a:xfrm>
            <a:off x="956429" y="4129765"/>
            <a:ext cx="2261115" cy="790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616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5D5BD-B458-3444-ABEF-D538BBBB1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Sequencing-by-synthesis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E4D35-EDEF-F244-82A9-6BD3D71E4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50 – 300 bp</a:t>
            </a:r>
          </a:p>
          <a:p>
            <a:r>
              <a:rPr lang="en-CH" dirty="0"/>
              <a:t>Paired-end (or single-end)</a:t>
            </a:r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7E22F-917A-2545-8788-81E19A5F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652BEB-BC3B-6347-BF4F-5C687A62CD9E}"/>
              </a:ext>
            </a:extLst>
          </p:cNvPr>
          <p:cNvSpPr txBox="1"/>
          <p:nvPr/>
        </p:nvSpPr>
        <p:spPr>
          <a:xfrm>
            <a:off x="5481431" y="3347938"/>
            <a:ext cx="1570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paired-end</a:t>
            </a:r>
          </a:p>
        </p:txBody>
      </p:sp>
      <p:pic>
        <p:nvPicPr>
          <p:cNvPr id="9" name="Picture 8" descr="Shape&#10;&#10;Description automatically generated with low confidence">
            <a:extLst>
              <a:ext uri="{FF2B5EF4-FFF2-40B4-BE49-F238E27FC236}">
                <a16:creationId xmlns:a16="http://schemas.microsoft.com/office/drawing/2014/main" id="{DB4979ED-5645-2144-B684-AC2F41F31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417" y="4134316"/>
            <a:ext cx="4368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716EE-5B36-8D4B-963F-CA8F00AEE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Illumina libray prep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98443-B417-5F47-A019-03AE6236A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5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46A1A-CC31-6F41-88AC-009C82C4A414}"/>
              </a:ext>
            </a:extLst>
          </p:cNvPr>
          <p:cNvSpPr txBox="1"/>
          <p:nvPr/>
        </p:nvSpPr>
        <p:spPr>
          <a:xfrm>
            <a:off x="2733420" y="1791923"/>
            <a:ext cx="2474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800" dirty="0"/>
              <a:t>shear 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2A5259-1616-BF4F-81F5-ED783831EB58}"/>
              </a:ext>
            </a:extLst>
          </p:cNvPr>
          <p:cNvSpPr txBox="1"/>
          <p:nvPr/>
        </p:nvSpPr>
        <p:spPr>
          <a:xfrm>
            <a:off x="2436019" y="2719576"/>
            <a:ext cx="3069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800" dirty="0"/>
              <a:t>Ligate adapters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92AC6-777D-FD42-B84B-280E12E33E99}"/>
              </a:ext>
            </a:extLst>
          </p:cNvPr>
          <p:cNvSpPr txBox="1"/>
          <p:nvPr/>
        </p:nvSpPr>
        <p:spPr>
          <a:xfrm>
            <a:off x="-331762" y="3677876"/>
            <a:ext cx="8605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800" dirty="0"/>
              <a:t>Barcode + p5/p7 sites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38C5E2-1A5C-5F45-AEA4-E77A88BC911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3970841" y="2315143"/>
            <a:ext cx="1" cy="4044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A69BB8-8425-BF4E-B255-7C550D82F6D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3970841" y="3242796"/>
            <a:ext cx="0" cy="43508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8F0086-B829-444C-AD53-2A6819314B35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970841" y="4201096"/>
            <a:ext cx="0" cy="51507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06F77FE-EF28-3445-8C98-D5F71EDAB6FC}"/>
              </a:ext>
            </a:extLst>
          </p:cNvPr>
          <p:cNvSpPr txBox="1"/>
          <p:nvPr/>
        </p:nvSpPr>
        <p:spPr>
          <a:xfrm>
            <a:off x="-331762" y="4716174"/>
            <a:ext cx="8605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800" dirty="0"/>
              <a:t>PCR: 8-16 cycles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67F767-FC4B-A244-9293-1FEC9946829C}"/>
              </a:ext>
            </a:extLst>
          </p:cNvPr>
          <p:cNvCxnSpPr>
            <a:cxnSpLocks/>
          </p:cNvCxnSpPr>
          <p:nvPr/>
        </p:nvCxnSpPr>
        <p:spPr>
          <a:xfrm>
            <a:off x="3970841" y="5239394"/>
            <a:ext cx="0" cy="51507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09466CC-729B-DD4D-9BA9-424C44E02393}"/>
              </a:ext>
            </a:extLst>
          </p:cNvPr>
          <p:cNvSpPr txBox="1"/>
          <p:nvPr/>
        </p:nvSpPr>
        <p:spPr>
          <a:xfrm>
            <a:off x="-331762" y="5754472"/>
            <a:ext cx="8605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800" dirty="0">
                <a:hlinkClick r:id="rId2"/>
              </a:rPr>
              <a:t>Sequencing</a:t>
            </a:r>
            <a:endParaRPr lang="en-CH" sz="2800" dirty="0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22705F27-052A-A348-809C-A2E1AF6CF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" r="555"/>
          <a:stretch/>
        </p:blipFill>
        <p:spPr bwMode="auto">
          <a:xfrm>
            <a:off x="5493290" y="2708074"/>
            <a:ext cx="2701097" cy="703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5D2248C-0CB8-1649-A2BA-94CC76F3C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482" y="4279755"/>
            <a:ext cx="2843468" cy="155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9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9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F0004-3EF5-A346-9D3C-1F2A50AB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Some definitions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84403-D798-5F46-9539-7778573BE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6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C5EA5-A90A-C545-87E1-B562530B6A0C}"/>
              </a:ext>
            </a:extLst>
          </p:cNvPr>
          <p:cNvSpPr txBox="1"/>
          <p:nvPr/>
        </p:nvSpPr>
        <p:spPr>
          <a:xfrm>
            <a:off x="1140539" y="1964796"/>
            <a:ext cx="555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p5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6D6DF9-BC86-A244-A858-79880A0CD0E8}"/>
              </a:ext>
            </a:extLst>
          </p:cNvPr>
          <p:cNvSpPr txBox="1"/>
          <p:nvPr/>
        </p:nvSpPr>
        <p:spPr>
          <a:xfrm>
            <a:off x="7557016" y="1967696"/>
            <a:ext cx="555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p7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F62072-46B1-0848-B525-13F9FAA4AAA1}"/>
              </a:ext>
            </a:extLst>
          </p:cNvPr>
          <p:cNvSpPr txBox="1"/>
          <p:nvPr/>
        </p:nvSpPr>
        <p:spPr>
          <a:xfrm>
            <a:off x="6468525" y="1984250"/>
            <a:ext cx="135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barcode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B7750F-08C1-8244-9A9C-70AEC6FC072F}"/>
              </a:ext>
            </a:extLst>
          </p:cNvPr>
          <p:cNvSpPr txBox="1"/>
          <p:nvPr/>
        </p:nvSpPr>
        <p:spPr>
          <a:xfrm>
            <a:off x="5476460" y="1993281"/>
            <a:ext cx="1098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adapter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1B8F7-AFB7-D347-81BD-F2B6ADE0D12F}"/>
              </a:ext>
            </a:extLst>
          </p:cNvPr>
          <p:cNvSpPr txBox="1"/>
          <p:nvPr/>
        </p:nvSpPr>
        <p:spPr>
          <a:xfrm>
            <a:off x="1617720" y="1964796"/>
            <a:ext cx="1098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adapter</a:t>
            </a: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04BD69C0-017B-6544-835F-64E6F6845B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05" r="55171"/>
          <a:stretch/>
        </p:blipFill>
        <p:spPr>
          <a:xfrm>
            <a:off x="2699203" y="3220798"/>
            <a:ext cx="1435476" cy="240652"/>
          </a:xfrm>
          <a:prstGeom prst="rect">
            <a:avLst/>
          </a:prstGeom>
        </p:spPr>
      </p:pic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B042BC39-CAEB-3B47-9F15-2AAB8A5292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18" t="-2679" b="59303"/>
          <a:stretch/>
        </p:blipFill>
        <p:spPr>
          <a:xfrm>
            <a:off x="4643564" y="2510336"/>
            <a:ext cx="1299504" cy="25841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50EACE-CFD4-C74F-9E91-38B88FDA09A1}"/>
              </a:ext>
            </a:extLst>
          </p:cNvPr>
          <p:cNvCxnSpPr>
            <a:stCxn id="6" idx="2"/>
          </p:cNvCxnSpPr>
          <p:nvPr/>
        </p:nvCxnSpPr>
        <p:spPr>
          <a:xfrm>
            <a:off x="1418331" y="2334128"/>
            <a:ext cx="379448" cy="55260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08A3B9F-CB96-714A-B5E4-36C024A5D61D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166832" y="2334128"/>
            <a:ext cx="197368" cy="55020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A173F41-D063-C04D-8305-43BAC78F2686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025572" y="2362613"/>
            <a:ext cx="271320" cy="52171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7931ADD-5EE4-6F46-96FF-1253AB76BFBB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925400" y="2353582"/>
            <a:ext cx="220275" cy="53074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EEE981C-277A-9842-8151-948FF0770ACB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7279224" y="2337028"/>
            <a:ext cx="555584" cy="54730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C4EBC00-3DCD-1F4D-BAA1-484F5D9D561F}"/>
              </a:ext>
            </a:extLst>
          </p:cNvPr>
          <p:cNvSpPr txBox="1"/>
          <p:nvPr/>
        </p:nvSpPr>
        <p:spPr>
          <a:xfrm>
            <a:off x="2866154" y="1968679"/>
            <a:ext cx="1012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read 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6C7AC15-B153-E642-B3B5-F286A5603E75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3281691" y="2338011"/>
            <a:ext cx="90957" cy="87773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F044D9B-66F6-D240-BC73-76BC30EDCC45}"/>
              </a:ext>
            </a:extLst>
          </p:cNvPr>
          <p:cNvSpPr txBox="1"/>
          <p:nvPr/>
        </p:nvSpPr>
        <p:spPr>
          <a:xfrm>
            <a:off x="4407682" y="2024847"/>
            <a:ext cx="973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read 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C811D17-3937-E449-A193-1AB093533BCD}"/>
              </a:ext>
            </a:extLst>
          </p:cNvPr>
          <p:cNvCxnSpPr>
            <a:cxnSpLocks/>
          </p:cNvCxnSpPr>
          <p:nvPr/>
        </p:nvCxnSpPr>
        <p:spPr>
          <a:xfrm>
            <a:off x="5161570" y="2412451"/>
            <a:ext cx="61707" cy="18691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83B0A47-0E7A-D34E-A2BA-D92FBA852BB2}"/>
              </a:ext>
            </a:extLst>
          </p:cNvPr>
          <p:cNvGrpSpPr/>
          <p:nvPr/>
        </p:nvGrpSpPr>
        <p:grpSpPr>
          <a:xfrm>
            <a:off x="2432877" y="2757529"/>
            <a:ext cx="3757136" cy="3311463"/>
            <a:chOff x="2432877" y="2757529"/>
            <a:chExt cx="3757136" cy="3311463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EF79400-13B2-764B-AF9C-CFBE955C2476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3864078" y="2757529"/>
              <a:ext cx="0" cy="277104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25442DD-34AA-BB4E-9CC2-BCA694C4375C}"/>
                </a:ext>
              </a:extLst>
            </p:cNvPr>
            <p:cNvCxnSpPr>
              <a:cxnSpLocks/>
            </p:cNvCxnSpPr>
            <p:nvPr/>
          </p:nvCxnSpPr>
          <p:spPr>
            <a:xfrm>
              <a:off x="4762789" y="2757529"/>
              <a:ext cx="0" cy="2763881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Picture 49" descr="Graphical user interface, application&#10;&#10;Description automatically generated">
              <a:extLst>
                <a:ext uri="{FF2B5EF4-FFF2-40B4-BE49-F238E27FC236}">
                  <a16:creationId xmlns:a16="http://schemas.microsoft.com/office/drawing/2014/main" id="{74B93C8B-F1D5-AA48-8BDB-3C452563CD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721" t="1606" r="47587" b="92145"/>
            <a:stretch/>
          </p:blipFill>
          <p:spPr>
            <a:xfrm>
              <a:off x="3864078" y="5408243"/>
              <a:ext cx="894735" cy="240652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4280E17-5A76-5446-AB07-9A06614BA99D}"/>
                </a:ext>
              </a:extLst>
            </p:cNvPr>
            <p:cNvSpPr txBox="1"/>
            <p:nvPr/>
          </p:nvSpPr>
          <p:spPr>
            <a:xfrm>
              <a:off x="2432877" y="5699660"/>
              <a:ext cx="375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dirty="0"/>
                <a:t>Inner distance</a:t>
              </a:r>
            </a:p>
          </p:txBody>
        </p:sp>
      </p:grp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83FCDA5-F842-234D-AB74-AF4ABB3D2A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848"/>
          <a:stretch/>
        </p:blipFill>
        <p:spPr>
          <a:xfrm>
            <a:off x="1047000" y="2757529"/>
            <a:ext cx="7050000" cy="50653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B51046B-61B6-FF49-99EC-248A6D16E276}"/>
              </a:ext>
            </a:extLst>
          </p:cNvPr>
          <p:cNvGrpSpPr/>
          <p:nvPr/>
        </p:nvGrpSpPr>
        <p:grpSpPr>
          <a:xfrm>
            <a:off x="2054942" y="3010794"/>
            <a:ext cx="4549237" cy="1477464"/>
            <a:chOff x="2054942" y="3010794"/>
            <a:chExt cx="4549237" cy="1477464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E70168FA-1C79-B640-9DFA-E3251467604B}"/>
                </a:ext>
              </a:extLst>
            </p:cNvPr>
            <p:cNvGrpSpPr/>
            <p:nvPr/>
          </p:nvGrpSpPr>
          <p:grpSpPr>
            <a:xfrm>
              <a:off x="2054942" y="3010794"/>
              <a:ext cx="4549237" cy="1477464"/>
              <a:chOff x="2054942" y="3010794"/>
              <a:chExt cx="4549237" cy="1477464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D254723E-1D14-A049-B712-217B9551BE0D}"/>
                  </a:ext>
                </a:extLst>
              </p:cNvPr>
              <p:cNvGrpSpPr/>
              <p:nvPr/>
            </p:nvGrpSpPr>
            <p:grpSpPr>
              <a:xfrm>
                <a:off x="2054942" y="3010794"/>
                <a:ext cx="4549237" cy="1022616"/>
                <a:chOff x="2054942" y="3010794"/>
                <a:chExt cx="4549237" cy="1022616"/>
              </a:xfrm>
            </p:grpSpPr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98B6A56-7640-4B47-AE78-84C30B9A6B6B}"/>
                    </a:ext>
                  </a:extLst>
                </p:cNvPr>
                <p:cNvCxnSpPr>
                  <a:endCxn id="48" idx="1"/>
                </p:cNvCxnSpPr>
                <p:nvPr/>
              </p:nvCxnSpPr>
              <p:spPr>
                <a:xfrm>
                  <a:off x="2054942" y="3010794"/>
                  <a:ext cx="1" cy="840054"/>
                </a:xfrm>
                <a:prstGeom prst="line">
                  <a:avLst/>
                </a:prstGeom>
                <a:ln w="28575">
                  <a:solidFill>
                    <a:schemeClr val="bg1">
                      <a:lumMod val="6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5075EEDE-37F0-594F-9DEC-0E42B387B05A}"/>
                    </a:ext>
                  </a:extLst>
                </p:cNvPr>
                <p:cNvCxnSpPr/>
                <p:nvPr/>
              </p:nvCxnSpPr>
              <p:spPr>
                <a:xfrm>
                  <a:off x="6604179" y="3042749"/>
                  <a:ext cx="0" cy="798934"/>
                </a:xfrm>
                <a:prstGeom prst="line">
                  <a:avLst/>
                </a:prstGeom>
                <a:ln w="28575">
                  <a:solidFill>
                    <a:schemeClr val="bg1">
                      <a:lumMod val="6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48" name="Picture 47" descr="Graphical user interface, application&#10;&#10;Description automatically generated">
                  <a:extLst>
                    <a:ext uri="{FF2B5EF4-FFF2-40B4-BE49-F238E27FC236}">
                      <a16:creationId xmlns:a16="http://schemas.microsoft.com/office/drawing/2014/main" id="{2E6F4E2C-012E-D145-82D5-731B6B99F1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4297" r="21593" b="90520"/>
                <a:stretch/>
              </p:blipFill>
              <p:spPr>
                <a:xfrm>
                  <a:off x="2054943" y="3668285"/>
                  <a:ext cx="4519740" cy="365125"/>
                </a:xfrm>
                <a:prstGeom prst="rect">
                  <a:avLst/>
                </a:prstGeom>
              </p:spPr>
            </p:pic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DD47F66-AE51-2341-8B8A-6F2C3DF35127}"/>
                  </a:ext>
                </a:extLst>
              </p:cNvPr>
              <p:cNvSpPr txBox="1"/>
              <p:nvPr/>
            </p:nvSpPr>
            <p:spPr>
              <a:xfrm>
                <a:off x="3337199" y="4118926"/>
                <a:ext cx="19946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H" dirty="0"/>
                  <a:t>Fragment</a:t>
                </a:r>
              </a:p>
            </p:txBody>
          </p:sp>
        </p:grpSp>
        <p:pic>
          <p:nvPicPr>
            <p:cNvPr id="39" name="Picture 38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73C67C2F-C1E7-2B40-AA3E-3E8CD186EF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605" r="55171"/>
            <a:stretch/>
          </p:blipFill>
          <p:spPr>
            <a:xfrm>
              <a:off x="2693507" y="3938467"/>
              <a:ext cx="1435476" cy="240652"/>
            </a:xfrm>
            <a:prstGeom prst="rect">
              <a:avLst/>
            </a:prstGeom>
          </p:spPr>
        </p:pic>
        <p:pic>
          <p:nvPicPr>
            <p:cNvPr id="40" name="Picture 39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3A0A1ECA-6E69-E24B-9855-F12F2FF2A4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418" t="-2679" b="59303"/>
            <a:stretch/>
          </p:blipFill>
          <p:spPr>
            <a:xfrm>
              <a:off x="4643564" y="3577176"/>
              <a:ext cx="1299504" cy="258417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6FE9904-30DF-854D-85B2-9EB6F1262C73}"/>
              </a:ext>
            </a:extLst>
          </p:cNvPr>
          <p:cNvGrpSpPr/>
          <p:nvPr/>
        </p:nvGrpSpPr>
        <p:grpSpPr>
          <a:xfrm>
            <a:off x="2685580" y="3041282"/>
            <a:ext cx="3259306" cy="2348308"/>
            <a:chOff x="2685580" y="3041282"/>
            <a:chExt cx="3259306" cy="2348308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1883CBA-2643-934D-A739-8553904385E6}"/>
                </a:ext>
              </a:extLst>
            </p:cNvPr>
            <p:cNvGrpSpPr/>
            <p:nvPr/>
          </p:nvGrpSpPr>
          <p:grpSpPr>
            <a:xfrm>
              <a:off x="2685580" y="3041282"/>
              <a:ext cx="3259306" cy="2348308"/>
              <a:chOff x="2685580" y="3041282"/>
              <a:chExt cx="3259306" cy="2348308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CE013620-9547-6744-9F76-7E0AF8A1BF3B}"/>
                  </a:ext>
                </a:extLst>
              </p:cNvPr>
              <p:cNvCxnSpPr>
                <a:cxnSpLocks/>
                <a:endCxn id="49" idx="3"/>
              </p:cNvCxnSpPr>
              <p:nvPr/>
            </p:nvCxnSpPr>
            <p:spPr>
              <a:xfrm flipH="1">
                <a:off x="5943068" y="3051914"/>
                <a:ext cx="1818" cy="1687395"/>
              </a:xfrm>
              <a:prstGeom prst="line">
                <a:avLst/>
              </a:prstGeom>
              <a:ln w="28575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CC79F0DD-4DED-7240-B4B8-E412E0B9BC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85580" y="3041282"/>
                <a:ext cx="1818" cy="1687395"/>
              </a:xfrm>
              <a:prstGeom prst="line">
                <a:avLst/>
              </a:prstGeom>
              <a:ln w="28575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9" name="Picture 48" descr="Graphical user interface, application&#10;&#10;Description automatically generated">
                <a:extLst>
                  <a:ext uri="{FF2B5EF4-FFF2-40B4-BE49-F238E27FC236}">
                    <a16:creationId xmlns:a16="http://schemas.microsoft.com/office/drawing/2014/main" id="{7766C453-80B0-4440-9F02-4B33482F751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436" r="30552" b="92655"/>
              <a:stretch/>
            </p:blipFill>
            <p:spPr>
              <a:xfrm>
                <a:off x="2699203" y="4597866"/>
                <a:ext cx="3243865" cy="282885"/>
              </a:xfrm>
              <a:prstGeom prst="rect">
                <a:avLst/>
              </a:prstGeom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9D061B0-707F-7F4A-A247-B44F40A4C66C}"/>
                  </a:ext>
                </a:extLst>
              </p:cNvPr>
              <p:cNvSpPr txBox="1"/>
              <p:nvPr/>
            </p:nvSpPr>
            <p:spPr>
              <a:xfrm>
                <a:off x="2936258" y="5020258"/>
                <a:ext cx="27503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H" dirty="0"/>
                  <a:t>Insert size | Fragment</a:t>
                </a:r>
              </a:p>
            </p:txBody>
          </p:sp>
        </p:grpSp>
        <p:pic>
          <p:nvPicPr>
            <p:cNvPr id="41" name="Picture 40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EEA4059-15A0-8144-8CDF-3A469BAEBA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418" t="-2679" b="59303"/>
            <a:stretch/>
          </p:blipFill>
          <p:spPr>
            <a:xfrm>
              <a:off x="4630171" y="4518508"/>
              <a:ext cx="1299504" cy="258417"/>
            </a:xfrm>
            <a:prstGeom prst="rect">
              <a:avLst/>
            </a:prstGeom>
          </p:spPr>
        </p:pic>
        <p:pic>
          <p:nvPicPr>
            <p:cNvPr id="42" name="Picture 4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6D2A0051-C577-9644-B2EE-59679F2FD5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605" r="55171"/>
            <a:stretch/>
          </p:blipFill>
          <p:spPr>
            <a:xfrm>
              <a:off x="2685585" y="4861665"/>
              <a:ext cx="1435476" cy="2406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992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0BBCA-4CFB-C19D-96F2-0BC8B24CD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Some more definitions..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06BE-E992-DB8E-498C-000AF26F3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b="1" dirty="0"/>
              <a:t>Library: </a:t>
            </a:r>
            <a:r>
              <a:rPr lang="en-CH" dirty="0"/>
              <a:t>fragments from one </a:t>
            </a:r>
            <a:r>
              <a:rPr lang="en-US" dirty="0"/>
              <a:t>(c)</a:t>
            </a:r>
            <a:r>
              <a:rPr lang="en-CH" dirty="0"/>
              <a:t>DNA sample that share a barcode</a:t>
            </a:r>
          </a:p>
          <a:p>
            <a:r>
              <a:rPr lang="en-CH" b="1" dirty="0"/>
              <a:t>Sequencing run: </a:t>
            </a:r>
            <a:r>
              <a:rPr lang="en-CH" dirty="0"/>
              <a:t>complete cycle of generating reads on a machine</a:t>
            </a:r>
          </a:p>
          <a:p>
            <a:r>
              <a:rPr lang="en-CH" b="1" dirty="0"/>
              <a:t>Flow cell: </a:t>
            </a:r>
            <a:r>
              <a:rPr lang="en-CH" dirty="0"/>
              <a:t>physical platform where sequencing reactions take place. Used once in a sequencing run. </a:t>
            </a:r>
            <a:endParaRPr lang="en-CH" b="1" dirty="0"/>
          </a:p>
          <a:p>
            <a:r>
              <a:rPr lang="en-CH" b="1" dirty="0"/>
              <a:t>Lane: </a:t>
            </a:r>
            <a:r>
              <a:rPr lang="en-CH" dirty="0"/>
              <a:t>compartment within the flow cell. An Illumina flow cell often has multiple lanes (2 or 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9B9FC-3AE1-BD14-9052-1D963BAB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81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8738D-326E-1F68-2B54-2CC8CC0C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8</a:t>
            </a:fld>
            <a:endParaRPr lang="en-GB" dirty="0"/>
          </a:p>
        </p:txBody>
      </p:sp>
      <p:pic>
        <p:nvPicPr>
          <p:cNvPr id="6" name="Graphic 5" descr="Beaker with solid fill">
            <a:extLst>
              <a:ext uri="{FF2B5EF4-FFF2-40B4-BE49-F238E27FC236}">
                <a16:creationId xmlns:a16="http://schemas.microsoft.com/office/drawing/2014/main" id="{5747DE4F-0E77-4388-B66F-E6E7B143B5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8436" y="735226"/>
            <a:ext cx="914400" cy="914400"/>
          </a:xfrm>
          <a:prstGeom prst="rect">
            <a:avLst/>
          </a:prstGeom>
        </p:spPr>
      </p:pic>
      <p:pic>
        <p:nvPicPr>
          <p:cNvPr id="7" name="Graphic 6" descr="Beaker with solid fill">
            <a:extLst>
              <a:ext uri="{FF2B5EF4-FFF2-40B4-BE49-F238E27FC236}">
                <a16:creationId xmlns:a16="http://schemas.microsoft.com/office/drawing/2014/main" id="{282D9CAB-74C2-8739-958D-F4FE037B8C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7020" y="735226"/>
            <a:ext cx="914400" cy="914400"/>
          </a:xfrm>
          <a:prstGeom prst="rect">
            <a:avLst/>
          </a:prstGeom>
        </p:spPr>
      </p:pic>
      <p:pic>
        <p:nvPicPr>
          <p:cNvPr id="8" name="Graphic 7" descr="Beaker with solid fill">
            <a:extLst>
              <a:ext uri="{FF2B5EF4-FFF2-40B4-BE49-F238E27FC236}">
                <a16:creationId xmlns:a16="http://schemas.microsoft.com/office/drawing/2014/main" id="{29163FBF-82C3-233C-C084-8409C6D6DA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5604" y="735226"/>
            <a:ext cx="914400" cy="914400"/>
          </a:xfrm>
          <a:prstGeom prst="rect">
            <a:avLst/>
          </a:prstGeom>
        </p:spPr>
      </p:pic>
      <p:pic>
        <p:nvPicPr>
          <p:cNvPr id="9" name="Graphic 8" descr="Beaker with solid fill">
            <a:extLst>
              <a:ext uri="{FF2B5EF4-FFF2-40B4-BE49-F238E27FC236}">
                <a16:creationId xmlns:a16="http://schemas.microsoft.com/office/drawing/2014/main" id="{DADBB147-B7E2-7D50-A56B-E44EBD4C37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188" y="735226"/>
            <a:ext cx="914400" cy="914400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71251517-B771-F23C-8FFA-9C29ED288B63}"/>
              </a:ext>
            </a:extLst>
          </p:cNvPr>
          <p:cNvSpPr/>
          <p:nvPr/>
        </p:nvSpPr>
        <p:spPr>
          <a:xfrm rot="16200000">
            <a:off x="4309587" y="-399889"/>
            <a:ext cx="317848" cy="4300153"/>
          </a:xfrm>
          <a:prstGeom prst="lef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1" name="Graphic 10" descr="Beaker with solid fill">
            <a:extLst>
              <a:ext uri="{FF2B5EF4-FFF2-40B4-BE49-F238E27FC236}">
                <a16:creationId xmlns:a16="http://schemas.microsoft.com/office/drawing/2014/main" id="{C74731A0-09A4-6B4C-7BB5-8D9DCC514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11312" y="2265745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E382D2-595B-DEE4-AFD7-48AC8ED1C8BF}"/>
              </a:ext>
            </a:extLst>
          </p:cNvPr>
          <p:cNvSpPr txBox="1"/>
          <p:nvPr/>
        </p:nvSpPr>
        <p:spPr>
          <a:xfrm>
            <a:off x="3788889" y="1878221"/>
            <a:ext cx="1359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/>
              <a:t>Pooling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3B6418-9CA0-4D84-C933-0FBF0E508119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flipH="1">
            <a:off x="3130581" y="3180145"/>
            <a:ext cx="1337931" cy="38806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BF59543-2F2A-A3B8-2991-843554B44050}"/>
              </a:ext>
            </a:extLst>
          </p:cNvPr>
          <p:cNvSpPr txBox="1"/>
          <p:nvPr/>
        </p:nvSpPr>
        <p:spPr>
          <a:xfrm>
            <a:off x="2164349" y="302219"/>
            <a:ext cx="1222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/>
              <a:t>lib1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ACDD70-FDEE-2A07-D1B6-CB83A1037C63}"/>
              </a:ext>
            </a:extLst>
          </p:cNvPr>
          <p:cNvSpPr txBox="1"/>
          <p:nvPr/>
        </p:nvSpPr>
        <p:spPr>
          <a:xfrm>
            <a:off x="3286612" y="299985"/>
            <a:ext cx="1222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/>
              <a:t>lib2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764F2B-42A4-10FE-FE61-474888EE4101}"/>
              </a:ext>
            </a:extLst>
          </p:cNvPr>
          <p:cNvSpPr txBox="1"/>
          <p:nvPr/>
        </p:nvSpPr>
        <p:spPr>
          <a:xfrm>
            <a:off x="4408875" y="297751"/>
            <a:ext cx="1222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/>
              <a:t>lib3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755748-AF7F-B12B-04D7-4C35FE0D6702}"/>
              </a:ext>
            </a:extLst>
          </p:cNvPr>
          <p:cNvSpPr txBox="1"/>
          <p:nvPr/>
        </p:nvSpPr>
        <p:spPr>
          <a:xfrm>
            <a:off x="5531138" y="295517"/>
            <a:ext cx="1222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/>
              <a:t>lib4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72BA3DA-8585-A38D-26ED-0F844642E813}"/>
              </a:ext>
            </a:extLst>
          </p:cNvPr>
          <p:cNvGrpSpPr/>
          <p:nvPr/>
        </p:nvGrpSpPr>
        <p:grpSpPr>
          <a:xfrm>
            <a:off x="1855648" y="3180145"/>
            <a:ext cx="5225727" cy="3469933"/>
            <a:chOff x="1792648" y="3180145"/>
            <a:chExt cx="5225727" cy="346993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D0D197D-BC0D-5932-A45F-D7763D9C04BD}"/>
                </a:ext>
              </a:extLst>
            </p:cNvPr>
            <p:cNvCxnSpPr>
              <a:cxnSpLocks/>
              <a:stCxn id="11" idx="2"/>
              <a:endCxn id="18" idx="0"/>
            </p:cNvCxnSpPr>
            <p:nvPr/>
          </p:nvCxnSpPr>
          <p:spPr>
            <a:xfrm>
              <a:off x="4405512" y="3180145"/>
              <a:ext cx="1298676" cy="38360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E74497F-6478-BEF3-746E-BFC4F50C3FFF}"/>
                </a:ext>
              </a:extLst>
            </p:cNvPr>
            <p:cNvSpPr/>
            <p:nvPr/>
          </p:nvSpPr>
          <p:spPr>
            <a:xfrm>
              <a:off x="2815581" y="4025412"/>
              <a:ext cx="504000" cy="109975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C47BA7-BD3D-8CA0-747B-0D4D95AF057B}"/>
                </a:ext>
              </a:extLst>
            </p:cNvPr>
            <p:cNvSpPr txBox="1"/>
            <p:nvPr/>
          </p:nvSpPr>
          <p:spPr>
            <a:xfrm>
              <a:off x="2456294" y="3568213"/>
              <a:ext cx="1222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400" dirty="0"/>
                <a:t>lane1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DCD11C0-B76A-C742-E20E-E01BB08E3494}"/>
                </a:ext>
              </a:extLst>
            </p:cNvPr>
            <p:cNvCxnSpPr>
              <a:cxnSpLocks/>
              <a:stCxn id="13" idx="2"/>
              <a:endCxn id="44" idx="0"/>
            </p:cNvCxnSpPr>
            <p:nvPr/>
          </p:nvCxnSpPr>
          <p:spPr>
            <a:xfrm flipH="1">
              <a:off x="3067580" y="5125163"/>
              <a:ext cx="1" cy="447697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5D80388-40DB-237C-0812-DE3C0133EE64}"/>
                </a:ext>
              </a:extLst>
            </p:cNvPr>
            <p:cNvSpPr txBox="1"/>
            <p:nvPr/>
          </p:nvSpPr>
          <p:spPr>
            <a:xfrm>
              <a:off x="1792648" y="5572860"/>
              <a:ext cx="2549864" cy="1077218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CH" sz="1600" dirty="0">
                  <a:solidFill>
                    <a:schemeClr val="bg1"/>
                  </a:solidFill>
                  <a:latin typeface="+mj-lt"/>
                </a:rPr>
                <a:t>lib1_S1_L001_R1.fastq</a:t>
              </a:r>
            </a:p>
            <a:p>
              <a:r>
                <a:rPr lang="en-CH" sz="1600" dirty="0">
                  <a:solidFill>
                    <a:schemeClr val="bg1"/>
                  </a:solidFill>
                  <a:latin typeface="+mj-lt"/>
                </a:rPr>
                <a:t>lib2_S2_L001_R1.fastq</a:t>
              </a:r>
            </a:p>
            <a:p>
              <a:r>
                <a:rPr lang="en-CH" sz="1600" dirty="0">
                  <a:solidFill>
                    <a:schemeClr val="bg1"/>
                  </a:solidFill>
                  <a:latin typeface="+mj-lt"/>
                </a:rPr>
                <a:t>lib3_S3_L001_R1.fastq</a:t>
              </a:r>
            </a:p>
            <a:p>
              <a:r>
                <a:rPr lang="en-CH" sz="1600" dirty="0">
                  <a:solidFill>
                    <a:schemeClr val="bg1"/>
                  </a:solidFill>
                  <a:latin typeface="+mj-lt"/>
                </a:rPr>
                <a:t>lib4_S4_L001_R1.fastq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C019017-5152-8151-7942-DC2FB91542F7}"/>
                </a:ext>
              </a:extLst>
            </p:cNvPr>
            <p:cNvSpPr/>
            <p:nvPr/>
          </p:nvSpPr>
          <p:spPr>
            <a:xfrm>
              <a:off x="5491443" y="4025412"/>
              <a:ext cx="504000" cy="109975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7DBD27-0C5A-475F-28DB-7BA30DB560D7}"/>
                </a:ext>
              </a:extLst>
            </p:cNvPr>
            <p:cNvSpPr txBox="1"/>
            <p:nvPr/>
          </p:nvSpPr>
          <p:spPr>
            <a:xfrm>
              <a:off x="5092901" y="3563747"/>
              <a:ext cx="1222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400" dirty="0"/>
                <a:t>lane2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0F8ADDA-3421-280C-9156-CFB0CE5E657D}"/>
                </a:ext>
              </a:extLst>
            </p:cNvPr>
            <p:cNvSpPr txBox="1"/>
            <p:nvPr/>
          </p:nvSpPr>
          <p:spPr>
            <a:xfrm>
              <a:off x="4468511" y="5572860"/>
              <a:ext cx="2549864" cy="1077218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CH" sz="1600" dirty="0">
                  <a:solidFill>
                    <a:schemeClr val="bg1"/>
                  </a:solidFill>
                  <a:latin typeface="+mj-lt"/>
                </a:rPr>
                <a:t>lib1_S1_L002_R1.fastq</a:t>
              </a:r>
            </a:p>
            <a:p>
              <a:r>
                <a:rPr lang="en-CH" sz="1600" dirty="0">
                  <a:solidFill>
                    <a:schemeClr val="bg1"/>
                  </a:solidFill>
                  <a:latin typeface="+mj-lt"/>
                </a:rPr>
                <a:t>lib2_S2_L002_R1.fastq</a:t>
              </a:r>
            </a:p>
            <a:p>
              <a:r>
                <a:rPr lang="en-CH" sz="1600" dirty="0">
                  <a:solidFill>
                    <a:schemeClr val="bg1"/>
                  </a:solidFill>
                  <a:latin typeface="+mj-lt"/>
                </a:rPr>
                <a:t>lib3_S3_L002_R1.fastq</a:t>
              </a:r>
            </a:p>
            <a:p>
              <a:r>
                <a:rPr lang="en-CH" sz="1600" dirty="0">
                  <a:solidFill>
                    <a:schemeClr val="bg1"/>
                  </a:solidFill>
                  <a:latin typeface="+mj-lt"/>
                </a:rPr>
                <a:t>lib4_S4_L002_R1.fastq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D2D615EB-C2BB-99D8-25C7-F5B6B8EDFDAD}"/>
                </a:ext>
              </a:extLst>
            </p:cNvPr>
            <p:cNvCxnSpPr>
              <a:cxnSpLocks/>
              <a:stCxn id="14" idx="2"/>
              <a:endCxn id="48" idx="0"/>
            </p:cNvCxnSpPr>
            <p:nvPr/>
          </p:nvCxnSpPr>
          <p:spPr>
            <a:xfrm>
              <a:off x="5743443" y="5125163"/>
              <a:ext cx="0" cy="447697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3E3BE2A8-F573-28B6-B211-E5B8F9336D37}"/>
              </a:ext>
            </a:extLst>
          </p:cNvPr>
          <p:cNvSpPr txBox="1"/>
          <p:nvPr/>
        </p:nvSpPr>
        <p:spPr>
          <a:xfrm>
            <a:off x="496404" y="1129598"/>
            <a:ext cx="1667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/>
              <a:t>Libraries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690EAEF-1A75-7DF2-9583-6535C0F8C0DC}"/>
              </a:ext>
            </a:extLst>
          </p:cNvPr>
          <p:cNvSpPr txBox="1"/>
          <p:nvPr/>
        </p:nvSpPr>
        <p:spPr>
          <a:xfrm>
            <a:off x="3115667" y="5146894"/>
            <a:ext cx="2705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/>
              <a:t>Demultiplexing</a:t>
            </a:r>
          </a:p>
        </p:txBody>
      </p:sp>
    </p:spTree>
    <p:extLst>
      <p:ext uri="{BB962C8B-B14F-4D97-AF65-F5344CB8AC3E}">
        <p14:creationId xmlns:p14="http://schemas.microsoft.com/office/powerpoint/2010/main" val="4060091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034CF-5B09-2F4D-A94E-717098AFF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fastq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EB33A-B543-904E-BA3A-0FE95BFD0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B892DE4-B6E7-D041-897A-6050906F4ED7}"/>
                  </a:ext>
                </a:extLst>
              </p:cNvPr>
              <p:cNvSpPr/>
              <p:nvPr/>
            </p:nvSpPr>
            <p:spPr>
              <a:xfrm>
                <a:off x="188949" y="2554093"/>
                <a:ext cx="6877666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𝐵𝐴𝑆𝐸𝑄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𝑏𝑎𝑠𝑒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𝑤𝑟𝑜𝑛𝑔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800" dirty="0"/>
              </a:p>
              <a:p>
                <a:endParaRPr lang="en-US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−10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(0.01)</m:t>
                          </m:r>
                        </m:fName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=20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−10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0.1)</m:t>
                          </m:r>
                        </m:fName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−10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(0.5)</m:t>
                          </m:r>
                        </m:fName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=3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B892DE4-B6E7-D041-897A-6050906F4E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49" y="2554093"/>
                <a:ext cx="6877666" cy="2246769"/>
              </a:xfrm>
              <a:prstGeom prst="rect">
                <a:avLst/>
              </a:prstGeom>
              <a:blipFill>
                <a:blip r:embed="rId2"/>
                <a:stretch>
                  <a:fillRect b="-393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09F99D-CCF6-704B-A4E3-E8F782963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CH" dirty="0"/>
              <a:t>fasta + basequality (fasta + q = fastq)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84085E8-BA97-6141-8EBB-874BAD279A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64658" y="3260133"/>
            <a:ext cx="3440234" cy="344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188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B994-C209-8A22-4B85-72EBDFE8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Question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99FA9-4FC8-4591-71BA-2E5318F28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89C1E-3154-3C6D-8245-D57AF515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718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18298-F839-AB48-AE22-AA54C95EF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fastq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9CAEA-29E9-D94D-BBE9-CFE957F0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F07CA-1807-574F-958E-DE6EC5BD690A}"/>
              </a:ext>
            </a:extLst>
          </p:cNvPr>
          <p:cNvSpPr txBox="1"/>
          <p:nvPr/>
        </p:nvSpPr>
        <p:spPr>
          <a:xfrm>
            <a:off x="549137" y="5156022"/>
            <a:ext cx="75114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!"#$%&amp;'()*+,-./0123456789:;&lt;=&gt;?@ABCDEFGHI</a:t>
            </a:r>
          </a:p>
          <a:p>
            <a:r>
              <a:rPr lang="en-US" sz="2400" dirty="0">
                <a:latin typeface="+mj-lt"/>
              </a:rPr>
              <a:t>|                         |    |        | </a:t>
            </a:r>
          </a:p>
          <a:p>
            <a:r>
              <a:rPr lang="en-US" sz="2400" dirty="0">
                <a:latin typeface="+mj-lt"/>
              </a:rPr>
              <a:t>0.2......................26...31........41</a:t>
            </a:r>
            <a:endParaRPr lang="en-CH" sz="2400" dirty="0">
              <a:latin typeface="+mj-lt"/>
            </a:endParaRPr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14E964DA-D844-A941-B2AD-CEC0A16BE61D}"/>
              </a:ext>
            </a:extLst>
          </p:cNvPr>
          <p:cNvSpPr txBox="1">
            <a:spLocks/>
          </p:cNvSpPr>
          <p:nvPr/>
        </p:nvSpPr>
        <p:spPr>
          <a:xfrm>
            <a:off x="534275" y="2993706"/>
            <a:ext cx="5534752" cy="14892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@D00283R:66:CC611ANXX:4:2311:2596:2330 1:N:0:TCCGGAG</a:t>
            </a:r>
          </a:p>
          <a:p>
            <a:pPr marL="0" indent="0">
              <a:buNone/>
            </a:pP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ACTCTACGCTCAATAAAGATTTCTGATACGGCTCCTGAAATGCAGAATGAGT</a:t>
            </a:r>
          </a:p>
          <a:p>
            <a:pPr marL="0" indent="0">
              <a:buNone/>
            </a:pP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pPr marL="0" indent="0">
              <a:buNone/>
            </a:pP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B/&lt;&lt;&lt;B&lt;FFFFFFFFFFBBFFFBFFFFBFFFF/FFFFFFFF/BFFFFFBFFF</a:t>
            </a:r>
          </a:p>
        </p:txBody>
      </p:sp>
      <p:sp>
        <p:nvSpPr>
          <p:cNvPr id="7" name="Tekstvak 4">
            <a:extLst>
              <a:ext uri="{FF2B5EF4-FFF2-40B4-BE49-F238E27FC236}">
                <a16:creationId xmlns:a16="http://schemas.microsoft.com/office/drawing/2014/main" id="{0CD2FD04-20E9-0544-A8EB-417C399896CF}"/>
              </a:ext>
            </a:extLst>
          </p:cNvPr>
          <p:cNvSpPr txBox="1"/>
          <p:nvPr/>
        </p:nvSpPr>
        <p:spPr>
          <a:xfrm>
            <a:off x="534275" y="2532041"/>
            <a:ext cx="248405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2400" dirty="0" err="1">
                <a:latin typeface="+mj-lt"/>
              </a:rPr>
              <a:t>reads.fastq</a:t>
            </a:r>
            <a:endParaRPr lang="nl-NL" sz="2400" dirty="0">
              <a:latin typeface="+mj-lt"/>
            </a:endParaRPr>
          </a:p>
        </p:txBody>
      </p:sp>
      <p:sp>
        <p:nvSpPr>
          <p:cNvPr id="8" name="Tekstvak 5">
            <a:extLst>
              <a:ext uri="{FF2B5EF4-FFF2-40B4-BE49-F238E27FC236}">
                <a16:creationId xmlns:a16="http://schemas.microsoft.com/office/drawing/2014/main" id="{C9289497-FA36-A04F-9EB2-A88E9892CE23}"/>
              </a:ext>
            </a:extLst>
          </p:cNvPr>
          <p:cNvSpPr txBox="1"/>
          <p:nvPr/>
        </p:nvSpPr>
        <p:spPr>
          <a:xfrm>
            <a:off x="6368126" y="2578207"/>
            <a:ext cx="23955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 err="1"/>
              <a:t>title</a:t>
            </a:r>
            <a:r>
              <a:rPr lang="nl-NL" dirty="0"/>
              <a:t>, starts </a:t>
            </a:r>
            <a:r>
              <a:rPr lang="nl-NL" dirty="0" err="1"/>
              <a:t>with</a:t>
            </a:r>
            <a:r>
              <a:rPr lang="nl-NL" dirty="0"/>
              <a:t> @</a:t>
            </a:r>
          </a:p>
        </p:txBody>
      </p:sp>
      <p:sp>
        <p:nvSpPr>
          <p:cNvPr id="9" name="Tekstvak 6">
            <a:extLst>
              <a:ext uri="{FF2B5EF4-FFF2-40B4-BE49-F238E27FC236}">
                <a16:creationId xmlns:a16="http://schemas.microsoft.com/office/drawing/2014/main" id="{E29E1505-8709-6A4A-BE79-153E4FFF8E03}"/>
              </a:ext>
            </a:extLst>
          </p:cNvPr>
          <p:cNvSpPr txBox="1"/>
          <p:nvPr/>
        </p:nvSpPr>
        <p:spPr>
          <a:xfrm>
            <a:off x="6368127" y="3082475"/>
            <a:ext cx="25373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nucleotide </a:t>
            </a:r>
            <a:r>
              <a:rPr lang="nl-NL" dirty="0" err="1"/>
              <a:t>sequence</a:t>
            </a:r>
            <a:endParaRPr lang="nl-NL" dirty="0"/>
          </a:p>
        </p:txBody>
      </p:sp>
      <p:sp>
        <p:nvSpPr>
          <p:cNvPr id="10" name="Tekstvak 7">
            <a:extLst>
              <a:ext uri="{FF2B5EF4-FFF2-40B4-BE49-F238E27FC236}">
                <a16:creationId xmlns:a16="http://schemas.microsoft.com/office/drawing/2014/main" id="{ABD7C86D-95DA-2B4C-B855-E882F442AE87}"/>
              </a:ext>
            </a:extLst>
          </p:cNvPr>
          <p:cNvSpPr txBox="1"/>
          <p:nvPr/>
        </p:nvSpPr>
        <p:spPr>
          <a:xfrm>
            <a:off x="6368127" y="3586743"/>
            <a:ext cx="25373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 err="1"/>
              <a:t>optional</a:t>
            </a:r>
            <a:r>
              <a:rPr lang="nl-NL" dirty="0"/>
              <a:t> </a:t>
            </a:r>
            <a:r>
              <a:rPr lang="nl-NL" dirty="0" err="1"/>
              <a:t>description</a:t>
            </a:r>
            <a:endParaRPr lang="nl-NL" dirty="0"/>
          </a:p>
        </p:txBody>
      </p:sp>
      <p:sp>
        <p:nvSpPr>
          <p:cNvPr id="11" name="Tekstvak 8">
            <a:extLst>
              <a:ext uri="{FF2B5EF4-FFF2-40B4-BE49-F238E27FC236}">
                <a16:creationId xmlns:a16="http://schemas.microsoft.com/office/drawing/2014/main" id="{6C1440C0-7190-4848-9553-7139D5BD6610}"/>
              </a:ext>
            </a:extLst>
          </p:cNvPr>
          <p:cNvSpPr txBox="1"/>
          <p:nvPr/>
        </p:nvSpPr>
        <p:spPr>
          <a:xfrm>
            <a:off x="6368126" y="4091011"/>
            <a:ext cx="163287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base </a:t>
            </a:r>
            <a:r>
              <a:rPr lang="nl-NL" dirty="0" err="1"/>
              <a:t>quality</a:t>
            </a:r>
            <a:endParaRPr lang="nl-NL" dirty="0"/>
          </a:p>
        </p:txBody>
      </p:sp>
      <p:cxnSp>
        <p:nvCxnSpPr>
          <p:cNvPr id="12" name="Rechte verbindingslijn met pijl 10">
            <a:extLst>
              <a:ext uri="{FF2B5EF4-FFF2-40B4-BE49-F238E27FC236}">
                <a16:creationId xmlns:a16="http://schemas.microsoft.com/office/drawing/2014/main" id="{755C073F-734F-FB41-A79D-8506D25CC8F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866728" y="2762873"/>
            <a:ext cx="501398" cy="3040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met pijl 11">
            <a:extLst>
              <a:ext uri="{FF2B5EF4-FFF2-40B4-BE49-F238E27FC236}">
                <a16:creationId xmlns:a16="http://schemas.microsoft.com/office/drawing/2014/main" id="{B17FC2B1-BA31-5840-AD31-E979C4771482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5810083" y="3267141"/>
            <a:ext cx="558044" cy="648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met pijl 14">
            <a:extLst>
              <a:ext uri="{FF2B5EF4-FFF2-40B4-BE49-F238E27FC236}">
                <a16:creationId xmlns:a16="http://schemas.microsoft.com/office/drawing/2014/main" id="{884DBEF8-6ABE-4446-9758-DB5203F40A03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866727" y="3682641"/>
            <a:ext cx="501400" cy="8876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met pijl 17">
            <a:extLst>
              <a:ext uri="{FF2B5EF4-FFF2-40B4-BE49-F238E27FC236}">
                <a16:creationId xmlns:a16="http://schemas.microsoft.com/office/drawing/2014/main" id="{7AB7BE21-A2D9-C546-8BDE-D2AB2D8EC62C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810084" y="3934775"/>
            <a:ext cx="558042" cy="34090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658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31FEF-7A45-3745-8C2A-E49F66E1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12</a:t>
            </a:fld>
            <a:endParaRPr lang="en-GB" dirty="0"/>
          </a:p>
        </p:txBody>
      </p:sp>
      <p:pic>
        <p:nvPicPr>
          <p:cNvPr id="6" name="Picture 5" descr="Timeline&#10;&#10;Description automatically generated">
            <a:extLst>
              <a:ext uri="{FF2B5EF4-FFF2-40B4-BE49-F238E27FC236}">
                <a16:creationId xmlns:a16="http://schemas.microsoft.com/office/drawing/2014/main" id="{DB5122E9-8400-8141-913B-8F1AAEB713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3297"/>
          <a:stretch/>
        </p:blipFill>
        <p:spPr>
          <a:xfrm>
            <a:off x="1477653" y="708024"/>
            <a:ext cx="2441542" cy="5209383"/>
          </a:xfrm>
          <a:prstGeom prst="rect">
            <a:avLst/>
          </a:prstGeom>
        </p:spPr>
      </p:pic>
      <p:pic>
        <p:nvPicPr>
          <p:cNvPr id="5" name="Picture 4" descr="Timeline&#10;&#10;Description automatically generated">
            <a:extLst>
              <a:ext uri="{FF2B5EF4-FFF2-40B4-BE49-F238E27FC236}">
                <a16:creationId xmlns:a16="http://schemas.microsoft.com/office/drawing/2014/main" id="{912EA0B1-A149-3B49-A8AE-87A806CD94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35"/>
          <a:stretch/>
        </p:blipFill>
        <p:spPr>
          <a:xfrm>
            <a:off x="3919195" y="708024"/>
            <a:ext cx="3498915" cy="520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662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EAE37-CAFA-2643-BD35-7BB9BB09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13</a:t>
            </a:fld>
            <a:endParaRPr lang="en-GB"/>
          </a:p>
        </p:txBody>
      </p:sp>
      <p:pic>
        <p:nvPicPr>
          <p:cNvPr id="6" name="Picture 5" descr="Red hear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000DA6FF-AFCF-4146-A65A-4B936791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02" y="4543846"/>
            <a:ext cx="3600000" cy="1392366"/>
          </a:xfrm>
          <a:prstGeom prst="rect">
            <a:avLst/>
          </a:prstGeom>
        </p:spPr>
      </p:pic>
      <p:pic>
        <p:nvPicPr>
          <p:cNvPr id="8" name="Picture 7" descr="A picture containing blur&#10;&#10;Description automatically generated">
            <a:extLst>
              <a:ext uri="{FF2B5EF4-FFF2-40B4-BE49-F238E27FC236}">
                <a16:creationId xmlns:a16="http://schemas.microsoft.com/office/drawing/2014/main" id="{F49E0196-357A-9549-8366-EAE52FB38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950" y="4543846"/>
            <a:ext cx="3600000" cy="1392366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91AF00FF-D041-AD43-A0E5-C2226504C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302" y="518632"/>
            <a:ext cx="2529952" cy="253935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06C5C58-56EF-6F48-921A-A64B1D12F2C5}"/>
              </a:ext>
            </a:extLst>
          </p:cNvPr>
          <p:cNvCxnSpPr>
            <a:cxnSpLocks/>
          </p:cNvCxnSpPr>
          <p:nvPr/>
        </p:nvCxnSpPr>
        <p:spPr>
          <a:xfrm flipH="1">
            <a:off x="581302" y="2782957"/>
            <a:ext cx="2310985" cy="1760889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690F7D-A540-BE4E-94FA-E3B25EA9182D}"/>
              </a:ext>
            </a:extLst>
          </p:cNvPr>
          <p:cNvCxnSpPr>
            <a:cxnSpLocks/>
          </p:cNvCxnSpPr>
          <p:nvPr/>
        </p:nvCxnSpPr>
        <p:spPr>
          <a:xfrm>
            <a:off x="3148526" y="2782957"/>
            <a:ext cx="1141514" cy="1760889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FAFE599-4973-5E47-9FC6-31B0B4220666}"/>
              </a:ext>
            </a:extLst>
          </p:cNvPr>
          <p:cNvSpPr txBox="1"/>
          <p:nvPr/>
        </p:nvSpPr>
        <p:spPr>
          <a:xfrm>
            <a:off x="1736794" y="6029703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800" dirty="0"/>
              <a:t>in phase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E4F237-FFB7-7B41-9FC2-F5583B8FE985}"/>
              </a:ext>
            </a:extLst>
          </p:cNvPr>
          <p:cNvSpPr txBox="1"/>
          <p:nvPr/>
        </p:nvSpPr>
        <p:spPr>
          <a:xfrm>
            <a:off x="5465772" y="6029703"/>
            <a:ext cx="2514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800" dirty="0"/>
              <a:t>out of phase</a:t>
            </a:r>
          </a:p>
        </p:txBody>
      </p:sp>
    </p:spTree>
    <p:extLst>
      <p:ext uri="{BB962C8B-B14F-4D97-AF65-F5344CB8AC3E}">
        <p14:creationId xmlns:p14="http://schemas.microsoft.com/office/powerpoint/2010/main" val="1004746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7DE20-F5E1-7643-85D9-BD3392044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Illumina -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21873-A57F-D848-ABDD-A3D6B02E5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Bridge amplification </a:t>
            </a:r>
          </a:p>
          <a:p>
            <a:r>
              <a:rPr lang="en-US" dirty="0"/>
              <a:t>Lengths are limited by out-of-phase of signal </a:t>
            </a:r>
          </a:p>
          <a:p>
            <a:endParaRPr lang="en-US" dirty="0"/>
          </a:p>
        </p:txBody>
      </p:sp>
      <p:sp>
        <p:nvSpPr>
          <p:cNvPr id="6" name="AutoShape 2" descr="An Illumina flowcell with clusters.">
            <a:extLst>
              <a:ext uri="{FF2B5EF4-FFF2-40B4-BE49-F238E27FC236}">
                <a16:creationId xmlns:a16="http://schemas.microsoft.com/office/drawing/2014/main" id="{CED88C4B-863E-984A-A1F4-1498DCD102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Why does the per base sequence quality decrease over the read in ...">
            <a:extLst>
              <a:ext uri="{FF2B5EF4-FFF2-40B4-BE49-F238E27FC236}">
                <a16:creationId xmlns:a16="http://schemas.microsoft.com/office/drawing/2014/main" id="{5E443438-504A-3940-B0D4-281F3E438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209" y="3429000"/>
            <a:ext cx="5183813" cy="304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39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50C5-9AC3-BF44-AE3F-9CBB740D6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Long reads (3rd generation)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7934C-163D-D140-B649-BADDC1C4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Crux: maximizing signal from a single-molecule base read-out</a:t>
            </a:r>
          </a:p>
          <a:p>
            <a:r>
              <a:rPr lang="en-CH" dirty="0"/>
              <a:t>Single molecule, so no out-of-phase signal</a:t>
            </a:r>
          </a:p>
          <a:p>
            <a:r>
              <a:rPr lang="en-CH" dirty="0"/>
              <a:t>Two frequently used platforms:</a:t>
            </a:r>
          </a:p>
          <a:p>
            <a:pPr lvl="1"/>
            <a:r>
              <a:rPr lang="en-CH" dirty="0"/>
              <a:t>PacBio SMRT sequencing</a:t>
            </a:r>
          </a:p>
          <a:p>
            <a:pPr lvl="1"/>
            <a:r>
              <a:rPr lang="en-CH" dirty="0"/>
              <a:t>Oxford Nanopore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70F28-9275-CB46-A38C-FF98D3B6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30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2C0D9-9ED4-A540-B9B8-CB0FD1C51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16</a:t>
            </a:fld>
            <a:endParaRPr lang="en-GB"/>
          </a:p>
        </p:txBody>
      </p:sp>
      <p:pic>
        <p:nvPicPr>
          <p:cNvPr id="6" name="Picture 5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8C0E3D4C-74BE-904F-AF35-D87AE353E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07950"/>
            <a:ext cx="6858000" cy="664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574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8C23D-806F-6E4C-8542-E1EEDC64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Long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8A464-2C8F-9448-832B-F96C20A42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More error -&gt; difficulties for variant analysis</a:t>
            </a:r>
          </a:p>
          <a:p>
            <a:r>
              <a:rPr lang="en-CH" dirty="0"/>
              <a:t>But:</a:t>
            </a:r>
          </a:p>
          <a:p>
            <a:pPr lvl="1"/>
            <a:r>
              <a:rPr lang="en-CH" dirty="0"/>
              <a:t>PacBio HiFi: high baseQ + no bias</a:t>
            </a:r>
          </a:p>
          <a:p>
            <a:pPr lvl="1"/>
            <a:r>
              <a:rPr lang="en-CH" dirty="0"/>
              <a:t>Long reads can have higher mapping qualities</a:t>
            </a:r>
          </a:p>
          <a:p>
            <a:pPr lvl="1"/>
            <a:r>
              <a:rPr lang="en-CH" dirty="0"/>
              <a:t>Long reads improve haplotyping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C079A-3946-1543-B890-73E98833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034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7839D8-41EA-5443-8FC3-EA247299A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sequence</a:t>
            </a:r>
            <a:r>
              <a:rPr lang="nl-NL" dirty="0"/>
              <a:t>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3FDC09A-ACDB-294C-8E7F-7F4901E79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Whole</a:t>
            </a:r>
            <a:r>
              <a:rPr lang="nl-NL" dirty="0"/>
              <a:t> </a:t>
            </a:r>
            <a:r>
              <a:rPr lang="nl-NL" dirty="0" err="1"/>
              <a:t>genome</a:t>
            </a:r>
            <a:r>
              <a:rPr lang="nl-NL" dirty="0"/>
              <a:t>/</a:t>
            </a:r>
            <a:r>
              <a:rPr lang="nl-NL" dirty="0" err="1"/>
              <a:t>metagenome</a:t>
            </a:r>
            <a:endParaRPr lang="nl-NL" dirty="0"/>
          </a:p>
          <a:p>
            <a:r>
              <a:rPr lang="nl-NL" dirty="0" err="1"/>
              <a:t>Reduced</a:t>
            </a:r>
            <a:r>
              <a:rPr lang="nl-NL" dirty="0"/>
              <a:t> </a:t>
            </a:r>
            <a:r>
              <a:rPr lang="nl-NL" dirty="0" err="1"/>
              <a:t>representation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Bait</a:t>
            </a:r>
            <a:r>
              <a:rPr lang="nl-NL" dirty="0"/>
              <a:t> </a:t>
            </a:r>
            <a:r>
              <a:rPr lang="nl-NL" dirty="0" err="1"/>
              <a:t>capture</a:t>
            </a:r>
            <a:r>
              <a:rPr lang="nl-NL" dirty="0"/>
              <a:t>/</a:t>
            </a:r>
            <a:r>
              <a:rPr lang="nl-NL" dirty="0" err="1"/>
              <a:t>whole</a:t>
            </a:r>
            <a:r>
              <a:rPr lang="nl-NL" dirty="0"/>
              <a:t> </a:t>
            </a:r>
            <a:r>
              <a:rPr lang="nl-NL" dirty="0" err="1"/>
              <a:t>exome</a:t>
            </a:r>
            <a:r>
              <a:rPr lang="nl-NL" dirty="0"/>
              <a:t> </a:t>
            </a:r>
            <a:r>
              <a:rPr lang="nl-NL" dirty="0" err="1"/>
              <a:t>sequencing</a:t>
            </a:r>
            <a:endParaRPr lang="nl-NL" dirty="0"/>
          </a:p>
          <a:p>
            <a:pPr lvl="1"/>
            <a:r>
              <a:rPr lang="nl-NL" dirty="0" err="1"/>
              <a:t>Restriction</a:t>
            </a:r>
            <a:r>
              <a:rPr lang="nl-NL" dirty="0"/>
              <a:t> </a:t>
            </a:r>
            <a:r>
              <a:rPr lang="nl-NL" dirty="0" err="1"/>
              <a:t>Enzyme</a:t>
            </a:r>
            <a:r>
              <a:rPr lang="nl-NL" dirty="0"/>
              <a:t> </a:t>
            </a:r>
            <a:r>
              <a:rPr lang="nl-NL" dirty="0" err="1"/>
              <a:t>based</a:t>
            </a:r>
            <a:r>
              <a:rPr lang="nl-NL" dirty="0"/>
              <a:t> (e.g. RAD </a:t>
            </a:r>
            <a:r>
              <a:rPr lang="nl-NL" dirty="0" err="1"/>
              <a:t>seq</a:t>
            </a:r>
            <a:r>
              <a:rPr lang="nl-NL" dirty="0"/>
              <a:t>)</a:t>
            </a:r>
          </a:p>
          <a:p>
            <a:pPr lvl="1"/>
            <a:r>
              <a:rPr lang="nl-NL" dirty="0" err="1"/>
              <a:t>Amplicon</a:t>
            </a:r>
            <a:r>
              <a:rPr lang="nl-NL" dirty="0"/>
              <a:t> </a:t>
            </a:r>
            <a:r>
              <a:rPr lang="nl-NL" dirty="0" err="1"/>
              <a:t>sequencing</a:t>
            </a:r>
            <a:endParaRPr lang="nl-NL" dirty="0"/>
          </a:p>
          <a:p>
            <a:pPr lvl="1"/>
            <a:r>
              <a:rPr lang="nl-NL" dirty="0"/>
              <a:t>RNA-</a:t>
            </a:r>
            <a:r>
              <a:rPr lang="nl-NL" dirty="0" err="1"/>
              <a:t>seq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48C7E0C-BFC9-924A-93D1-6219C7152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07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A2D4-6C4E-532C-FED3-6290B6D19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GATK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0D5A3-8764-059C-98E8-A580EBC90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19</a:t>
            </a:fld>
            <a:endParaRPr lang="en-GB"/>
          </a:p>
        </p:txBody>
      </p:sp>
      <p:pic>
        <p:nvPicPr>
          <p:cNvPr id="5" name="Content Placeholder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7455C55E-E399-D94C-9DC1-9D9DC954110D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531768"/>
            <a:ext cx="7886700" cy="360816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3407C2E-A4F0-B64B-8743-D6C9C8B36540}"/>
              </a:ext>
            </a:extLst>
          </p:cNvPr>
          <p:cNvSpPr/>
          <p:nvPr/>
        </p:nvSpPr>
        <p:spPr>
          <a:xfrm>
            <a:off x="89452" y="6538913"/>
            <a:ext cx="8160026" cy="2616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H" sz="1100" dirty="0"/>
              <a:t>https://gatk.broadinstitute.org/hc/en-us/articles/360035535932-Germline-short-variant-discovery-SNPs-Indels-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41598B-2BFC-344B-BAF0-823ACCC909D2}"/>
              </a:ext>
            </a:extLst>
          </p:cNvPr>
          <p:cNvSpPr/>
          <p:nvPr/>
        </p:nvSpPr>
        <p:spPr>
          <a:xfrm>
            <a:off x="846667" y="2639883"/>
            <a:ext cx="1715911" cy="20094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38A77-A602-CA4B-B7B7-17E405263ACA}"/>
              </a:ext>
            </a:extLst>
          </p:cNvPr>
          <p:cNvSpPr txBox="1"/>
          <p:nvPr/>
        </p:nvSpPr>
        <p:spPr>
          <a:xfrm>
            <a:off x="999066" y="1791677"/>
            <a:ext cx="1411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H" dirty="0"/>
              <a:t>Today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6C837E-12B4-C649-8467-F60F666A8FAF}"/>
              </a:ext>
            </a:extLst>
          </p:cNvPr>
          <p:cNvCxnSpPr>
            <a:stCxn id="8" idx="0"/>
            <a:endCxn id="9" idx="2"/>
          </p:cNvCxnSpPr>
          <p:nvPr/>
        </p:nvCxnSpPr>
        <p:spPr>
          <a:xfrm flipH="1" flipV="1">
            <a:off x="1704622" y="2161009"/>
            <a:ext cx="1" cy="4788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27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B75FA-3056-82AF-E030-5E93EDD93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we don't do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BB49E-1F64-81FD-3BDD-FF8A51583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Verdana"/>
              </a:rPr>
              <a:t>Looking at reads QC (</a:t>
            </a:r>
            <a:r>
              <a:rPr lang="en-GB" dirty="0" err="1">
                <a:solidFill>
                  <a:schemeClr val="bg2">
                    <a:lumMod val="76000"/>
                  </a:schemeClr>
                </a:solidFill>
                <a:latin typeface="Consolas"/>
                <a:ea typeface="Verdana"/>
              </a:rPr>
              <a:t>fastQC</a:t>
            </a:r>
            <a:r>
              <a:rPr lang="en-GB" dirty="0">
                <a:ea typeface="Verdana"/>
              </a:rPr>
              <a:t>, </a:t>
            </a:r>
            <a:r>
              <a:rPr lang="en-GB" dirty="0" err="1">
                <a:solidFill>
                  <a:schemeClr val="bg2">
                    <a:lumMod val="76000"/>
                  </a:schemeClr>
                </a:solidFill>
                <a:latin typeface="Consolas"/>
                <a:ea typeface="Verdana"/>
              </a:rPr>
              <a:t>multiQC</a:t>
            </a:r>
            <a:r>
              <a:rPr lang="en-GB" dirty="0">
                <a:ea typeface="Verdana"/>
              </a:rPr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ea typeface="+mn-lt"/>
                <a:cs typeface="+mn-lt"/>
                <a:hlinkClick r:id="rId2"/>
              </a:rPr>
              <a:t>https://sequencing.qcfail.com/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ea typeface="+mn-lt"/>
                <a:cs typeface="+mn-lt"/>
                <a:hlinkClick r:id="rId3"/>
              </a:rPr>
              <a:t>SIB NGS intro course: Quality Control</a:t>
            </a:r>
            <a:endParaRPr lang="en-GB">
              <a:ea typeface="Verdan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ea typeface="+mn-lt"/>
                <a:cs typeface="+mn-lt"/>
                <a:hlinkClick r:id="rId4"/>
              </a:rPr>
              <a:t>SIB bulk RNAseq course: Quality Control</a:t>
            </a:r>
            <a:endParaRPr lang="en-GB">
              <a:ea typeface="Verdana"/>
            </a:endParaRPr>
          </a:p>
          <a:p>
            <a:r>
              <a:rPr lang="en-GB" dirty="0">
                <a:ea typeface="Verdana"/>
              </a:rPr>
              <a:t>Removing adapter sequences, trimming (</a:t>
            </a:r>
            <a:r>
              <a:rPr lang="en-GB" dirty="0" err="1">
                <a:solidFill>
                  <a:schemeClr val="bg2">
                    <a:lumMod val="76000"/>
                  </a:schemeClr>
                </a:solidFill>
                <a:latin typeface="Consolas"/>
                <a:ea typeface="Verdana"/>
              </a:rPr>
              <a:t>cutadapt</a:t>
            </a:r>
            <a:r>
              <a:rPr lang="en-GB" dirty="0">
                <a:ea typeface="Verdana"/>
              </a:rPr>
              <a:t>, </a:t>
            </a:r>
            <a:r>
              <a:rPr lang="en-GB" dirty="0" err="1">
                <a:solidFill>
                  <a:schemeClr val="bg2">
                    <a:lumMod val="76000"/>
                  </a:schemeClr>
                </a:solidFill>
                <a:latin typeface="Consolas"/>
                <a:ea typeface="Verdana"/>
              </a:rPr>
              <a:t>trimmomatic</a:t>
            </a:r>
            <a:r>
              <a:rPr lang="en-GB" dirty="0">
                <a:ea typeface="Verdana"/>
              </a:rPr>
              <a:t>, </a:t>
            </a:r>
            <a:r>
              <a:rPr lang="en-GB" dirty="0" err="1">
                <a:solidFill>
                  <a:schemeClr val="bg2">
                    <a:lumMod val="76000"/>
                  </a:schemeClr>
                </a:solidFill>
                <a:latin typeface="Consolas"/>
                <a:ea typeface="Verdana"/>
              </a:rPr>
              <a:t>fastp</a:t>
            </a:r>
            <a:r>
              <a:rPr lang="en-GB" dirty="0">
                <a:solidFill>
                  <a:schemeClr val="bg2">
                    <a:lumMod val="76000"/>
                  </a:schemeClr>
                </a:solidFill>
                <a:latin typeface="Consolas"/>
                <a:ea typeface="Verdana"/>
              </a:rPr>
              <a:t> </a:t>
            </a:r>
            <a:r>
              <a:rPr lang="en-GB" dirty="0">
                <a:solidFill>
                  <a:srgbClr val="000000"/>
                </a:solidFill>
                <a:latin typeface="Verdana"/>
                <a:ea typeface="Verdana"/>
              </a:rPr>
              <a:t>,...)</a:t>
            </a:r>
            <a:endParaRPr lang="en-GB" dirty="0">
              <a:ea typeface="Verdan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ea typeface="+mn-lt"/>
                <a:cs typeface="+mn-lt"/>
                <a:hlinkClick r:id="rId5"/>
              </a:rPr>
              <a:t>SIB NGS intro course: trimming</a:t>
            </a:r>
            <a:endParaRPr lang="en-GB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ea typeface="+mn-lt"/>
                <a:cs typeface="+mn-lt"/>
                <a:hlinkClick r:id="rId6"/>
              </a:rPr>
              <a:t>SIB bulk RNAseq course: trimming</a:t>
            </a:r>
            <a:endParaRPr lang="en-GB">
              <a:ea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9CE7B-C3D3-8B17-A265-AB6AC011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019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C538E-E1A4-FE41-ADFF-B5674FBE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21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0D86DF-9799-5D46-A118-FBBBF3557076}"/>
              </a:ext>
            </a:extLst>
          </p:cNvPr>
          <p:cNvSpPr/>
          <p:nvPr/>
        </p:nvSpPr>
        <p:spPr>
          <a:xfrm>
            <a:off x="2753139" y="5277678"/>
            <a:ext cx="5158409" cy="1490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D665FE-3EFA-B44A-AC8F-B902E8B951B6}"/>
              </a:ext>
            </a:extLst>
          </p:cNvPr>
          <p:cNvCxnSpPr/>
          <p:nvPr/>
        </p:nvCxnSpPr>
        <p:spPr>
          <a:xfrm>
            <a:off x="3011557" y="5019261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E6569E-A8DB-E144-97A3-6FA3E7E5355B}"/>
              </a:ext>
            </a:extLst>
          </p:cNvPr>
          <p:cNvCxnSpPr/>
          <p:nvPr/>
        </p:nvCxnSpPr>
        <p:spPr>
          <a:xfrm>
            <a:off x="4358309" y="5025887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4D4993-2102-7C4F-9F1D-6FCDF315D86F}"/>
              </a:ext>
            </a:extLst>
          </p:cNvPr>
          <p:cNvCxnSpPr/>
          <p:nvPr/>
        </p:nvCxnSpPr>
        <p:spPr>
          <a:xfrm>
            <a:off x="5463209" y="5025887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DAEC66-37D6-BE4C-AFD4-C9D11F888DCA}"/>
              </a:ext>
            </a:extLst>
          </p:cNvPr>
          <p:cNvCxnSpPr/>
          <p:nvPr/>
        </p:nvCxnSpPr>
        <p:spPr>
          <a:xfrm>
            <a:off x="6208643" y="4870174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455FDA-8E8E-7A41-8286-4DEDD37B6342}"/>
              </a:ext>
            </a:extLst>
          </p:cNvPr>
          <p:cNvCxnSpPr/>
          <p:nvPr/>
        </p:nvCxnSpPr>
        <p:spPr>
          <a:xfrm>
            <a:off x="4795631" y="4860235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1DF116-B2B9-014E-BCC8-CCFE5E5AA952}"/>
              </a:ext>
            </a:extLst>
          </p:cNvPr>
          <p:cNvCxnSpPr/>
          <p:nvPr/>
        </p:nvCxnSpPr>
        <p:spPr>
          <a:xfrm>
            <a:off x="5232953" y="4694583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1D03BD-2A54-4A49-B234-E89CE837BAAB}"/>
              </a:ext>
            </a:extLst>
          </p:cNvPr>
          <p:cNvCxnSpPr/>
          <p:nvPr/>
        </p:nvCxnSpPr>
        <p:spPr>
          <a:xfrm>
            <a:off x="3682449" y="4870174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2ACE898-22CA-D344-A2AB-EB3293A15B43}"/>
              </a:ext>
            </a:extLst>
          </p:cNvPr>
          <p:cNvSpPr/>
          <p:nvPr/>
        </p:nvSpPr>
        <p:spPr>
          <a:xfrm>
            <a:off x="1007116" y="2159623"/>
            <a:ext cx="1525656" cy="17791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E85F3E-3003-FD4F-85F6-A66335A85770}"/>
              </a:ext>
            </a:extLst>
          </p:cNvPr>
          <p:cNvCxnSpPr/>
          <p:nvPr/>
        </p:nvCxnSpPr>
        <p:spPr>
          <a:xfrm>
            <a:off x="1282927" y="2459556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4430EF-3956-E342-B78D-591626B84C62}"/>
              </a:ext>
            </a:extLst>
          </p:cNvPr>
          <p:cNvCxnSpPr/>
          <p:nvPr/>
        </p:nvCxnSpPr>
        <p:spPr>
          <a:xfrm>
            <a:off x="1282927" y="2661651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8AF56D-A729-4D49-BD9D-69A74762F67D}"/>
              </a:ext>
            </a:extLst>
          </p:cNvPr>
          <p:cNvCxnSpPr/>
          <p:nvPr/>
        </p:nvCxnSpPr>
        <p:spPr>
          <a:xfrm>
            <a:off x="1282927" y="2863746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E7CCC53-AD66-2A49-BCAC-958F3198B469}"/>
              </a:ext>
            </a:extLst>
          </p:cNvPr>
          <p:cNvCxnSpPr/>
          <p:nvPr/>
        </p:nvCxnSpPr>
        <p:spPr>
          <a:xfrm>
            <a:off x="1282927" y="3065841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71EB05-D927-4249-AD2E-994111B84475}"/>
              </a:ext>
            </a:extLst>
          </p:cNvPr>
          <p:cNvCxnSpPr/>
          <p:nvPr/>
        </p:nvCxnSpPr>
        <p:spPr>
          <a:xfrm>
            <a:off x="1282927" y="3267936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62D3A6-33A7-9947-8A1A-FEEE1AEF7323}"/>
              </a:ext>
            </a:extLst>
          </p:cNvPr>
          <p:cNvCxnSpPr/>
          <p:nvPr/>
        </p:nvCxnSpPr>
        <p:spPr>
          <a:xfrm>
            <a:off x="1282927" y="3470031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2ED684C-5652-E144-9D6C-5ED2C95D032A}"/>
              </a:ext>
            </a:extLst>
          </p:cNvPr>
          <p:cNvCxnSpPr/>
          <p:nvPr/>
        </p:nvCxnSpPr>
        <p:spPr>
          <a:xfrm>
            <a:off x="1282927" y="3672126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Bent Arrow 26">
            <a:extLst>
              <a:ext uri="{FF2B5EF4-FFF2-40B4-BE49-F238E27FC236}">
                <a16:creationId xmlns:a16="http://schemas.microsoft.com/office/drawing/2014/main" id="{47569F1D-A2AC-AE43-B21D-5C539A0A7F98}"/>
              </a:ext>
            </a:extLst>
          </p:cNvPr>
          <p:cNvSpPr/>
          <p:nvPr/>
        </p:nvSpPr>
        <p:spPr>
          <a:xfrm rot="5400000">
            <a:off x="3164783" y="2301410"/>
            <a:ext cx="1641615" cy="2362099"/>
          </a:xfrm>
          <a:prstGeom prst="ben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8CC0DA-90B7-DC45-9CD6-64B228F591CF}"/>
              </a:ext>
            </a:extLst>
          </p:cNvPr>
          <p:cNvSpPr txBox="1"/>
          <p:nvPr/>
        </p:nvSpPr>
        <p:spPr>
          <a:xfrm>
            <a:off x="2809512" y="2619806"/>
            <a:ext cx="1522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+mj-lt"/>
              </a:rPr>
              <a:t>aligner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49DF84-05CB-4C4C-9704-CC11AF5FFD9F}"/>
              </a:ext>
            </a:extLst>
          </p:cNvPr>
          <p:cNvSpPr txBox="1"/>
          <p:nvPr/>
        </p:nvSpPr>
        <p:spPr>
          <a:xfrm>
            <a:off x="1007116" y="1683550"/>
            <a:ext cx="1172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+mj-lt"/>
              </a:rPr>
              <a:t>fastq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699EF8-8813-F048-97BE-277EA7E2C32A}"/>
              </a:ext>
            </a:extLst>
          </p:cNvPr>
          <p:cNvSpPr txBox="1"/>
          <p:nvPr/>
        </p:nvSpPr>
        <p:spPr>
          <a:xfrm>
            <a:off x="1580322" y="5121388"/>
            <a:ext cx="1172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+mj-lt"/>
              </a:rPr>
              <a:t>fasta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2CC452-4067-6341-BEFD-5D4D6BCB967B}"/>
              </a:ext>
            </a:extLst>
          </p:cNvPr>
          <p:cNvSpPr txBox="1"/>
          <p:nvPr/>
        </p:nvSpPr>
        <p:spPr>
          <a:xfrm>
            <a:off x="2248729" y="4613558"/>
            <a:ext cx="1172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+mj-lt"/>
              </a:rPr>
              <a:t>sam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9A4DA8E-6772-0342-946A-68BCD2705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CH" dirty="0"/>
              <a:t>Read alignment (phred)</a:t>
            </a:r>
          </a:p>
        </p:txBody>
      </p:sp>
    </p:spTree>
    <p:extLst>
      <p:ext uri="{BB962C8B-B14F-4D97-AF65-F5344CB8AC3E}">
        <p14:creationId xmlns:p14="http://schemas.microsoft.com/office/powerpoint/2010/main" val="185062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7" grpId="0" animBg="1"/>
      <p:bldP spid="28" grpId="0"/>
      <p:bldP spid="30" grpId="0"/>
      <p:bldP spid="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218BD-7AB9-5F48-AF1F-7760651C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22</a:t>
            </a:fld>
            <a:endParaRPr lang="en-GB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6DCE10E3-2BDF-DB4B-A7F4-146EE90F51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3"/>
          <a:stretch/>
        </p:blipFill>
        <p:spPr>
          <a:xfrm>
            <a:off x="0" y="-1"/>
            <a:ext cx="9144000" cy="695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224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B709-5907-8444-9C8A-4D41B3744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91940-9ABC-7245-B645-D9C431C6A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04821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H" dirty="0"/>
              <a:t>Basic alignment:</a:t>
            </a:r>
          </a:p>
          <a:p>
            <a:pPr lvl="1"/>
            <a:r>
              <a:rPr lang="en-CH" dirty="0">
                <a:latin typeface="+mj-lt"/>
              </a:rPr>
              <a:t>bowtie2</a:t>
            </a:r>
          </a:p>
          <a:p>
            <a:pPr lvl="1"/>
            <a:r>
              <a:rPr lang="en-CH" dirty="0">
                <a:latin typeface="+mj-lt"/>
              </a:rPr>
              <a:t>bwa-mem</a:t>
            </a:r>
          </a:p>
          <a:p>
            <a:pPr lvl="1"/>
            <a:r>
              <a:rPr lang="en-CH" dirty="0" err="1">
                <a:latin typeface="+mj-lt"/>
              </a:rPr>
              <a:t>dragen</a:t>
            </a:r>
            <a:endParaRPr lang="en-CH" err="1">
              <a:latin typeface="+mj-lt"/>
            </a:endParaRPr>
          </a:p>
          <a:p>
            <a:r>
              <a:rPr lang="en-CH" dirty="0"/>
              <a:t>Long reads:</a:t>
            </a:r>
          </a:p>
          <a:p>
            <a:pPr lvl="1"/>
            <a:r>
              <a:rPr lang="en-CH">
                <a:latin typeface="+mj-lt"/>
              </a:rPr>
              <a:t>minimap2</a:t>
            </a:r>
          </a:p>
          <a:p>
            <a:pPr lvl="1"/>
            <a:r>
              <a:rPr lang="en-US" dirty="0">
                <a:ea typeface="+mn-lt"/>
                <a:cs typeface="+mn-lt"/>
                <a:hlinkClick r:id="rId2"/>
              </a:rPr>
              <a:t>SIB NGS long reads course</a:t>
            </a:r>
            <a:endParaRPr lang="en-US">
              <a:latin typeface="Verdana"/>
              <a:ea typeface="Verdana"/>
            </a:endParaRPr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C33AE-71F6-3D4F-A202-FBF9921B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02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54B55807-AA12-364B-9EE9-3330BE31FF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703766" y="3383181"/>
            <a:ext cx="3440234" cy="34402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A28083-A25F-7340-B609-FA097B9290C1}"/>
              </a:ext>
            </a:extLst>
          </p:cNvPr>
          <p:cNvSpPr/>
          <p:nvPr/>
        </p:nvSpPr>
        <p:spPr>
          <a:xfrm>
            <a:off x="986118" y="1810871"/>
            <a:ext cx="7529232" cy="12909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1263C-DE2B-0648-A039-9C1A607F7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Mapping quality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202C629-0ED9-A043-8034-3A60311175BB}"/>
              </a:ext>
            </a:extLst>
          </p:cNvPr>
          <p:cNvSpPr/>
          <p:nvPr/>
        </p:nvSpPr>
        <p:spPr>
          <a:xfrm>
            <a:off x="1125653" y="2779146"/>
            <a:ext cx="1475141" cy="1319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106F1A-EDC7-1141-A16E-A830C2BB1E20}"/>
              </a:ext>
            </a:extLst>
          </p:cNvPr>
          <p:cNvSpPr/>
          <p:nvPr/>
        </p:nvSpPr>
        <p:spPr>
          <a:xfrm>
            <a:off x="3568764" y="2779409"/>
            <a:ext cx="1872666" cy="1317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978325D-289C-0448-9907-DBC740335506}"/>
              </a:ext>
            </a:extLst>
          </p:cNvPr>
          <p:cNvSpPr/>
          <p:nvPr/>
        </p:nvSpPr>
        <p:spPr>
          <a:xfrm>
            <a:off x="6409400" y="2779160"/>
            <a:ext cx="1862117" cy="131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1FD1EEC-7686-E04E-A7C4-9F26CAAD0DE6}"/>
              </a:ext>
            </a:extLst>
          </p:cNvPr>
          <p:cNvSpPr/>
          <p:nvPr/>
        </p:nvSpPr>
        <p:spPr>
          <a:xfrm>
            <a:off x="2590247" y="2779144"/>
            <a:ext cx="978518" cy="1319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FAC1D6D-D0C5-384F-B43D-BEEF343E016F}"/>
              </a:ext>
            </a:extLst>
          </p:cNvPr>
          <p:cNvSpPr/>
          <p:nvPr/>
        </p:nvSpPr>
        <p:spPr>
          <a:xfrm>
            <a:off x="5430882" y="2779144"/>
            <a:ext cx="978518" cy="1319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8ABDC32-1745-6D41-BD25-631AC2ABA879}"/>
              </a:ext>
            </a:extLst>
          </p:cNvPr>
          <p:cNvSpPr/>
          <p:nvPr/>
        </p:nvSpPr>
        <p:spPr>
          <a:xfrm>
            <a:off x="5969354" y="2321037"/>
            <a:ext cx="440046" cy="1319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DFFA000-9D07-F242-99C7-704022F64CEC}"/>
              </a:ext>
            </a:extLst>
          </p:cNvPr>
          <p:cNvSpPr/>
          <p:nvPr/>
        </p:nvSpPr>
        <p:spPr>
          <a:xfrm>
            <a:off x="6409400" y="2321039"/>
            <a:ext cx="294472" cy="1319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D174111-8B76-E849-9A38-4E561AB28A27}"/>
              </a:ext>
            </a:extLst>
          </p:cNvPr>
          <p:cNvSpPr/>
          <p:nvPr/>
        </p:nvSpPr>
        <p:spPr>
          <a:xfrm>
            <a:off x="2704064" y="2345014"/>
            <a:ext cx="652457" cy="12763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F5DA458-6A12-C84B-9B69-333F017E0562}"/>
              </a:ext>
            </a:extLst>
          </p:cNvPr>
          <p:cNvSpPr/>
          <p:nvPr/>
        </p:nvSpPr>
        <p:spPr>
          <a:xfrm>
            <a:off x="5470210" y="2542980"/>
            <a:ext cx="652457" cy="12763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5373384-E80B-BB45-8CCF-F738E43D83F3}"/>
              </a:ext>
            </a:extLst>
          </p:cNvPr>
          <p:cNvSpPr/>
          <p:nvPr/>
        </p:nvSpPr>
        <p:spPr>
          <a:xfrm>
            <a:off x="3136498" y="2538636"/>
            <a:ext cx="440046" cy="1319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D325A6F-77D7-C240-9FFC-571753CEB64F}"/>
              </a:ext>
            </a:extLst>
          </p:cNvPr>
          <p:cNvSpPr/>
          <p:nvPr/>
        </p:nvSpPr>
        <p:spPr>
          <a:xfrm>
            <a:off x="3576544" y="2538638"/>
            <a:ext cx="294472" cy="1319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A8953E3-5C14-474B-A4B1-3284779F773A}"/>
              </a:ext>
            </a:extLst>
          </p:cNvPr>
          <p:cNvSpPr/>
          <p:nvPr/>
        </p:nvSpPr>
        <p:spPr>
          <a:xfrm>
            <a:off x="5593912" y="2089952"/>
            <a:ext cx="652457" cy="12763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325516D-B3D7-3340-A889-1D061F5C6079}"/>
              </a:ext>
            </a:extLst>
          </p:cNvPr>
          <p:cNvSpPr/>
          <p:nvPr/>
        </p:nvSpPr>
        <p:spPr>
          <a:xfrm>
            <a:off x="2590247" y="2092998"/>
            <a:ext cx="440046" cy="1319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97E577E-CA09-EC4A-9CA2-E53C30E64ABC}"/>
              </a:ext>
            </a:extLst>
          </p:cNvPr>
          <p:cNvSpPr/>
          <p:nvPr/>
        </p:nvSpPr>
        <p:spPr>
          <a:xfrm>
            <a:off x="2295775" y="2089952"/>
            <a:ext cx="294472" cy="1380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046D471-67D6-8B4E-8BB3-798CD23B9BB7}"/>
                  </a:ext>
                </a:extLst>
              </p:cNvPr>
              <p:cNvSpPr/>
              <p:nvPr/>
            </p:nvSpPr>
            <p:spPr>
              <a:xfrm>
                <a:off x="784218" y="3470903"/>
                <a:ext cx="5569091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𝑀𝐴𝑃𝑄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𝑚𝑎𝑝𝑝𝑖𝑛𝑔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𝑝𝑜𝑠𝑖𝑡𝑖𝑜𝑛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𝑤𝑟𝑜𝑛𝑔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−10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(0.01)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=20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−10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>
                              <a:latin typeface="Cambria Math" panose="02040503050406030204" pitchFamily="18" charset="0"/>
                            </a:rPr>
                            <m:t>(0.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046D471-67D6-8B4E-8BB3-798CD23B9B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218" y="3470903"/>
                <a:ext cx="5569091" cy="1200329"/>
              </a:xfrm>
              <a:prstGeom prst="rect">
                <a:avLst/>
              </a:prstGeom>
              <a:blipFill>
                <a:blip r:embed="rId4"/>
                <a:stretch>
                  <a:fillRect b="-421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181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0A23-4390-C84E-8FA5-8FFA7DB9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 8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E1AAE-EDAA-3247-A6ED-5843AB898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25</a:t>
            </a:fld>
            <a:endParaRPr lang="en-GB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8BA9F9A-C031-D143-A0D8-BD6B86733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01419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sam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 err="1"/>
              <a:t>sequence</a:t>
            </a:r>
            <a:r>
              <a:rPr lang="nl-NL" dirty="0"/>
              <a:t> </a:t>
            </a:r>
            <a:r>
              <a:rPr lang="nl-NL" dirty="0" err="1"/>
              <a:t>alignment</a:t>
            </a:r>
            <a:r>
              <a:rPr lang="nl-NL" dirty="0"/>
              <a:t> format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9A604E-1982-964E-BD65-102C9B5DA8D0}"/>
              </a:ext>
            </a:extLst>
          </p:cNvPr>
          <p:cNvSpPr/>
          <p:nvPr/>
        </p:nvSpPr>
        <p:spPr>
          <a:xfrm>
            <a:off x="2753139" y="5277678"/>
            <a:ext cx="5158409" cy="1490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F485ED-FBB8-E74F-AC69-B823828342CA}"/>
              </a:ext>
            </a:extLst>
          </p:cNvPr>
          <p:cNvCxnSpPr/>
          <p:nvPr/>
        </p:nvCxnSpPr>
        <p:spPr>
          <a:xfrm>
            <a:off x="3011557" y="5019261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54E6F6-1D29-294B-A55D-D5C36D6BADEB}"/>
              </a:ext>
            </a:extLst>
          </p:cNvPr>
          <p:cNvCxnSpPr/>
          <p:nvPr/>
        </p:nvCxnSpPr>
        <p:spPr>
          <a:xfrm>
            <a:off x="4358309" y="5025887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82618-1796-1749-A6CC-3832ECDB7FE7}"/>
              </a:ext>
            </a:extLst>
          </p:cNvPr>
          <p:cNvCxnSpPr/>
          <p:nvPr/>
        </p:nvCxnSpPr>
        <p:spPr>
          <a:xfrm>
            <a:off x="5463209" y="5025887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96EE39-4AAF-7F45-BD2F-8B1407FC4024}"/>
              </a:ext>
            </a:extLst>
          </p:cNvPr>
          <p:cNvCxnSpPr/>
          <p:nvPr/>
        </p:nvCxnSpPr>
        <p:spPr>
          <a:xfrm>
            <a:off x="6208643" y="4870174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831D77-7507-514F-91E4-0A94702CCFD2}"/>
              </a:ext>
            </a:extLst>
          </p:cNvPr>
          <p:cNvCxnSpPr/>
          <p:nvPr/>
        </p:nvCxnSpPr>
        <p:spPr>
          <a:xfrm>
            <a:off x="4795631" y="4860235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419257-3DA7-0341-8739-60BA4D7CE7E2}"/>
              </a:ext>
            </a:extLst>
          </p:cNvPr>
          <p:cNvCxnSpPr/>
          <p:nvPr/>
        </p:nvCxnSpPr>
        <p:spPr>
          <a:xfrm>
            <a:off x="5232953" y="4694583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406910-A9CE-0649-A10E-BBCC970A7EFE}"/>
              </a:ext>
            </a:extLst>
          </p:cNvPr>
          <p:cNvCxnSpPr/>
          <p:nvPr/>
        </p:nvCxnSpPr>
        <p:spPr>
          <a:xfrm>
            <a:off x="3682449" y="4870174"/>
            <a:ext cx="97403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9E05AFA-D8BB-EC43-817C-33FB414DDDF0}"/>
              </a:ext>
            </a:extLst>
          </p:cNvPr>
          <p:cNvSpPr txBox="1"/>
          <p:nvPr/>
        </p:nvSpPr>
        <p:spPr>
          <a:xfrm>
            <a:off x="1580322" y="5121388"/>
            <a:ext cx="1172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+mj-lt"/>
              </a:rPr>
              <a:t>fasta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ED715-C379-E34F-9CCD-D571F46B770C}"/>
              </a:ext>
            </a:extLst>
          </p:cNvPr>
          <p:cNvSpPr txBox="1"/>
          <p:nvPr/>
        </p:nvSpPr>
        <p:spPr>
          <a:xfrm>
            <a:off x="2248729" y="4613558"/>
            <a:ext cx="1172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+mj-lt"/>
              </a:rPr>
              <a:t>sam</a:t>
            </a:r>
          </a:p>
        </p:txBody>
      </p:sp>
    </p:spTree>
    <p:extLst>
      <p:ext uri="{BB962C8B-B14F-4D97-AF65-F5344CB8AC3E}">
        <p14:creationId xmlns:p14="http://schemas.microsoft.com/office/powerpoint/2010/main" val="4255445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FB12-77FB-E040-9310-1ACE99E6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sam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F8F39-0C85-F045-8536-657C88FDD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723" y="1825625"/>
            <a:ext cx="8855764" cy="4351338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800" dirty="0">
                <a:latin typeface="+mj-lt"/>
              </a:rPr>
              <a:t>@HD     VN:1.0  </a:t>
            </a:r>
            <a:r>
              <a:rPr lang="en-GB" sz="1800" dirty="0" err="1">
                <a:latin typeface="+mj-lt"/>
              </a:rPr>
              <a:t>SO:coordinate</a:t>
            </a:r>
            <a:endParaRPr lang="en-GB" sz="1800" dirty="0">
              <a:latin typeface="+mj-lt"/>
            </a:endParaRPr>
          </a:p>
          <a:p>
            <a:pPr marL="0" indent="0">
              <a:buNone/>
            </a:pPr>
            <a:r>
              <a:rPr lang="en-GB" sz="1800" dirty="0">
                <a:latin typeface="+mj-lt"/>
              </a:rPr>
              <a:t>@SQ     SN:U00096.3     LN:4641652</a:t>
            </a:r>
          </a:p>
          <a:p>
            <a:pPr marL="0" indent="0">
              <a:buNone/>
            </a:pPr>
            <a:r>
              <a:rPr lang="en-GB" sz="1800" dirty="0">
                <a:latin typeface="+mj-lt"/>
              </a:rPr>
              <a:t>@PG     ID:bowtie2      PN:bowtie2      VN:2.4.1        CL: bowtie2-align-s --wrapper basic-0 -x </a:t>
            </a:r>
            <a:r>
              <a:rPr lang="en-GB" sz="1800" dirty="0" err="1">
                <a:latin typeface="+mj-lt"/>
              </a:rPr>
              <a:t>ref.fasta</a:t>
            </a:r>
            <a:r>
              <a:rPr lang="en-GB" sz="1800" dirty="0">
                <a:latin typeface="+mj-lt"/>
              </a:rPr>
              <a:t> -1 reads_1.fastq -2 reads_2.fastq"</a:t>
            </a:r>
            <a:endParaRPr lang="en-CH" sz="18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0722A-19D2-C341-AB0C-486E8FE5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07719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98620-386D-6143-955D-D9B7D5428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28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1874A06-D213-BE4D-AC4E-3144B56E38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4946230"/>
              </p:ext>
            </p:extLst>
          </p:nvPr>
        </p:nvGraphicFramePr>
        <p:xfrm>
          <a:off x="357809" y="564833"/>
          <a:ext cx="8428382" cy="5974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957260">
                  <a:extLst>
                    <a:ext uri="{9D8B030D-6E8A-4147-A177-3AD203B41FA5}">
                      <a16:colId xmlns:a16="http://schemas.microsoft.com/office/drawing/2014/main" val="798964489"/>
                    </a:ext>
                  </a:extLst>
                </a:gridCol>
                <a:gridCol w="3471122">
                  <a:extLst>
                    <a:ext uri="{9D8B030D-6E8A-4147-A177-3AD203B41FA5}">
                      <a16:colId xmlns:a16="http://schemas.microsoft.com/office/drawing/2014/main" val="1014142570"/>
                    </a:ext>
                  </a:extLst>
                </a:gridCol>
              </a:tblGrid>
              <a:tr h="376728"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SAM column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example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07634796"/>
                  </a:ext>
                </a:extLst>
              </a:tr>
              <a:tr h="376728"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read name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u="none" strike="noStrike" dirty="0">
                          <a:effectLst/>
                          <a:latin typeface="+mj-lt"/>
                        </a:rPr>
                        <a:t>SRR519926.5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336690068"/>
                  </a:ext>
                </a:extLst>
              </a:tr>
              <a:tr h="376728">
                <a:tc>
                  <a:txBody>
                    <a:bodyPr/>
                    <a:lstStyle/>
                    <a:p>
                      <a:pPr algn="l" fontAlgn="b"/>
                      <a:r>
                        <a:rPr lang="en-CH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flag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H" sz="2200" u="none" strike="noStrike">
                          <a:effectLst/>
                          <a:latin typeface="+mj-lt"/>
                        </a:rPr>
                        <a:t>89</a:t>
                      </a:r>
                      <a:endParaRPr lang="en-CH" sz="2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20056238"/>
                  </a:ext>
                </a:extLst>
              </a:tr>
              <a:tr h="376728"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reference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u="none" strike="noStrike" dirty="0">
                          <a:effectLst/>
                          <a:latin typeface="+mj-lt"/>
                        </a:rPr>
                        <a:t>chr20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9536432"/>
                  </a:ext>
                </a:extLst>
              </a:tr>
              <a:tr h="376728">
                <a:tc>
                  <a:txBody>
                    <a:bodyPr/>
                    <a:lstStyle/>
                    <a:p>
                      <a:pPr algn="l" fontAlgn="b"/>
                      <a:r>
                        <a:rPr lang="en-CH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start position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H" sz="2200" u="none" strike="noStrike" dirty="0">
                          <a:effectLst/>
                          <a:latin typeface="+mj-lt"/>
                        </a:rPr>
                        <a:t>61</a:t>
                      </a:r>
                      <a:endParaRPr lang="en-CH" sz="2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085024495"/>
                  </a:ext>
                </a:extLst>
              </a:tr>
              <a:tr h="376728">
                <a:tc>
                  <a:txBody>
                    <a:bodyPr/>
                    <a:lstStyle/>
                    <a:p>
                      <a:pPr algn="l" fontAlgn="b"/>
                      <a:r>
                        <a:rPr lang="en-CH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mapping quality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H" sz="2200" u="none" strike="noStrike">
                          <a:effectLst/>
                          <a:latin typeface="+mj-lt"/>
                        </a:rPr>
                        <a:t>42</a:t>
                      </a:r>
                      <a:endParaRPr lang="en-CH" sz="2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119932901"/>
                  </a:ext>
                </a:extLst>
              </a:tr>
              <a:tr h="376728"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CIGAR string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u="none" strike="noStrike">
                          <a:effectLst/>
                          <a:latin typeface="+mj-lt"/>
                        </a:rPr>
                        <a:t>150M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627947492"/>
                  </a:ext>
                </a:extLst>
              </a:tr>
              <a:tr h="376728">
                <a:tc>
                  <a:txBody>
                    <a:bodyPr/>
                    <a:lstStyle/>
                    <a:p>
                      <a:pPr algn="l" fontAlgn="b"/>
                      <a:r>
                        <a:rPr lang="en-CH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reference name mate is mapped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H" sz="2200" u="none" strike="noStrike">
                          <a:effectLst/>
                          <a:latin typeface="+mj-lt"/>
                        </a:rPr>
                        <a:t>=</a:t>
                      </a:r>
                      <a:endParaRPr lang="en-CH" sz="2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350978621"/>
                  </a:ext>
                </a:extLst>
              </a:tr>
              <a:tr h="376728">
                <a:tc>
                  <a:txBody>
                    <a:bodyPr/>
                    <a:lstStyle/>
                    <a:p>
                      <a:pPr algn="l" fontAlgn="b"/>
                      <a:r>
                        <a:rPr lang="en-CH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start position mate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H" sz="2200" u="none" strike="noStrike" dirty="0">
                          <a:effectLst/>
                          <a:latin typeface="+mj-lt"/>
                        </a:rPr>
                        <a:t>476</a:t>
                      </a:r>
                      <a:endParaRPr lang="en-CH" sz="2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025948503"/>
                  </a:ext>
                </a:extLst>
              </a:tr>
              <a:tr h="376728">
                <a:tc>
                  <a:txBody>
                    <a:bodyPr/>
                    <a:lstStyle/>
                    <a:p>
                      <a:pPr algn="l" fontAlgn="b"/>
                      <a:r>
                        <a:rPr lang="en-CH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fragment length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H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515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070288304"/>
                  </a:ext>
                </a:extLst>
              </a:tr>
              <a:tr h="376728"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sequence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u="none" strike="noStrike" dirty="0">
                          <a:effectLst/>
                          <a:latin typeface="+mj-lt"/>
                        </a:rPr>
                        <a:t>CATCACCATTCCCAC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678485116"/>
                  </a:ext>
                </a:extLst>
              </a:tr>
              <a:tr h="376728"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 quality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u="none" strike="noStrike" dirty="0">
                          <a:effectLst/>
                          <a:latin typeface="+mj-lt"/>
                        </a:rPr>
                        <a:t>@&gt;4:4C@89+&amp;9CC@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46626941"/>
                  </a:ext>
                </a:extLst>
              </a:tr>
              <a:tr h="376728"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optional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u="none" strike="noStrike" dirty="0" err="1">
                          <a:effectLst/>
                          <a:latin typeface="+mj-lt"/>
                        </a:rPr>
                        <a:t>AS:i</a:t>
                      </a:r>
                      <a:r>
                        <a:rPr lang="en-GB" sz="2200" u="none" strike="noStrike" dirty="0">
                          <a:effectLst/>
                          <a:latin typeface="+mj-lt"/>
                        </a:rPr>
                        <a:t>:-2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065199060"/>
                  </a:ext>
                </a:extLst>
              </a:tr>
              <a:tr h="37672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u="none" strike="noStrike" dirty="0">
                          <a:effectLst/>
                          <a:latin typeface="+mj-lt"/>
                        </a:rPr>
                        <a:t>RG:Z:rg1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096277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80936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A4DE-F559-BF4A-BF96-DC561CE62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 9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6156B-476B-D149-9EFF-3410E167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29</a:t>
            </a:fld>
            <a:endParaRPr lang="en-GB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1CB1F6C-756C-A64E-8FE5-6AB7E0935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3950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61AC-DB4A-8C1B-90C2-017DF1675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Read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5F11-1FDC-5BFA-D9EE-919D2DC79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Have multiple groups of reads in a bam file</a:t>
            </a:r>
          </a:p>
          <a:p>
            <a:r>
              <a:rPr lang="en-CH" dirty="0"/>
              <a:t>Add metadata to alignments:</a:t>
            </a:r>
          </a:p>
          <a:p>
            <a:pPr lvl="1"/>
            <a:r>
              <a:rPr lang="en-CH" dirty="0"/>
              <a:t>Samples</a:t>
            </a:r>
          </a:p>
          <a:p>
            <a:pPr lvl="1"/>
            <a:r>
              <a:rPr lang="en-CH" dirty="0"/>
              <a:t>Libraries</a:t>
            </a:r>
          </a:p>
          <a:p>
            <a:pPr lvl="1"/>
            <a:r>
              <a:rPr lang="en-CH" dirty="0"/>
              <a:t>Lanes</a:t>
            </a:r>
          </a:p>
          <a:p>
            <a:pPr lvl="1"/>
            <a:r>
              <a:rPr lang="en-CH" dirty="0"/>
              <a:t>..</a:t>
            </a:r>
          </a:p>
          <a:p>
            <a:pPr lvl="1"/>
            <a:endParaRPr lang="en-CH" dirty="0"/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1287B-67DD-4E75-E5F2-DB60370D9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481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6FA69-F482-D170-3158-169A409B6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Read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45417-6794-66DC-08F2-3B4D36D09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+mj-lt"/>
              </a:rPr>
              <a:t>@RG ID:</a:t>
            </a:r>
            <a:r>
              <a:rPr lang="en-US" dirty="0">
                <a:solidFill>
                  <a:schemeClr val="accent5"/>
                </a:solidFill>
                <a:latin typeface="+mj-lt"/>
              </a:rPr>
              <a:t>rg1</a:t>
            </a:r>
            <a:r>
              <a:rPr lang="en-US" dirty="0">
                <a:latin typeface="+mj-lt"/>
              </a:rPr>
              <a:t> LB:lib1 </a:t>
            </a:r>
            <a:r>
              <a:rPr lang="en-US" dirty="0" err="1">
                <a:latin typeface="+mj-lt"/>
              </a:rPr>
              <a:t>SM:sampleA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@RG ID:</a:t>
            </a:r>
            <a:r>
              <a:rPr lang="en-US" dirty="0">
                <a:solidFill>
                  <a:schemeClr val="accent6"/>
                </a:solidFill>
                <a:latin typeface="+mj-lt"/>
              </a:rPr>
              <a:t>rg2 </a:t>
            </a:r>
            <a:r>
              <a:rPr lang="en-US" dirty="0">
                <a:latin typeface="+mj-lt"/>
              </a:rPr>
              <a:t>LB:lib2 </a:t>
            </a:r>
            <a:r>
              <a:rPr lang="en-US" dirty="0" err="1">
                <a:latin typeface="+mj-lt"/>
              </a:rPr>
              <a:t>SM:sampleA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read1	456345	chr20	RG:Z:</a:t>
            </a:r>
            <a:r>
              <a:rPr lang="en-US" dirty="0">
                <a:solidFill>
                  <a:schemeClr val="accent5"/>
                </a:solidFill>
                <a:latin typeface="+mj-lt"/>
              </a:rPr>
              <a:t>rg1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read2	456348	chr20	RG:Z:</a:t>
            </a:r>
            <a:r>
              <a:rPr lang="en-US" dirty="0">
                <a:solidFill>
                  <a:schemeClr val="accent6"/>
                </a:solidFill>
                <a:latin typeface="+mj-lt"/>
              </a:rPr>
              <a:t>rg2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read3	456357	chr20	RG:Z:</a:t>
            </a:r>
            <a:r>
              <a:rPr lang="en-US" dirty="0">
                <a:solidFill>
                  <a:schemeClr val="accent6"/>
                </a:solidFill>
                <a:latin typeface="+mj-lt"/>
              </a:rPr>
              <a:t>rg2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read4	456359	chr20	RG:Z:</a:t>
            </a:r>
            <a:r>
              <a:rPr lang="en-US" dirty="0">
                <a:solidFill>
                  <a:schemeClr val="accent5"/>
                </a:solidFill>
                <a:latin typeface="+mj-lt"/>
              </a:rPr>
              <a:t>rg1</a:t>
            </a:r>
            <a:endParaRPr lang="en-CH" dirty="0">
              <a:solidFill>
                <a:schemeClr val="accent5"/>
              </a:solidFill>
              <a:latin typeface="+mj-lt"/>
            </a:endParaRP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B9475-76AC-0FB5-9F36-E30BD37A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387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AC2FF-BD67-FF43-8508-269693984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Marking duplicates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4B780-B29E-5C41-A368-A7DEAC27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32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70BBC6-9EC6-C149-9DAD-31D72C5188F7}"/>
              </a:ext>
            </a:extLst>
          </p:cNvPr>
          <p:cNvSpPr/>
          <p:nvPr/>
        </p:nvSpPr>
        <p:spPr>
          <a:xfrm>
            <a:off x="2753139" y="5277678"/>
            <a:ext cx="5158409" cy="1490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87C943-7693-7D48-9F5E-08EE2A1ADCD8}"/>
              </a:ext>
            </a:extLst>
          </p:cNvPr>
          <p:cNvSpPr txBox="1"/>
          <p:nvPr/>
        </p:nvSpPr>
        <p:spPr>
          <a:xfrm>
            <a:off x="1580322" y="5121388"/>
            <a:ext cx="1172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+mj-lt"/>
              </a:rPr>
              <a:t>fasta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F7D1F0-CA6D-8244-BD7A-B11D2BC089D4}"/>
              </a:ext>
            </a:extLst>
          </p:cNvPr>
          <p:cNvSpPr txBox="1"/>
          <p:nvPr/>
        </p:nvSpPr>
        <p:spPr>
          <a:xfrm>
            <a:off x="1812261" y="3886427"/>
            <a:ext cx="1172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+mj-lt"/>
              </a:rPr>
              <a:t>sam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3DA2C1-B746-2B41-A233-AD68F6F69CFC}"/>
              </a:ext>
            </a:extLst>
          </p:cNvPr>
          <p:cNvSpPr/>
          <p:nvPr/>
        </p:nvSpPr>
        <p:spPr>
          <a:xfrm>
            <a:off x="3038764" y="4941455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12196D-784F-3546-AD41-BCE9578E4E09}"/>
              </a:ext>
            </a:extLst>
          </p:cNvPr>
          <p:cNvSpPr/>
          <p:nvPr/>
        </p:nvSpPr>
        <p:spPr>
          <a:xfrm>
            <a:off x="5029201" y="4941455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5CA27F-6B7D-1B4B-AC13-B25EF85C2C6B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4387273" y="4992349"/>
            <a:ext cx="64192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2B63C9E-7AC5-B548-B79B-562FF177DB79}"/>
              </a:ext>
            </a:extLst>
          </p:cNvPr>
          <p:cNvSpPr/>
          <p:nvPr/>
        </p:nvSpPr>
        <p:spPr>
          <a:xfrm>
            <a:off x="3616037" y="4640857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506BD5-7E44-BF44-84E5-C5FEB03BD992}"/>
              </a:ext>
            </a:extLst>
          </p:cNvPr>
          <p:cNvSpPr/>
          <p:nvPr/>
        </p:nvSpPr>
        <p:spPr>
          <a:xfrm>
            <a:off x="6457949" y="4640857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9B0DC0-EB53-8543-9B1C-E1163A5B90B5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>
            <a:off x="4964546" y="4691751"/>
            <a:ext cx="149340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43F6B18-3E14-894B-8B4E-8B09E734BB95}"/>
              </a:ext>
            </a:extLst>
          </p:cNvPr>
          <p:cNvSpPr/>
          <p:nvPr/>
        </p:nvSpPr>
        <p:spPr>
          <a:xfrm>
            <a:off x="2985078" y="4332521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4AC703-CBFC-5D48-AC28-0FF0E0083B3C}"/>
              </a:ext>
            </a:extLst>
          </p:cNvPr>
          <p:cNvSpPr/>
          <p:nvPr/>
        </p:nvSpPr>
        <p:spPr>
          <a:xfrm>
            <a:off x="5783695" y="4332521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E386521-FF58-9D49-AD29-65FDD2AC7F4E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>
            <a:off x="4333587" y="4383415"/>
            <a:ext cx="145010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187B984-BE43-0F41-9DF9-751BB51679DD}"/>
              </a:ext>
            </a:extLst>
          </p:cNvPr>
          <p:cNvSpPr/>
          <p:nvPr/>
        </p:nvSpPr>
        <p:spPr>
          <a:xfrm>
            <a:off x="3359150" y="4062622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3AEAA0-0A84-1B45-A3FA-97F89BB6A81E}"/>
              </a:ext>
            </a:extLst>
          </p:cNvPr>
          <p:cNvSpPr/>
          <p:nvPr/>
        </p:nvSpPr>
        <p:spPr>
          <a:xfrm>
            <a:off x="5332343" y="4062622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166049-1858-4E48-9450-1B3A826C40AF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4707659" y="4113516"/>
            <a:ext cx="6246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9EA0FCD-F773-F546-8ADD-350EF62E72DB}"/>
              </a:ext>
            </a:extLst>
          </p:cNvPr>
          <p:cNvSpPr/>
          <p:nvPr/>
        </p:nvSpPr>
        <p:spPr>
          <a:xfrm>
            <a:off x="3359150" y="3762025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F65987-0548-2242-8977-5ED4B510597B}"/>
              </a:ext>
            </a:extLst>
          </p:cNvPr>
          <p:cNvSpPr/>
          <p:nvPr/>
        </p:nvSpPr>
        <p:spPr>
          <a:xfrm>
            <a:off x="5332343" y="3762025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F89D6AA-D246-AE49-B75A-659933C9B29D}"/>
              </a:ext>
            </a:extLst>
          </p:cNvPr>
          <p:cNvCxnSpPr>
            <a:stCxn id="34" idx="3"/>
            <a:endCxn id="35" idx="1"/>
          </p:cNvCxnSpPr>
          <p:nvPr/>
        </p:nvCxnSpPr>
        <p:spPr>
          <a:xfrm>
            <a:off x="4707659" y="3812919"/>
            <a:ext cx="6246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DE9925C-CF9C-9C42-9D1E-3086BFF33EC6}"/>
              </a:ext>
            </a:extLst>
          </p:cNvPr>
          <p:cNvSpPr/>
          <p:nvPr/>
        </p:nvSpPr>
        <p:spPr>
          <a:xfrm>
            <a:off x="3359150" y="3461428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4CF4CE-EA25-FC4C-8003-B72F349710EA}"/>
              </a:ext>
            </a:extLst>
          </p:cNvPr>
          <p:cNvSpPr/>
          <p:nvPr/>
        </p:nvSpPr>
        <p:spPr>
          <a:xfrm>
            <a:off x="5332343" y="3461428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A4E7A1E-1455-A84D-AF46-01E81F023F31}"/>
              </a:ext>
            </a:extLst>
          </p:cNvPr>
          <p:cNvCxnSpPr>
            <a:stCxn id="37" idx="3"/>
            <a:endCxn id="38" idx="1"/>
          </p:cNvCxnSpPr>
          <p:nvPr/>
        </p:nvCxnSpPr>
        <p:spPr>
          <a:xfrm>
            <a:off x="4707659" y="3512322"/>
            <a:ext cx="6246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2A3545F-3642-1347-8636-0AC1285C9C7A}"/>
              </a:ext>
            </a:extLst>
          </p:cNvPr>
          <p:cNvSpPr/>
          <p:nvPr/>
        </p:nvSpPr>
        <p:spPr>
          <a:xfrm>
            <a:off x="3359150" y="3160831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B934ACE-576B-5843-A659-2BF0ACA99B9D}"/>
              </a:ext>
            </a:extLst>
          </p:cNvPr>
          <p:cNvSpPr/>
          <p:nvPr/>
        </p:nvSpPr>
        <p:spPr>
          <a:xfrm>
            <a:off x="5332343" y="3160831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C3990DB-EEB9-9F43-8126-C4C875F6FE97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4707659" y="3211725"/>
            <a:ext cx="6246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557B3FF-8CAD-894B-BACC-A3BAB6CBEAEA}"/>
              </a:ext>
            </a:extLst>
          </p:cNvPr>
          <p:cNvSpPr/>
          <p:nvPr/>
        </p:nvSpPr>
        <p:spPr>
          <a:xfrm>
            <a:off x="3223491" y="3011055"/>
            <a:ext cx="3611418" cy="1246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42DFA6-EF86-7149-A7D5-ACA09BE69D1E}"/>
              </a:ext>
            </a:extLst>
          </p:cNvPr>
          <p:cNvSpPr txBox="1"/>
          <p:nvPr/>
        </p:nvSpPr>
        <p:spPr>
          <a:xfrm>
            <a:off x="3174423" y="2614467"/>
            <a:ext cx="153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>
                <a:solidFill>
                  <a:srgbClr val="FF0000"/>
                </a:solidFill>
              </a:rPr>
              <a:t>duplicates</a:t>
            </a:r>
          </a:p>
        </p:txBody>
      </p:sp>
    </p:spTree>
    <p:extLst>
      <p:ext uri="{BB962C8B-B14F-4D97-AF65-F5344CB8AC3E}">
        <p14:creationId xmlns:p14="http://schemas.microsoft.com/office/powerpoint/2010/main" val="110280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4AB8A-6610-7CF8-A3E8-7E00B6998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Marking duplicates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09FE-9573-75BD-3778-2C252E323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‘Regular’ duplicate: originates from PCR during library prep</a:t>
            </a:r>
          </a:p>
          <a:p>
            <a:r>
              <a:rPr lang="en-CH" dirty="0"/>
              <a:t>Optical duplicate: originates from bridge amplification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404DD-DAAE-4BDD-7729-249761EED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33</a:t>
            </a:fld>
            <a:endParaRPr lang="en-GB"/>
          </a:p>
        </p:txBody>
      </p:sp>
      <p:pic>
        <p:nvPicPr>
          <p:cNvPr id="6" name="Picture 5" descr="A diagram of a dna sequence&#10;&#10;Description automatically generated">
            <a:extLst>
              <a:ext uri="{FF2B5EF4-FFF2-40B4-BE49-F238E27FC236}">
                <a16:creationId xmlns:a16="http://schemas.microsoft.com/office/drawing/2014/main" id="{C12C0A8B-253C-12A6-6044-6691C9611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40" y="3966766"/>
            <a:ext cx="4296160" cy="272018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B597514-E268-961E-1BBB-86127C45F564}"/>
              </a:ext>
            </a:extLst>
          </p:cNvPr>
          <p:cNvSpPr/>
          <p:nvPr/>
        </p:nvSpPr>
        <p:spPr>
          <a:xfrm>
            <a:off x="6598508" y="4436075"/>
            <a:ext cx="610726" cy="61072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6CC058-2E4A-DEFB-B3AD-6E554CDD2830}"/>
              </a:ext>
            </a:extLst>
          </p:cNvPr>
          <p:cNvSpPr/>
          <p:nvPr/>
        </p:nvSpPr>
        <p:spPr>
          <a:xfrm>
            <a:off x="7603106" y="4436075"/>
            <a:ext cx="610726" cy="61072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6EDC7D-4185-CBF6-3207-64AF9CB46F36}"/>
              </a:ext>
            </a:extLst>
          </p:cNvPr>
          <p:cNvSpPr/>
          <p:nvPr/>
        </p:nvSpPr>
        <p:spPr>
          <a:xfrm>
            <a:off x="7603106" y="5566237"/>
            <a:ext cx="610726" cy="61072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E2A816-1AEE-F761-845E-3837894FE0F7}"/>
              </a:ext>
            </a:extLst>
          </p:cNvPr>
          <p:cNvSpPr/>
          <p:nvPr/>
        </p:nvSpPr>
        <p:spPr>
          <a:xfrm>
            <a:off x="6598508" y="5566237"/>
            <a:ext cx="610726" cy="61072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9A2B57-4656-DAB9-F8DB-F215AE10BC49}"/>
              </a:ext>
            </a:extLst>
          </p:cNvPr>
          <p:cNvSpPr txBox="1"/>
          <p:nvPr/>
        </p:nvSpPr>
        <p:spPr>
          <a:xfrm>
            <a:off x="4819440" y="5620326"/>
            <a:ext cx="138519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H" dirty="0"/>
              <a:t>‘Regular’ duplicates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94A15B-35A0-73FB-2317-B312876C46D1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4572000" y="5566237"/>
            <a:ext cx="247440" cy="3772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4B98EFB-EB0E-6B4F-4F67-E3E3410764FE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4572000" y="5943492"/>
            <a:ext cx="2474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D44731-1E3A-A826-9F7C-D5CF5C67FAAA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4572000" y="5943492"/>
            <a:ext cx="247440" cy="3366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92251BE-6F3E-8385-62B2-D2BCC359ED88}"/>
              </a:ext>
            </a:extLst>
          </p:cNvPr>
          <p:cNvSpPr txBox="1"/>
          <p:nvPr/>
        </p:nvSpPr>
        <p:spPr>
          <a:xfrm>
            <a:off x="6698907" y="3593473"/>
            <a:ext cx="138519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H" dirty="0"/>
              <a:t>Optical duplicates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F2AE811-7387-0625-DAF1-BD0C0D057559}"/>
              </a:ext>
            </a:extLst>
          </p:cNvPr>
          <p:cNvCxnSpPr>
            <a:cxnSpLocks/>
            <a:stCxn id="24" idx="2"/>
            <a:endCxn id="7" idx="7"/>
          </p:cNvCxnSpPr>
          <p:nvPr/>
        </p:nvCxnSpPr>
        <p:spPr>
          <a:xfrm flipH="1">
            <a:off x="7119795" y="4239804"/>
            <a:ext cx="271710" cy="2857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C9DBEAF-18EC-9CD4-A564-B05330A7BAC6}"/>
              </a:ext>
            </a:extLst>
          </p:cNvPr>
          <p:cNvCxnSpPr>
            <a:cxnSpLocks/>
            <a:stCxn id="24" idx="2"/>
            <a:endCxn id="8" idx="1"/>
          </p:cNvCxnSpPr>
          <p:nvPr/>
        </p:nvCxnSpPr>
        <p:spPr>
          <a:xfrm>
            <a:off x="7391505" y="4239804"/>
            <a:ext cx="301040" cy="2857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ight Arrow 36">
            <a:extLst>
              <a:ext uri="{FF2B5EF4-FFF2-40B4-BE49-F238E27FC236}">
                <a16:creationId xmlns:a16="http://schemas.microsoft.com/office/drawing/2014/main" id="{E269E2EB-C2C5-AC6C-8279-127B4EEB5D49}"/>
              </a:ext>
            </a:extLst>
          </p:cNvPr>
          <p:cNvSpPr/>
          <p:nvPr/>
        </p:nvSpPr>
        <p:spPr>
          <a:xfrm>
            <a:off x="7119795" y="4617870"/>
            <a:ext cx="572750" cy="2471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70379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6949A-E006-B941-98E9-1A3BC3DB3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Marking duplicates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52652-0C20-024F-AAEA-50DD66753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H" dirty="0"/>
              <a:t>Variant calling: each read is an independent observation of the genome</a:t>
            </a:r>
          </a:p>
          <a:p>
            <a:r>
              <a:rPr lang="en-CH" dirty="0"/>
              <a:t>Duplicates (can) have the same molecular origin -&gt; not independent</a:t>
            </a:r>
          </a:p>
          <a:p>
            <a:r>
              <a:rPr lang="en-CH" dirty="0"/>
              <a:t>In a high-quality library, removing duplicates probably doesn’t have a big effect on variant analysis 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US" sz="1900" dirty="0" err="1"/>
              <a:t>Ebbert</a:t>
            </a:r>
            <a:r>
              <a:rPr lang="en-US" sz="1900" dirty="0"/>
              <a:t> MTW et al. (2016) </a:t>
            </a:r>
            <a:r>
              <a:rPr lang="en-US" sz="1900" dirty="0">
                <a:solidFill>
                  <a:schemeClr val="bg1">
                    <a:lumMod val="65000"/>
                  </a:schemeClr>
                </a:solidFill>
              </a:rPr>
              <a:t>Evaluating the necessity of PCR duplicate removal from next-generation sequencing data and a comparison of approaches. </a:t>
            </a:r>
            <a:r>
              <a:rPr lang="en-US" sz="1900" dirty="0"/>
              <a:t>BMC Bioinformatics. </a:t>
            </a:r>
            <a:endParaRPr lang="en-CH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45914-F80F-F542-AAD5-60B750EBF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156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78A2E-A171-E344-8A28-F62F76B3B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Unique Molecular Identifiers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C3A54-9A54-D24F-BD49-7E45891B5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UMI added before PCR reaction</a:t>
            </a:r>
          </a:p>
          <a:p>
            <a:r>
              <a:rPr lang="en-CH" dirty="0"/>
              <a:t>Detect PCR duplicates and PCR errors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006C3-1959-F44E-8F69-37E71702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35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4060FB-EFCE-3660-8F56-B76D4E226C0C}"/>
              </a:ext>
            </a:extLst>
          </p:cNvPr>
          <p:cNvSpPr/>
          <p:nvPr/>
        </p:nvSpPr>
        <p:spPr>
          <a:xfrm>
            <a:off x="2604052" y="5871588"/>
            <a:ext cx="5158409" cy="1490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C54AED-F0F0-CEF5-E114-D9CE59128F91}"/>
              </a:ext>
            </a:extLst>
          </p:cNvPr>
          <p:cNvSpPr txBox="1"/>
          <p:nvPr/>
        </p:nvSpPr>
        <p:spPr>
          <a:xfrm>
            <a:off x="1431235" y="5715298"/>
            <a:ext cx="1172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+mj-lt"/>
              </a:rPr>
              <a:t>fasta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2AB498-61D2-9B8F-54B1-A02B425A2B56}"/>
              </a:ext>
            </a:extLst>
          </p:cNvPr>
          <p:cNvSpPr txBox="1"/>
          <p:nvPr/>
        </p:nvSpPr>
        <p:spPr>
          <a:xfrm>
            <a:off x="1663174" y="4480337"/>
            <a:ext cx="1172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+mj-lt"/>
              </a:rPr>
              <a:t>sam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91F9AF-A77A-2A47-E1C2-0C28A4E4DA81}"/>
              </a:ext>
            </a:extLst>
          </p:cNvPr>
          <p:cNvSpPr/>
          <p:nvPr/>
        </p:nvSpPr>
        <p:spPr>
          <a:xfrm>
            <a:off x="2889677" y="5535365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32D02F-684B-5700-2716-FE437B6F3764}"/>
              </a:ext>
            </a:extLst>
          </p:cNvPr>
          <p:cNvSpPr/>
          <p:nvPr/>
        </p:nvSpPr>
        <p:spPr>
          <a:xfrm>
            <a:off x="4880114" y="5535365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518E85-6323-2D89-0CE2-E18180ED7152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4238186" y="5586259"/>
            <a:ext cx="64192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4C8DF1F-14F2-64A7-87AD-EA0437AC3BF7}"/>
              </a:ext>
            </a:extLst>
          </p:cNvPr>
          <p:cNvSpPr/>
          <p:nvPr/>
        </p:nvSpPr>
        <p:spPr>
          <a:xfrm>
            <a:off x="3466950" y="5234767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DF38CA-428B-B664-E770-B90A939F9162}"/>
              </a:ext>
            </a:extLst>
          </p:cNvPr>
          <p:cNvSpPr/>
          <p:nvPr/>
        </p:nvSpPr>
        <p:spPr>
          <a:xfrm>
            <a:off x="6308862" y="5234767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9F61FF-AF2E-DD79-EF2E-5D0715784091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4815459" y="5285661"/>
            <a:ext cx="149340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A13510E-9B93-FEA2-66B5-CB47C2EE8EEE}"/>
              </a:ext>
            </a:extLst>
          </p:cNvPr>
          <p:cNvSpPr/>
          <p:nvPr/>
        </p:nvSpPr>
        <p:spPr>
          <a:xfrm>
            <a:off x="2835991" y="4926431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5E8F4B-230A-4ED2-79D1-AE81E6BA3712}"/>
              </a:ext>
            </a:extLst>
          </p:cNvPr>
          <p:cNvSpPr/>
          <p:nvPr/>
        </p:nvSpPr>
        <p:spPr>
          <a:xfrm>
            <a:off x="5634608" y="4926431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BA0513-C659-F223-E99C-7B00AAE48CF7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4184500" y="4977325"/>
            <a:ext cx="145010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3D0246C-B5BA-19CA-7242-01B7EC7B2E75}"/>
              </a:ext>
            </a:extLst>
          </p:cNvPr>
          <p:cNvSpPr/>
          <p:nvPr/>
        </p:nvSpPr>
        <p:spPr>
          <a:xfrm>
            <a:off x="3210063" y="4656532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7FBB78-2F3A-7A91-0FF4-39268AC00EFA}"/>
              </a:ext>
            </a:extLst>
          </p:cNvPr>
          <p:cNvSpPr/>
          <p:nvPr/>
        </p:nvSpPr>
        <p:spPr>
          <a:xfrm>
            <a:off x="5183256" y="4656532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2C6A2F-A93E-6653-CBEB-FE27AFCD1769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4558572" y="4707426"/>
            <a:ext cx="6246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ECD7EBE-9387-4889-DCFE-4A9940F82F2D}"/>
              </a:ext>
            </a:extLst>
          </p:cNvPr>
          <p:cNvSpPr/>
          <p:nvPr/>
        </p:nvSpPr>
        <p:spPr>
          <a:xfrm>
            <a:off x="3210063" y="4355935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B29FDC-3092-069F-1D52-C7A262C43F6B}"/>
              </a:ext>
            </a:extLst>
          </p:cNvPr>
          <p:cNvSpPr/>
          <p:nvPr/>
        </p:nvSpPr>
        <p:spPr>
          <a:xfrm>
            <a:off x="5183256" y="4355935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689A347-F4F0-D74E-A9E3-23D1898CD3CD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4558572" y="4406829"/>
            <a:ext cx="6246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2555A8D-56F8-5BD0-F975-44E9E86E9BDA}"/>
              </a:ext>
            </a:extLst>
          </p:cNvPr>
          <p:cNvSpPr/>
          <p:nvPr/>
        </p:nvSpPr>
        <p:spPr>
          <a:xfrm>
            <a:off x="3210063" y="4055338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FF7D25-99F6-962D-B9ED-E18079A72347}"/>
              </a:ext>
            </a:extLst>
          </p:cNvPr>
          <p:cNvSpPr/>
          <p:nvPr/>
        </p:nvSpPr>
        <p:spPr>
          <a:xfrm>
            <a:off x="5183256" y="4055338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A29B84A-4B9D-164E-E11E-65EC9D1F36AA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4558572" y="4106232"/>
            <a:ext cx="6246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FF5FDEA-8FDF-EDE7-EEE4-561454ADB2B4}"/>
              </a:ext>
            </a:extLst>
          </p:cNvPr>
          <p:cNvSpPr/>
          <p:nvPr/>
        </p:nvSpPr>
        <p:spPr>
          <a:xfrm>
            <a:off x="3210063" y="3754741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5CD19A-614E-C81A-E344-D93B67409265}"/>
              </a:ext>
            </a:extLst>
          </p:cNvPr>
          <p:cNvSpPr/>
          <p:nvPr/>
        </p:nvSpPr>
        <p:spPr>
          <a:xfrm>
            <a:off x="5183256" y="3754741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237ABF4-8382-BB24-F423-20A712D66B42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4558572" y="3805635"/>
            <a:ext cx="6246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2ABA80A-ED41-9D58-FBA1-09E6FA152FC9}"/>
              </a:ext>
            </a:extLst>
          </p:cNvPr>
          <p:cNvSpPr/>
          <p:nvPr/>
        </p:nvSpPr>
        <p:spPr>
          <a:xfrm>
            <a:off x="3074403" y="3604966"/>
            <a:ext cx="3908713" cy="9461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3E9061-C15C-E76A-BDA1-A6FCC0F80A32}"/>
              </a:ext>
            </a:extLst>
          </p:cNvPr>
          <p:cNvSpPr txBox="1"/>
          <p:nvPr/>
        </p:nvSpPr>
        <p:spPr>
          <a:xfrm>
            <a:off x="3025336" y="3208377"/>
            <a:ext cx="153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>
                <a:solidFill>
                  <a:srgbClr val="FF0000"/>
                </a:solidFill>
              </a:rPr>
              <a:t>duplicates</a:t>
            </a:r>
          </a:p>
        </p:txBody>
      </p:sp>
      <p:pic>
        <p:nvPicPr>
          <p:cNvPr id="33" name="Graphic 32" descr="Bookmark with solid fill">
            <a:extLst>
              <a:ext uri="{FF2B5EF4-FFF2-40B4-BE49-F238E27FC236}">
                <a16:creationId xmlns:a16="http://schemas.microsoft.com/office/drawing/2014/main" id="{D4407AC2-FC26-4CE8-D81A-34CFB58966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28623" y="3680045"/>
            <a:ext cx="266131" cy="266131"/>
          </a:xfrm>
          <a:prstGeom prst="rect">
            <a:avLst/>
          </a:prstGeom>
        </p:spPr>
      </p:pic>
      <p:pic>
        <p:nvPicPr>
          <p:cNvPr id="34" name="Graphic 33" descr="Bookmark with solid fill">
            <a:extLst>
              <a:ext uri="{FF2B5EF4-FFF2-40B4-BE49-F238E27FC236}">
                <a16:creationId xmlns:a16="http://schemas.microsoft.com/office/drawing/2014/main" id="{53558618-FE73-CB25-006B-1F4F031335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28623" y="3991793"/>
            <a:ext cx="266131" cy="266131"/>
          </a:xfrm>
          <a:prstGeom prst="rect">
            <a:avLst/>
          </a:prstGeom>
        </p:spPr>
      </p:pic>
      <p:pic>
        <p:nvPicPr>
          <p:cNvPr id="35" name="Graphic 34" descr="Bookmark with solid fill">
            <a:extLst>
              <a:ext uri="{FF2B5EF4-FFF2-40B4-BE49-F238E27FC236}">
                <a16:creationId xmlns:a16="http://schemas.microsoft.com/office/drawing/2014/main" id="{EFA407C3-E191-A3C1-E064-7A5004E7FE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28623" y="4303541"/>
            <a:ext cx="266131" cy="266131"/>
          </a:xfrm>
          <a:prstGeom prst="rect">
            <a:avLst/>
          </a:prstGeom>
        </p:spPr>
      </p:pic>
      <p:pic>
        <p:nvPicPr>
          <p:cNvPr id="36" name="Graphic 35" descr="Bookmark with solid fill">
            <a:extLst>
              <a:ext uri="{FF2B5EF4-FFF2-40B4-BE49-F238E27FC236}">
                <a16:creationId xmlns:a16="http://schemas.microsoft.com/office/drawing/2014/main" id="{F94C756F-3C38-81A9-FE7D-2DF46C7E4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3664" y="4601993"/>
            <a:ext cx="266131" cy="266131"/>
          </a:xfrm>
          <a:prstGeom prst="rect">
            <a:avLst/>
          </a:prstGeom>
        </p:spPr>
      </p:pic>
      <p:pic>
        <p:nvPicPr>
          <p:cNvPr id="37" name="Graphic 36" descr="Bookmark with solid fill">
            <a:extLst>
              <a:ext uri="{FF2B5EF4-FFF2-40B4-BE49-F238E27FC236}">
                <a16:creationId xmlns:a16="http://schemas.microsoft.com/office/drawing/2014/main" id="{4F7FB9F1-A3A4-FFB6-1F73-CB63F2C8BA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9870" y="4844259"/>
            <a:ext cx="266131" cy="266131"/>
          </a:xfrm>
          <a:prstGeom prst="rect">
            <a:avLst/>
          </a:prstGeom>
        </p:spPr>
      </p:pic>
      <p:pic>
        <p:nvPicPr>
          <p:cNvPr id="38" name="Graphic 37" descr="Bookmark with solid fill">
            <a:extLst>
              <a:ext uri="{FF2B5EF4-FFF2-40B4-BE49-F238E27FC236}">
                <a16:creationId xmlns:a16="http://schemas.microsoft.com/office/drawing/2014/main" id="{0A1686DC-3EF8-D219-A63A-390AD302C9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7628" y="5179429"/>
            <a:ext cx="266131" cy="266131"/>
          </a:xfrm>
          <a:prstGeom prst="rect">
            <a:avLst/>
          </a:prstGeom>
        </p:spPr>
      </p:pic>
      <p:pic>
        <p:nvPicPr>
          <p:cNvPr id="39" name="Graphic 38" descr="Bookmark with solid fill">
            <a:extLst>
              <a:ext uri="{FF2B5EF4-FFF2-40B4-BE49-F238E27FC236}">
                <a16:creationId xmlns:a16="http://schemas.microsoft.com/office/drawing/2014/main" id="{F741D450-7A50-1E52-0DB3-8C5F5FB952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57533" y="5468623"/>
            <a:ext cx="266131" cy="26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1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2EB03-1F46-5F52-AA71-D49ACE538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0A3A1-44AE-F4FB-40D6-0D4152F6F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Unique Molecular Identifiers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E2FE3-04C5-17A6-4B09-A78ECCEBE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Verdana"/>
                <a:hlinkClick r:id="rId2"/>
              </a:rPr>
              <a:t>UmiAwareMarkDuplicatesWithMateCigar</a:t>
            </a:r>
            <a:endParaRPr lang="en-US" dirty="0" err="1"/>
          </a:p>
          <a:p>
            <a:r>
              <a:rPr lang="en-US" dirty="0">
                <a:ea typeface="Verdana"/>
                <a:hlinkClick r:id="rId3"/>
              </a:rPr>
              <a:t>UMI-tools</a:t>
            </a:r>
            <a:endParaRPr lang="en-US" dirty="0">
              <a:ea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A5F31-B4F0-02A7-B2E4-6D7D6B26A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36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DB58CB-52E5-1924-21DC-A75A45E92EBF}"/>
              </a:ext>
            </a:extLst>
          </p:cNvPr>
          <p:cNvSpPr/>
          <p:nvPr/>
        </p:nvSpPr>
        <p:spPr>
          <a:xfrm>
            <a:off x="2604052" y="5871588"/>
            <a:ext cx="5158409" cy="1490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C2621-E736-35FF-0C6C-1512F212E371}"/>
              </a:ext>
            </a:extLst>
          </p:cNvPr>
          <p:cNvSpPr txBox="1"/>
          <p:nvPr/>
        </p:nvSpPr>
        <p:spPr>
          <a:xfrm>
            <a:off x="1431235" y="5715298"/>
            <a:ext cx="1172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+mj-lt"/>
              </a:rPr>
              <a:t>fasta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49E87-61FF-FB3C-B016-F584741CDDCC}"/>
              </a:ext>
            </a:extLst>
          </p:cNvPr>
          <p:cNvSpPr txBox="1"/>
          <p:nvPr/>
        </p:nvSpPr>
        <p:spPr>
          <a:xfrm>
            <a:off x="1663174" y="4480337"/>
            <a:ext cx="1172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>
                <a:latin typeface="+mj-lt"/>
              </a:rPr>
              <a:t>sam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479C2E-205A-A4EE-CFC5-EB178AAD9BB8}"/>
              </a:ext>
            </a:extLst>
          </p:cNvPr>
          <p:cNvSpPr/>
          <p:nvPr/>
        </p:nvSpPr>
        <p:spPr>
          <a:xfrm>
            <a:off x="2889677" y="5535365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E7E46F-4ACD-8A83-422E-763BE143DB53}"/>
              </a:ext>
            </a:extLst>
          </p:cNvPr>
          <p:cNvSpPr/>
          <p:nvPr/>
        </p:nvSpPr>
        <p:spPr>
          <a:xfrm>
            <a:off x="4880114" y="5535365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B3C1C5-A1C8-B2BC-10EF-4230B45FCC01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4238186" y="5586259"/>
            <a:ext cx="64192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74DFB56-B3F3-3F81-F474-E610B66B969F}"/>
              </a:ext>
            </a:extLst>
          </p:cNvPr>
          <p:cNvSpPr/>
          <p:nvPr/>
        </p:nvSpPr>
        <p:spPr>
          <a:xfrm>
            <a:off x="3466950" y="5234767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AEECC2-E1E0-E5D6-EC6E-D86AEA135002}"/>
              </a:ext>
            </a:extLst>
          </p:cNvPr>
          <p:cNvSpPr/>
          <p:nvPr/>
        </p:nvSpPr>
        <p:spPr>
          <a:xfrm>
            <a:off x="6308862" y="5234767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71C728-ED59-5258-5F99-8252090AF8F2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4815459" y="5285661"/>
            <a:ext cx="149340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DCBDC5C-41BB-B5FA-772F-D092A9A08AB3}"/>
              </a:ext>
            </a:extLst>
          </p:cNvPr>
          <p:cNvSpPr/>
          <p:nvPr/>
        </p:nvSpPr>
        <p:spPr>
          <a:xfrm>
            <a:off x="2835991" y="4926431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5A5609-47B8-99FC-1781-433424DBA354}"/>
              </a:ext>
            </a:extLst>
          </p:cNvPr>
          <p:cNvSpPr/>
          <p:nvPr/>
        </p:nvSpPr>
        <p:spPr>
          <a:xfrm>
            <a:off x="5634608" y="4926431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08E8A7-2C48-3F45-07B5-EDAA5B3FCB4D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4184500" y="4977325"/>
            <a:ext cx="145010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A20DDD4-8C8B-0B6E-C730-60775A8579A9}"/>
              </a:ext>
            </a:extLst>
          </p:cNvPr>
          <p:cNvSpPr/>
          <p:nvPr/>
        </p:nvSpPr>
        <p:spPr>
          <a:xfrm>
            <a:off x="3210063" y="4656532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43989F-0A72-C85B-72DB-1CFE99463851}"/>
              </a:ext>
            </a:extLst>
          </p:cNvPr>
          <p:cNvSpPr/>
          <p:nvPr/>
        </p:nvSpPr>
        <p:spPr>
          <a:xfrm>
            <a:off x="5183256" y="4656532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FFCCDD-EA38-C421-4AB8-ECF2EE725077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4558572" y="4707426"/>
            <a:ext cx="6246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D73FD3E-F1DD-C7CD-0A13-CF7AD29BB3AA}"/>
              </a:ext>
            </a:extLst>
          </p:cNvPr>
          <p:cNvSpPr/>
          <p:nvPr/>
        </p:nvSpPr>
        <p:spPr>
          <a:xfrm>
            <a:off x="3210063" y="4355935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2AD46A-4078-636E-35FA-68E37975CAB9}"/>
              </a:ext>
            </a:extLst>
          </p:cNvPr>
          <p:cNvSpPr/>
          <p:nvPr/>
        </p:nvSpPr>
        <p:spPr>
          <a:xfrm>
            <a:off x="5183256" y="4355935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FB50485-E956-CF6D-C045-641A730C2B01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4558572" y="4406829"/>
            <a:ext cx="6246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0DE05C9-DE47-6D07-1398-B5E1FD1FBE60}"/>
              </a:ext>
            </a:extLst>
          </p:cNvPr>
          <p:cNvSpPr/>
          <p:nvPr/>
        </p:nvSpPr>
        <p:spPr>
          <a:xfrm>
            <a:off x="3210063" y="4055338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7E3E08-6FC7-7A5F-E76C-1DFBDA3687C2}"/>
              </a:ext>
            </a:extLst>
          </p:cNvPr>
          <p:cNvSpPr/>
          <p:nvPr/>
        </p:nvSpPr>
        <p:spPr>
          <a:xfrm>
            <a:off x="5183256" y="4055338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1B1A6B-B994-0A2D-8AF5-611D33824D98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4558572" y="4106232"/>
            <a:ext cx="6246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D87738C-620F-315D-0A08-4A4FB4B8153B}"/>
              </a:ext>
            </a:extLst>
          </p:cNvPr>
          <p:cNvSpPr/>
          <p:nvPr/>
        </p:nvSpPr>
        <p:spPr>
          <a:xfrm>
            <a:off x="3210063" y="3754741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147347-483E-F050-D71E-30F5EDB1EC61}"/>
              </a:ext>
            </a:extLst>
          </p:cNvPr>
          <p:cNvSpPr/>
          <p:nvPr/>
        </p:nvSpPr>
        <p:spPr>
          <a:xfrm>
            <a:off x="5183256" y="3754741"/>
            <a:ext cx="1348509" cy="1017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E0723CE-3CF0-756F-9F10-1597DE2C653E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4558572" y="3805635"/>
            <a:ext cx="6246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B95DBAE-CA65-1278-5A06-A5109624F30E}"/>
              </a:ext>
            </a:extLst>
          </p:cNvPr>
          <p:cNvSpPr/>
          <p:nvPr/>
        </p:nvSpPr>
        <p:spPr>
          <a:xfrm>
            <a:off x="3074403" y="3604966"/>
            <a:ext cx="3908713" cy="9461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931B1C-3EF2-667F-0473-47C599B1CF27}"/>
              </a:ext>
            </a:extLst>
          </p:cNvPr>
          <p:cNvSpPr txBox="1"/>
          <p:nvPr/>
        </p:nvSpPr>
        <p:spPr>
          <a:xfrm>
            <a:off x="3025336" y="3208377"/>
            <a:ext cx="153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>
                <a:solidFill>
                  <a:srgbClr val="FF0000"/>
                </a:solidFill>
              </a:rPr>
              <a:t>duplicates</a:t>
            </a:r>
          </a:p>
        </p:txBody>
      </p:sp>
      <p:pic>
        <p:nvPicPr>
          <p:cNvPr id="33" name="Graphic 32" descr="Bookmark with solid fill">
            <a:extLst>
              <a:ext uri="{FF2B5EF4-FFF2-40B4-BE49-F238E27FC236}">
                <a16:creationId xmlns:a16="http://schemas.microsoft.com/office/drawing/2014/main" id="{FC593B74-540F-2352-8DF1-B133DFE45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8623" y="3680045"/>
            <a:ext cx="266131" cy="266131"/>
          </a:xfrm>
          <a:prstGeom prst="rect">
            <a:avLst/>
          </a:prstGeom>
        </p:spPr>
      </p:pic>
      <p:pic>
        <p:nvPicPr>
          <p:cNvPr id="34" name="Graphic 33" descr="Bookmark with solid fill">
            <a:extLst>
              <a:ext uri="{FF2B5EF4-FFF2-40B4-BE49-F238E27FC236}">
                <a16:creationId xmlns:a16="http://schemas.microsoft.com/office/drawing/2014/main" id="{E5CCBE6F-E633-61FF-D545-94A4F7977C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8623" y="3991793"/>
            <a:ext cx="266131" cy="266131"/>
          </a:xfrm>
          <a:prstGeom prst="rect">
            <a:avLst/>
          </a:prstGeom>
        </p:spPr>
      </p:pic>
      <p:pic>
        <p:nvPicPr>
          <p:cNvPr id="35" name="Graphic 34" descr="Bookmark with solid fill">
            <a:extLst>
              <a:ext uri="{FF2B5EF4-FFF2-40B4-BE49-F238E27FC236}">
                <a16:creationId xmlns:a16="http://schemas.microsoft.com/office/drawing/2014/main" id="{A6DE6217-8C9A-5A46-791C-A5C915D9C7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8623" y="4303541"/>
            <a:ext cx="266131" cy="266131"/>
          </a:xfrm>
          <a:prstGeom prst="rect">
            <a:avLst/>
          </a:prstGeom>
        </p:spPr>
      </p:pic>
      <p:pic>
        <p:nvPicPr>
          <p:cNvPr id="36" name="Graphic 35" descr="Bookmark with solid fill">
            <a:extLst>
              <a:ext uri="{FF2B5EF4-FFF2-40B4-BE49-F238E27FC236}">
                <a16:creationId xmlns:a16="http://schemas.microsoft.com/office/drawing/2014/main" id="{A045658D-0035-18F7-9017-5B708C9999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3664" y="4601993"/>
            <a:ext cx="266131" cy="266131"/>
          </a:xfrm>
          <a:prstGeom prst="rect">
            <a:avLst/>
          </a:prstGeom>
        </p:spPr>
      </p:pic>
      <p:pic>
        <p:nvPicPr>
          <p:cNvPr id="37" name="Graphic 36" descr="Bookmark with solid fill">
            <a:extLst>
              <a:ext uri="{FF2B5EF4-FFF2-40B4-BE49-F238E27FC236}">
                <a16:creationId xmlns:a16="http://schemas.microsoft.com/office/drawing/2014/main" id="{DC8CF521-8D94-CC5A-1527-88A95F177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9870" y="4844259"/>
            <a:ext cx="266131" cy="266131"/>
          </a:xfrm>
          <a:prstGeom prst="rect">
            <a:avLst/>
          </a:prstGeom>
        </p:spPr>
      </p:pic>
      <p:pic>
        <p:nvPicPr>
          <p:cNvPr id="38" name="Graphic 37" descr="Bookmark with solid fill">
            <a:extLst>
              <a:ext uri="{FF2B5EF4-FFF2-40B4-BE49-F238E27FC236}">
                <a16:creationId xmlns:a16="http://schemas.microsoft.com/office/drawing/2014/main" id="{E086A9D9-3813-0184-6527-F4AD493398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87628" y="5179429"/>
            <a:ext cx="266131" cy="266131"/>
          </a:xfrm>
          <a:prstGeom prst="rect">
            <a:avLst/>
          </a:prstGeom>
        </p:spPr>
      </p:pic>
      <p:pic>
        <p:nvPicPr>
          <p:cNvPr id="39" name="Graphic 38" descr="Bookmark with solid fill">
            <a:extLst>
              <a:ext uri="{FF2B5EF4-FFF2-40B4-BE49-F238E27FC236}">
                <a16:creationId xmlns:a16="http://schemas.microsoft.com/office/drawing/2014/main" id="{69BE71F5-1E1E-87BA-34D6-8EBA0428B7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57533" y="5468623"/>
            <a:ext cx="266131" cy="26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4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</p:bldLst>
  </p:timing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2975</TotalTime>
  <Words>849</Words>
  <Application>Microsoft Office PowerPoint</Application>
  <PresentationFormat>On-screen Show (4:3)</PresentationFormat>
  <Paragraphs>221</Paragraphs>
  <Slides>36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Kantoorthema</vt:lpstr>
      <vt:lpstr>NGS – variant analysis  Sequencing and alignment </vt:lpstr>
      <vt:lpstr>PowerPoint Presentation</vt:lpstr>
      <vt:lpstr>Sequencing-by-synthesis</vt:lpstr>
      <vt:lpstr>Sequencing-by-synthesis</vt:lpstr>
      <vt:lpstr>Illumina libray prep</vt:lpstr>
      <vt:lpstr>Some definitions</vt:lpstr>
      <vt:lpstr>Some more definitions.. </vt:lpstr>
      <vt:lpstr>PowerPoint Presentation</vt:lpstr>
      <vt:lpstr>fastq</vt:lpstr>
      <vt:lpstr>Question 7</vt:lpstr>
      <vt:lpstr>fastq files</vt:lpstr>
      <vt:lpstr>PowerPoint Presentation</vt:lpstr>
      <vt:lpstr>PowerPoint Presentation</vt:lpstr>
      <vt:lpstr>Illumina - limitations</vt:lpstr>
      <vt:lpstr>Long reads (3rd generation)</vt:lpstr>
      <vt:lpstr>PowerPoint Presentation</vt:lpstr>
      <vt:lpstr>Long reads</vt:lpstr>
      <vt:lpstr>What to sequence?</vt:lpstr>
      <vt:lpstr>GATK</vt:lpstr>
      <vt:lpstr>What we don't do today</vt:lpstr>
      <vt:lpstr>Read alignment (phred)</vt:lpstr>
      <vt:lpstr>PowerPoint Presentation</vt:lpstr>
      <vt:lpstr>Software</vt:lpstr>
      <vt:lpstr>Mapping quality</vt:lpstr>
      <vt:lpstr>Question 8</vt:lpstr>
      <vt:lpstr>sam</vt:lpstr>
      <vt:lpstr>sam header</vt:lpstr>
      <vt:lpstr>PowerPoint Presentation</vt:lpstr>
      <vt:lpstr>Question 9</vt:lpstr>
      <vt:lpstr>Read groups</vt:lpstr>
      <vt:lpstr>Read groups</vt:lpstr>
      <vt:lpstr>Marking duplicates</vt:lpstr>
      <vt:lpstr>Marking duplicates</vt:lpstr>
      <vt:lpstr>Marking duplicates</vt:lpstr>
      <vt:lpstr>Unique Molecular Identifiers</vt:lpstr>
      <vt:lpstr>Unique Molecular Identifiers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Molecular breeding for postharvest performance in chrysanthemum</dc:title>
  <dc:creator>Geert van Geest</dc:creator>
  <cp:lastModifiedBy>Geert van Geest</cp:lastModifiedBy>
  <cp:revision>581</cp:revision>
  <dcterms:created xsi:type="dcterms:W3CDTF">2016-03-03T14:17:47Z</dcterms:created>
  <dcterms:modified xsi:type="dcterms:W3CDTF">2026-04-08T13:05:36Z</dcterms:modified>
</cp:coreProperties>
</file>