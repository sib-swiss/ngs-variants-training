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442" r:id="rId2"/>
    <p:sldId id="445" r:id="rId3"/>
    <p:sldId id="446" r:id="rId4"/>
    <p:sldId id="447" r:id="rId5"/>
    <p:sldId id="449" r:id="rId6"/>
    <p:sldId id="450" r:id="rId7"/>
    <p:sldId id="448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eert van Geest" initials="GvG" lastIdx="1" clrIdx="0">
    <p:extLst>
      <p:ext uri="{19B8F6BF-5375-455C-9EA6-DF929625EA0E}">
        <p15:presenceInfo xmlns:p15="http://schemas.microsoft.com/office/powerpoint/2012/main" userId="Geert van Gees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6E6"/>
    <a:srgbClr val="E999EB"/>
    <a:srgbClr val="DB55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1EFDC6-235C-1621-55D1-FDE5D8354FC9}" v="15" dt="2026-04-09T13:07:12.1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Geen stijl, tabel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Stijl, lich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011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00" y="3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drille Duchemin" userId="S::wandrille.duchemin@sib.swiss::596953ca-d0e7-4045-97a9-2ed7b88fab1e" providerId="AD" clId="Web-{931EFDC6-235C-1621-55D1-FDE5D8354FC9}"/>
    <pc:docChg chg="modSld">
      <pc:chgData name="Wandrille Duchemin" userId="S::wandrille.duchemin@sib.swiss::596953ca-d0e7-4045-97a9-2ed7b88fab1e" providerId="AD" clId="Web-{931EFDC6-235C-1621-55D1-FDE5D8354FC9}" dt="2026-04-09T13:07:12.105" v="6" actId="20577"/>
      <pc:docMkLst>
        <pc:docMk/>
      </pc:docMkLst>
      <pc:sldChg chg="modSp">
        <pc:chgData name="Wandrille Duchemin" userId="S::wandrille.duchemin@sib.swiss::596953ca-d0e7-4045-97a9-2ed7b88fab1e" providerId="AD" clId="Web-{931EFDC6-235C-1621-55D1-FDE5D8354FC9}" dt="2026-04-09T12:45:46.286" v="3" actId="20577"/>
        <pc:sldMkLst>
          <pc:docMk/>
          <pc:sldMk cId="324691399" sldId="446"/>
        </pc:sldMkLst>
        <pc:spChg chg="mod">
          <ac:chgData name="Wandrille Duchemin" userId="S::wandrille.duchemin@sib.swiss::596953ca-d0e7-4045-97a9-2ed7b88fab1e" providerId="AD" clId="Web-{931EFDC6-235C-1621-55D1-FDE5D8354FC9}" dt="2026-04-09T12:45:46.286" v="3" actId="20577"/>
          <ac:spMkLst>
            <pc:docMk/>
            <pc:sldMk cId="324691399" sldId="446"/>
            <ac:spMk id="6" creationId="{EC714353-5E17-8B47-A2F0-07647066053E}"/>
          </ac:spMkLst>
        </pc:spChg>
      </pc:sldChg>
      <pc:sldChg chg="modSp">
        <pc:chgData name="Wandrille Duchemin" userId="S::wandrille.duchemin@sib.swiss::596953ca-d0e7-4045-97a9-2ed7b88fab1e" providerId="AD" clId="Web-{931EFDC6-235C-1621-55D1-FDE5D8354FC9}" dt="2026-04-09T13:07:12.105" v="6" actId="20577"/>
        <pc:sldMkLst>
          <pc:docMk/>
          <pc:sldMk cId="1723258242" sldId="448"/>
        </pc:sldMkLst>
        <pc:spChg chg="mod">
          <ac:chgData name="Wandrille Duchemin" userId="S::wandrille.duchemin@sib.swiss::596953ca-d0e7-4045-97a9-2ed7b88fab1e" providerId="AD" clId="Web-{931EFDC6-235C-1621-55D1-FDE5D8354FC9}" dt="2026-04-09T13:07:12.105" v="6" actId="20577"/>
          <ac:spMkLst>
            <pc:docMk/>
            <pc:sldMk cId="1723258242" sldId="448"/>
            <ac:spMk id="3" creationId="{47094514-4438-AE42-8271-1484A91783FF}"/>
          </ac:spMkLst>
        </pc:spChg>
      </pc:sldChg>
      <pc:sldChg chg="modSp">
        <pc:chgData name="Wandrille Duchemin" userId="S::wandrille.duchemin@sib.swiss::596953ca-d0e7-4045-97a9-2ed7b88fab1e" providerId="AD" clId="Web-{931EFDC6-235C-1621-55D1-FDE5D8354FC9}" dt="2026-04-09T13:04:37.526" v="5" actId="20577"/>
        <pc:sldMkLst>
          <pc:docMk/>
          <pc:sldMk cId="315744506" sldId="450"/>
        </pc:sldMkLst>
        <pc:spChg chg="mod">
          <ac:chgData name="Wandrille Duchemin" userId="S::wandrille.duchemin@sib.swiss::596953ca-d0e7-4045-97a9-2ed7b88fab1e" providerId="AD" clId="Web-{931EFDC6-235C-1621-55D1-FDE5D8354FC9}" dt="2026-04-09T13:04:37.526" v="5" actId="20577"/>
          <ac:spMkLst>
            <pc:docMk/>
            <pc:sldMk cId="315744506" sldId="450"/>
            <ac:spMk id="13" creationId="{846829C5-09A3-0D4E-A16C-C22FB266DEE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DEC89-0886-420E-BA80-019B54138DC0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669826-3F6A-4D3F-89A3-ED6A12A088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9253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69826-3F6A-4D3F-89A3-ED6A12A0882D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3782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0746-0CDE-4074-BDE5-E623F7146983}" type="datetime1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6132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Klik om de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E43D9-9064-4F11-9875-3DC42457D86C}" type="datetime1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1726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A713F-5FE2-4DC7-A660-466F25E4EAED}" type="datetime1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3476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83AA8-1775-46AE-88D7-871ABB959436}" type="datetime1">
              <a:rPr lang="en-GB" smtClean="0"/>
              <a:t>09/04/2026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8715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81AF8-1EB4-4CCB-BAD6-D5824E8F7DDC}" type="datetime1">
              <a:rPr lang="en-GB" smtClean="0"/>
              <a:t>09/04/2026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1386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DF14D-29EE-4785-B586-2D7AC2C36860}" type="datetime1">
              <a:rPr lang="en-GB" smtClean="0"/>
              <a:t>09/04/2026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6615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30A99-36EB-4660-8947-15D8E10E490E}" type="datetime1">
              <a:rPr lang="en-GB" smtClean="0"/>
              <a:t>09/04/2026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7626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B993D-33E3-484B-97CE-88461009D7BB}" type="datetime1">
              <a:rPr lang="en-GB" smtClean="0"/>
              <a:t>09/04/2026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1241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AFE4C-1BFC-4B5D-A48B-D19CBF206252}" type="datetime1">
              <a:rPr lang="en-GB" smtClean="0"/>
              <a:t>09/04/2026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5672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A398-4A14-4452-B35F-7EA90DD56283}" type="datetime1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7613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65B57-DD6C-4DD3-A370-C9B21AE60DC8}" type="datetime1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4795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294E0E-2BC3-44B2-B96D-B63459DB3886}" type="datetime1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81FFD7-BD89-4AAB-A8FF-0A6846053A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2133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m.ensembl.org/info/genome/genebuild/transcript_quality_tags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wannovar.wglab.org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nnovar.openbioinformatics.org/" TargetMode="External"/><Relationship Id="rId5" Type="http://schemas.openxmlformats.org/officeDocument/2006/relationships/hyperlink" Target="https://www.ensembl.org/info/docs/tools/vep/index.html" TargetMode="Externa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necascade.org/MutationTaster2021/#transcript" TargetMode="External"/><Relationship Id="rId2" Type="http://schemas.openxmlformats.org/officeDocument/2006/relationships/hyperlink" Target="https://www.dbnsfp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7194" y="1131999"/>
            <a:ext cx="7878156" cy="4000546"/>
          </a:xfrm>
        </p:spPr>
        <p:txBody>
          <a:bodyPr>
            <a:noAutofit/>
          </a:bodyPr>
          <a:lstStyle/>
          <a:p>
            <a:r>
              <a:rPr lang="en-GB" b="1" dirty="0"/>
              <a:t>NGS – variant analysis</a:t>
            </a:r>
            <a:br>
              <a:rPr lang="en-GB" b="1" dirty="0"/>
            </a:br>
            <a:br>
              <a:rPr lang="en-GB" b="1" dirty="0"/>
            </a:br>
            <a:r>
              <a:rPr lang="en-GB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Variant annotation</a:t>
            </a:r>
            <a:br>
              <a:rPr lang="en-GB" b="1" dirty="0"/>
            </a:br>
            <a:endParaRPr lang="en-GB" b="1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4329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4BFB5-E0B0-5B4D-879F-07A16BC73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Variant annotation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59A72-0BA1-154E-9E34-92E320694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H" b="1" dirty="0"/>
              <a:t>Functional annotation</a:t>
            </a:r>
            <a:r>
              <a:rPr lang="en-CH" dirty="0"/>
              <a:t>: relative to genomic features (often genes)</a:t>
            </a:r>
          </a:p>
          <a:p>
            <a:pPr lvl="1"/>
            <a:r>
              <a:rPr lang="en-CH" dirty="0"/>
              <a:t>Coding regions</a:t>
            </a:r>
          </a:p>
          <a:p>
            <a:pPr lvl="1"/>
            <a:r>
              <a:rPr lang="en-CH" dirty="0"/>
              <a:t>Promoter regions</a:t>
            </a:r>
          </a:p>
          <a:p>
            <a:endParaRPr lang="en-CH" dirty="0"/>
          </a:p>
          <a:p>
            <a:pPr marL="0" indent="0">
              <a:buNone/>
            </a:pP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D51F3E-D101-A844-8BEF-0F33051AF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2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590D81-6F9E-B845-998F-54EA7D959109}"/>
              </a:ext>
            </a:extLst>
          </p:cNvPr>
          <p:cNvSpPr/>
          <p:nvPr/>
        </p:nvSpPr>
        <p:spPr>
          <a:xfrm>
            <a:off x="1607599" y="4840942"/>
            <a:ext cx="802114" cy="2796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FEE66E-1950-4641-9DB5-70DA02226E94}"/>
              </a:ext>
            </a:extLst>
          </p:cNvPr>
          <p:cNvSpPr/>
          <p:nvPr/>
        </p:nvSpPr>
        <p:spPr>
          <a:xfrm>
            <a:off x="3151990" y="4840941"/>
            <a:ext cx="753036" cy="2796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720372-B727-9841-93DC-DB9A2B2DE948}"/>
              </a:ext>
            </a:extLst>
          </p:cNvPr>
          <p:cNvSpPr/>
          <p:nvPr/>
        </p:nvSpPr>
        <p:spPr>
          <a:xfrm>
            <a:off x="4883973" y="4840940"/>
            <a:ext cx="355003" cy="2796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B7B31B-74F9-A343-B4A9-0D1A219B2534}"/>
              </a:ext>
            </a:extLst>
          </p:cNvPr>
          <p:cNvSpPr/>
          <p:nvPr/>
        </p:nvSpPr>
        <p:spPr>
          <a:xfrm>
            <a:off x="5677683" y="4840939"/>
            <a:ext cx="355003" cy="2796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89AA37-7718-A841-A4D5-78EB99199897}"/>
              </a:ext>
            </a:extLst>
          </p:cNvPr>
          <p:cNvSpPr/>
          <p:nvPr/>
        </p:nvSpPr>
        <p:spPr>
          <a:xfrm>
            <a:off x="6471393" y="4840938"/>
            <a:ext cx="540240" cy="2796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264774-755F-DD48-8AD3-BACB673A15E7}"/>
              </a:ext>
            </a:extLst>
          </p:cNvPr>
          <p:cNvSpPr/>
          <p:nvPr/>
        </p:nvSpPr>
        <p:spPr>
          <a:xfrm>
            <a:off x="7020037" y="4911379"/>
            <a:ext cx="427949" cy="13881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2C45F7-562A-9946-8C24-90381CE4C49D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2409713" y="4980790"/>
            <a:ext cx="742277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9E2DA80-3B58-2D4A-AC1C-6C9E5A10215B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3905026" y="4980790"/>
            <a:ext cx="978947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1583918-01EF-9948-AECA-0B350E0FD245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5238976" y="4980789"/>
            <a:ext cx="438707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242CF33-B1D9-B14E-90BA-E3E8DAC9B788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6032686" y="4980788"/>
            <a:ext cx="438707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675B9E8-1DFF-C14E-B8AE-B2D490239CC9}"/>
              </a:ext>
            </a:extLst>
          </p:cNvPr>
          <p:cNvCxnSpPr>
            <a:cxnSpLocks/>
          </p:cNvCxnSpPr>
          <p:nvPr/>
        </p:nvCxnSpPr>
        <p:spPr>
          <a:xfrm>
            <a:off x="430306" y="4980787"/>
            <a:ext cx="74934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335826B-FA1D-6F48-8425-EBA8B3D83D4A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7447986" y="4980787"/>
            <a:ext cx="117678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465F17CF-A0D1-124C-913F-0CE2E27AB8A6}"/>
              </a:ext>
            </a:extLst>
          </p:cNvPr>
          <p:cNvSpPr/>
          <p:nvPr/>
        </p:nvSpPr>
        <p:spPr>
          <a:xfrm>
            <a:off x="1171246" y="4911379"/>
            <a:ext cx="427949" cy="13881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3D107F18-7F14-DB41-B047-5BF6CCB7A0EE}"/>
              </a:ext>
            </a:extLst>
          </p:cNvPr>
          <p:cNvCxnSpPr>
            <a:stCxn id="33" idx="1"/>
          </p:cNvCxnSpPr>
          <p:nvPr/>
        </p:nvCxnSpPr>
        <p:spPr>
          <a:xfrm rot="10800000" flipH="1">
            <a:off x="1171245" y="4593515"/>
            <a:ext cx="436353" cy="387272"/>
          </a:xfrm>
          <a:prstGeom prst="bentConnector3">
            <a:avLst>
              <a:gd name="adj1" fmla="val 4314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5-Point Star 36">
            <a:extLst>
              <a:ext uri="{FF2B5EF4-FFF2-40B4-BE49-F238E27FC236}">
                <a16:creationId xmlns:a16="http://schemas.microsoft.com/office/drawing/2014/main" id="{A013263A-C581-0C4C-B500-3D40750AD934}"/>
              </a:ext>
            </a:extLst>
          </p:cNvPr>
          <p:cNvSpPr/>
          <p:nvPr/>
        </p:nvSpPr>
        <p:spPr>
          <a:xfrm>
            <a:off x="606471" y="4830180"/>
            <a:ext cx="290457" cy="290457"/>
          </a:xfrm>
          <a:prstGeom prst="star5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8" name="5-Point Star 37">
            <a:extLst>
              <a:ext uri="{FF2B5EF4-FFF2-40B4-BE49-F238E27FC236}">
                <a16:creationId xmlns:a16="http://schemas.microsoft.com/office/drawing/2014/main" id="{71731450-9D94-CE41-A635-E2E96C876A84}"/>
              </a:ext>
            </a:extLst>
          </p:cNvPr>
          <p:cNvSpPr/>
          <p:nvPr/>
        </p:nvSpPr>
        <p:spPr>
          <a:xfrm>
            <a:off x="3395214" y="4830180"/>
            <a:ext cx="290457" cy="290457"/>
          </a:xfrm>
          <a:prstGeom prst="star5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9" name="5-Point Star 38">
            <a:extLst>
              <a:ext uri="{FF2B5EF4-FFF2-40B4-BE49-F238E27FC236}">
                <a16:creationId xmlns:a16="http://schemas.microsoft.com/office/drawing/2014/main" id="{E9FC3B2F-439D-0944-989C-A4EA173976DE}"/>
              </a:ext>
            </a:extLst>
          </p:cNvPr>
          <p:cNvSpPr/>
          <p:nvPr/>
        </p:nvSpPr>
        <p:spPr>
          <a:xfrm>
            <a:off x="4292301" y="4824281"/>
            <a:ext cx="290457" cy="290457"/>
          </a:xfrm>
          <a:prstGeom prst="star5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40" name="5-Point Star 39">
            <a:extLst>
              <a:ext uri="{FF2B5EF4-FFF2-40B4-BE49-F238E27FC236}">
                <a16:creationId xmlns:a16="http://schemas.microsoft.com/office/drawing/2014/main" id="{68F9B0D9-8FE8-7944-B85F-213419FBBB06}"/>
              </a:ext>
            </a:extLst>
          </p:cNvPr>
          <p:cNvSpPr/>
          <p:nvPr/>
        </p:nvSpPr>
        <p:spPr>
          <a:xfrm>
            <a:off x="7071468" y="4819418"/>
            <a:ext cx="290457" cy="290457"/>
          </a:xfrm>
          <a:prstGeom prst="star5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41" name="5-Point Star 40">
            <a:extLst>
              <a:ext uri="{FF2B5EF4-FFF2-40B4-BE49-F238E27FC236}">
                <a16:creationId xmlns:a16="http://schemas.microsoft.com/office/drawing/2014/main" id="{1EA9D89F-9BC2-284B-A56E-1E801746D3EB}"/>
              </a:ext>
            </a:extLst>
          </p:cNvPr>
          <p:cNvSpPr/>
          <p:nvPr/>
        </p:nvSpPr>
        <p:spPr>
          <a:xfrm>
            <a:off x="8021164" y="4819418"/>
            <a:ext cx="290457" cy="290457"/>
          </a:xfrm>
          <a:prstGeom prst="star5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F6E4ADE-022A-414F-ABAF-61FA271A6A06}"/>
              </a:ext>
            </a:extLst>
          </p:cNvPr>
          <p:cNvSpPr txBox="1"/>
          <p:nvPr/>
        </p:nvSpPr>
        <p:spPr>
          <a:xfrm>
            <a:off x="224574" y="5390283"/>
            <a:ext cx="10542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1400" dirty="0"/>
              <a:t>Promoter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E1CCD8-AAE6-1946-A4C2-53394F0D8B1B}"/>
              </a:ext>
            </a:extLst>
          </p:cNvPr>
          <p:cNvSpPr txBox="1"/>
          <p:nvPr/>
        </p:nvSpPr>
        <p:spPr>
          <a:xfrm>
            <a:off x="3013317" y="5390283"/>
            <a:ext cx="10542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1400" dirty="0"/>
              <a:t>Coding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66B24D-6EEC-F74D-9BE9-0DBBA539DB0B}"/>
              </a:ext>
            </a:extLst>
          </p:cNvPr>
          <p:cNvSpPr txBox="1"/>
          <p:nvPr/>
        </p:nvSpPr>
        <p:spPr>
          <a:xfrm>
            <a:off x="3867374" y="5390283"/>
            <a:ext cx="10542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1400" dirty="0"/>
              <a:t>Intronic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8D3A8F2-330B-8B4B-B81E-9D4EE16C11B1}"/>
              </a:ext>
            </a:extLst>
          </p:cNvPr>
          <p:cNvSpPr txBox="1"/>
          <p:nvPr/>
        </p:nvSpPr>
        <p:spPr>
          <a:xfrm>
            <a:off x="6706886" y="5390283"/>
            <a:ext cx="10542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1400" dirty="0"/>
              <a:t>UTR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B3BC504-42CB-EB48-8BF2-FC7B1FCCF7BC}"/>
              </a:ext>
            </a:extLst>
          </p:cNvPr>
          <p:cNvSpPr txBox="1"/>
          <p:nvPr/>
        </p:nvSpPr>
        <p:spPr>
          <a:xfrm>
            <a:off x="7557746" y="5390283"/>
            <a:ext cx="1228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1400" dirty="0"/>
              <a:t>Intergenic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A75135E-DEAA-0546-9DE8-872EC9BB9CE7}"/>
              </a:ext>
            </a:extLst>
          </p:cNvPr>
          <p:cNvCxnSpPr>
            <a:stCxn id="42" idx="0"/>
          </p:cNvCxnSpPr>
          <p:nvPr/>
        </p:nvCxnSpPr>
        <p:spPr>
          <a:xfrm flipH="1" flipV="1">
            <a:off x="751698" y="5120637"/>
            <a:ext cx="1" cy="2696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888E249-73FA-4B47-BA46-8BAE4EA2DC6D}"/>
              </a:ext>
            </a:extLst>
          </p:cNvPr>
          <p:cNvCxnSpPr/>
          <p:nvPr/>
        </p:nvCxnSpPr>
        <p:spPr>
          <a:xfrm flipH="1" flipV="1">
            <a:off x="3538086" y="5109875"/>
            <a:ext cx="1" cy="2696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2FF1ECD-5C83-8E4F-9DB7-C65913A6F45C}"/>
              </a:ext>
            </a:extLst>
          </p:cNvPr>
          <p:cNvCxnSpPr/>
          <p:nvPr/>
        </p:nvCxnSpPr>
        <p:spPr>
          <a:xfrm flipH="1" flipV="1">
            <a:off x="4434506" y="5120637"/>
            <a:ext cx="1" cy="2696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A9FF41C-A432-B64F-87FF-1401D6F91E7B}"/>
              </a:ext>
            </a:extLst>
          </p:cNvPr>
          <p:cNvCxnSpPr/>
          <p:nvPr/>
        </p:nvCxnSpPr>
        <p:spPr>
          <a:xfrm flipH="1" flipV="1">
            <a:off x="7223249" y="5120637"/>
            <a:ext cx="1" cy="2696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6EB78D0-A303-0147-A9A6-00862A9A310A}"/>
              </a:ext>
            </a:extLst>
          </p:cNvPr>
          <p:cNvCxnSpPr/>
          <p:nvPr/>
        </p:nvCxnSpPr>
        <p:spPr>
          <a:xfrm flipH="1" flipV="1">
            <a:off x="8161669" y="5120637"/>
            <a:ext cx="1" cy="2696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6716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B14AF-CFA1-FD4A-98A5-C767DE343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Coding variants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882C94-66C3-4C48-B4EB-5FA30CA85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3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AA1F4F-0E73-9D4F-B304-5E43FA1E3A61}"/>
              </a:ext>
            </a:extLst>
          </p:cNvPr>
          <p:cNvSpPr txBox="1"/>
          <p:nvPr/>
        </p:nvSpPr>
        <p:spPr>
          <a:xfrm>
            <a:off x="937593" y="1792910"/>
            <a:ext cx="73242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3600" dirty="0">
                <a:latin typeface="+mj-lt"/>
              </a:rPr>
              <a:t>GCA AGA GAT AAT TGT TGG CAA</a:t>
            </a:r>
          </a:p>
          <a:p>
            <a:r>
              <a:rPr lang="en-CH" sz="3600" dirty="0">
                <a:solidFill>
                  <a:schemeClr val="accent4"/>
                </a:solidFill>
                <a:latin typeface="+mj-lt"/>
              </a:rPr>
              <a:t>Ala</a:t>
            </a:r>
            <a:r>
              <a:rPr lang="en-CH" sz="3600" dirty="0">
                <a:latin typeface="+mj-lt"/>
              </a:rPr>
              <a:t> </a:t>
            </a:r>
            <a:r>
              <a:rPr lang="en-CH" sz="3600" dirty="0">
                <a:solidFill>
                  <a:schemeClr val="accent5"/>
                </a:solidFill>
                <a:latin typeface="+mj-lt"/>
              </a:rPr>
              <a:t>Arg</a:t>
            </a:r>
            <a:r>
              <a:rPr lang="en-CH" sz="3600" dirty="0">
                <a:latin typeface="+mj-lt"/>
              </a:rPr>
              <a:t> </a:t>
            </a:r>
            <a:r>
              <a:rPr lang="en-CH" sz="3600" dirty="0">
                <a:solidFill>
                  <a:srgbClr val="7030A0"/>
                </a:solidFill>
                <a:latin typeface="+mj-lt"/>
              </a:rPr>
              <a:t>Asp</a:t>
            </a:r>
            <a:r>
              <a:rPr lang="en-CH" sz="3600" dirty="0">
                <a:latin typeface="+mj-lt"/>
              </a:rPr>
              <a:t> </a:t>
            </a:r>
            <a:r>
              <a:rPr lang="en-CH" sz="3600" dirty="0">
                <a:solidFill>
                  <a:schemeClr val="accent6"/>
                </a:solidFill>
                <a:latin typeface="+mj-lt"/>
              </a:rPr>
              <a:t>Asn</a:t>
            </a:r>
            <a:r>
              <a:rPr lang="en-CH" sz="3600" dirty="0">
                <a:latin typeface="+mj-lt"/>
              </a:rPr>
              <a:t> </a:t>
            </a:r>
            <a:r>
              <a:rPr lang="en-CH" sz="3600" dirty="0">
                <a:solidFill>
                  <a:schemeClr val="accent6"/>
                </a:solidFill>
                <a:latin typeface="+mj-lt"/>
              </a:rPr>
              <a:t>Cys </a:t>
            </a:r>
            <a:r>
              <a:rPr lang="en-CH" sz="3600" dirty="0">
                <a:solidFill>
                  <a:schemeClr val="accent4"/>
                </a:solidFill>
                <a:latin typeface="+mj-lt"/>
              </a:rPr>
              <a:t>Trp </a:t>
            </a:r>
            <a:r>
              <a:rPr lang="en-CH" sz="3600" dirty="0">
                <a:solidFill>
                  <a:schemeClr val="accent6"/>
                </a:solidFill>
                <a:latin typeface="+mj-lt"/>
              </a:rPr>
              <a:t>Gln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714353-5E17-8B47-A2F0-07647066053E}"/>
              </a:ext>
            </a:extLst>
          </p:cNvPr>
          <p:cNvSpPr txBox="1"/>
          <p:nvPr/>
        </p:nvSpPr>
        <p:spPr>
          <a:xfrm>
            <a:off x="889185" y="4176708"/>
            <a:ext cx="7626165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H" sz="3600" dirty="0">
                <a:latin typeface="+mj-lt"/>
              </a:rPr>
              <a:t>GCA AG</a:t>
            </a:r>
            <a:r>
              <a:rPr lang="en-CH" sz="3600" dirty="0">
                <a:solidFill>
                  <a:srgbClr val="FF0000"/>
                </a:solidFill>
                <a:latin typeface="+mj-lt"/>
              </a:rPr>
              <a:t>G</a:t>
            </a:r>
            <a:r>
              <a:rPr lang="en-CH" sz="3600" dirty="0">
                <a:latin typeface="+mj-lt"/>
              </a:rPr>
              <a:t> GAT AA</a:t>
            </a:r>
            <a:r>
              <a:rPr lang="en-CH" sz="3600" dirty="0">
                <a:solidFill>
                  <a:srgbClr val="FF0000"/>
                </a:solidFill>
                <a:latin typeface="+mj-lt"/>
              </a:rPr>
              <a:t>A</a:t>
            </a:r>
            <a:r>
              <a:rPr lang="en-CH" sz="3600" dirty="0">
                <a:latin typeface="+mj-lt"/>
              </a:rPr>
              <a:t> TG</a:t>
            </a:r>
            <a:r>
              <a:rPr lang="en-CH" sz="3600" dirty="0">
                <a:solidFill>
                  <a:srgbClr val="FF0000"/>
                </a:solidFill>
                <a:latin typeface="+mj-lt"/>
              </a:rPr>
              <a:t>A </a:t>
            </a:r>
            <a:r>
              <a:rPr lang="en-CH" sz="3600">
                <a:latin typeface="+mj-lt"/>
              </a:rPr>
              <a:t>TG</a:t>
            </a:r>
            <a:r>
              <a:rPr lang="en-CH" sz="3600">
                <a:solidFill>
                  <a:srgbClr val="FF0000"/>
                </a:solidFill>
                <a:latin typeface="+mj-lt"/>
              </a:rPr>
              <a:t>-</a:t>
            </a:r>
            <a:r>
              <a:rPr lang="en-CH" sz="3600">
                <a:latin typeface="+mj-lt"/>
              </a:rPr>
              <a:t>C AA</a:t>
            </a:r>
          </a:p>
          <a:p>
            <a:r>
              <a:rPr lang="en-CH" sz="3600" dirty="0">
                <a:solidFill>
                  <a:schemeClr val="accent4"/>
                </a:solidFill>
                <a:latin typeface="+mj-lt"/>
              </a:rPr>
              <a:t>Ala</a:t>
            </a:r>
            <a:r>
              <a:rPr lang="en-CH" sz="3600" dirty="0">
                <a:latin typeface="+mj-lt"/>
              </a:rPr>
              <a:t> </a:t>
            </a:r>
            <a:r>
              <a:rPr lang="en-CH" sz="3600" dirty="0">
                <a:solidFill>
                  <a:schemeClr val="accent5"/>
                </a:solidFill>
                <a:latin typeface="+mj-lt"/>
              </a:rPr>
              <a:t>Arg</a:t>
            </a:r>
            <a:r>
              <a:rPr lang="en-CH" sz="3600" dirty="0">
                <a:latin typeface="+mj-lt"/>
              </a:rPr>
              <a:t> </a:t>
            </a:r>
            <a:r>
              <a:rPr lang="en-CH" sz="3600" dirty="0">
                <a:solidFill>
                  <a:srgbClr val="7030A0"/>
                </a:solidFill>
                <a:latin typeface="+mj-lt"/>
              </a:rPr>
              <a:t>Asp</a:t>
            </a:r>
            <a:r>
              <a:rPr lang="en-CH" sz="3600" dirty="0">
                <a:latin typeface="+mj-lt"/>
              </a:rPr>
              <a:t> </a:t>
            </a:r>
            <a:r>
              <a:rPr lang="en-CH" sz="3600" dirty="0">
                <a:solidFill>
                  <a:schemeClr val="accent5"/>
                </a:solidFill>
                <a:latin typeface="+mj-lt"/>
              </a:rPr>
              <a:t>Lys</a:t>
            </a:r>
            <a:r>
              <a:rPr lang="en-CH" sz="3600" dirty="0">
                <a:latin typeface="+mj-lt"/>
              </a:rPr>
              <a:t>  *  </a:t>
            </a:r>
            <a:r>
              <a:rPr lang="en-CH" sz="3600">
                <a:solidFill>
                  <a:schemeClr val="accent6"/>
                </a:solidFill>
                <a:latin typeface="+mj-lt"/>
              </a:rPr>
              <a:t>Cys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036591-8057-1D4A-BE4D-C92F42521550}"/>
              </a:ext>
            </a:extLst>
          </p:cNvPr>
          <p:cNvSpPr txBox="1"/>
          <p:nvPr/>
        </p:nvSpPr>
        <p:spPr>
          <a:xfrm>
            <a:off x="1828799" y="3216536"/>
            <a:ext cx="1678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dirty="0"/>
              <a:t>synonymous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B44F9E3-53F3-104B-8520-D848853CE2C1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667896" y="3585868"/>
            <a:ext cx="0" cy="5908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C6DAEA7-354D-FE4E-979B-ECBC1D1E4E14}"/>
              </a:ext>
            </a:extLst>
          </p:cNvPr>
          <p:cNvSpPr txBox="1"/>
          <p:nvPr/>
        </p:nvSpPr>
        <p:spPr>
          <a:xfrm>
            <a:off x="3777279" y="3195273"/>
            <a:ext cx="1678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dirty="0"/>
              <a:t>missense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27B41A2-449D-9D4C-ACA4-47C9A27EC290}"/>
              </a:ext>
            </a:extLst>
          </p:cNvPr>
          <p:cNvCxnSpPr>
            <a:cxnSpLocks/>
          </p:cNvCxnSpPr>
          <p:nvPr/>
        </p:nvCxnSpPr>
        <p:spPr>
          <a:xfrm>
            <a:off x="4616376" y="3574681"/>
            <a:ext cx="0" cy="5908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C676AA9-FDB2-2646-9385-11EDDA0D5AB0}"/>
              </a:ext>
            </a:extLst>
          </p:cNvPr>
          <p:cNvSpPr txBox="1"/>
          <p:nvPr/>
        </p:nvSpPr>
        <p:spPr>
          <a:xfrm>
            <a:off x="4572000" y="3594833"/>
            <a:ext cx="1678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dirty="0"/>
              <a:t>stop gained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BF3C28-9FD2-0946-A8C3-4A3943994879}"/>
              </a:ext>
            </a:extLst>
          </p:cNvPr>
          <p:cNvCxnSpPr>
            <a:cxnSpLocks/>
          </p:cNvCxnSpPr>
          <p:nvPr/>
        </p:nvCxnSpPr>
        <p:spPr>
          <a:xfrm>
            <a:off x="5611571" y="3952742"/>
            <a:ext cx="3136" cy="29542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0E3D178-D54C-7A41-A720-5AD770A7CD6C}"/>
              </a:ext>
            </a:extLst>
          </p:cNvPr>
          <p:cNvSpPr txBox="1"/>
          <p:nvPr/>
        </p:nvSpPr>
        <p:spPr>
          <a:xfrm>
            <a:off x="5725759" y="3236010"/>
            <a:ext cx="1678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dirty="0"/>
              <a:t>frameshift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172E169-4A0D-E64F-B330-B8AD40E543E2}"/>
              </a:ext>
            </a:extLst>
          </p:cNvPr>
          <p:cNvCxnSpPr>
            <a:cxnSpLocks/>
          </p:cNvCxnSpPr>
          <p:nvPr/>
        </p:nvCxnSpPr>
        <p:spPr>
          <a:xfrm>
            <a:off x="6629403" y="3594833"/>
            <a:ext cx="0" cy="5908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33335EEB-DDA0-BA4E-B336-4964A810C45A}"/>
              </a:ext>
            </a:extLst>
          </p:cNvPr>
          <p:cNvSpPr/>
          <p:nvPr/>
        </p:nvSpPr>
        <p:spPr>
          <a:xfrm>
            <a:off x="132282" y="6375840"/>
            <a:ext cx="91399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H" dirty="0"/>
              <a:t>http://www.sequenceontology.org/browser/current_svn/term/SO:0001580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423349-7F0E-EC42-9A87-74C6B0BDD31F}"/>
              </a:ext>
            </a:extLst>
          </p:cNvPr>
          <p:cNvSpPr/>
          <p:nvPr/>
        </p:nvSpPr>
        <p:spPr>
          <a:xfrm>
            <a:off x="132282" y="5996764"/>
            <a:ext cx="92772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H" dirty="0"/>
              <a:t>http://pcingola.github.io/SnpEff/se_inputoutput/#effect-prediction-details</a:t>
            </a:r>
          </a:p>
        </p:txBody>
      </p:sp>
    </p:spTree>
    <p:extLst>
      <p:ext uri="{BB962C8B-B14F-4D97-AF65-F5344CB8AC3E}">
        <p14:creationId xmlns:p14="http://schemas.microsoft.com/office/powerpoint/2010/main" val="324691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0D4DC-689F-4140-B164-CF7F86449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Sequence ontology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03E3B-9264-C44A-BD9A-7713F7C2E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4</a:t>
            </a:fld>
            <a:endParaRPr lang="en-GB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3B6B662F-5CB3-3E48-83BA-19C2B3753B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868" y="1873040"/>
            <a:ext cx="7414374" cy="453441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84429C1-9D03-FF43-9032-5B81938F46A7}"/>
              </a:ext>
            </a:extLst>
          </p:cNvPr>
          <p:cNvSpPr/>
          <p:nvPr/>
        </p:nvSpPr>
        <p:spPr>
          <a:xfrm>
            <a:off x="2070847" y="6538702"/>
            <a:ext cx="707315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H" sz="1400" dirty="0"/>
              <a:t>http://www.sequenceontology.org/browser/current_svn/term/SO:0001580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35CDECC-F3AD-1C43-9D32-B65AF2CCE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297891" cy="4351338"/>
          </a:xfrm>
        </p:spPr>
        <p:txBody>
          <a:bodyPr/>
          <a:lstStyle/>
          <a:p>
            <a:r>
              <a:rPr lang="en-CH" dirty="0"/>
              <a:t>Initiated by GO consortium</a:t>
            </a:r>
          </a:p>
          <a:p>
            <a:r>
              <a:rPr lang="en-CH" dirty="0"/>
              <a:t>Term definitions + relationships</a:t>
            </a:r>
          </a:p>
        </p:txBody>
      </p:sp>
    </p:spTree>
    <p:extLst>
      <p:ext uri="{BB962C8B-B14F-4D97-AF65-F5344CB8AC3E}">
        <p14:creationId xmlns:p14="http://schemas.microsoft.com/office/powerpoint/2010/main" val="1468419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DCBD4-E5D0-C44B-8CB6-2450CA2BA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Isoforms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F8B07-120B-1F45-97BA-8D26D81D5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919539"/>
            <a:ext cx="7886700" cy="2766139"/>
          </a:xfrm>
        </p:spPr>
        <p:txBody>
          <a:bodyPr/>
          <a:lstStyle/>
          <a:p>
            <a:r>
              <a:rPr lang="en-CH" dirty="0"/>
              <a:t>Most genes have multiple isoforms</a:t>
            </a:r>
          </a:p>
          <a:p>
            <a:r>
              <a:rPr lang="en-CH" dirty="0"/>
              <a:t>Annotation for all isoforms?</a:t>
            </a:r>
          </a:p>
          <a:p>
            <a:r>
              <a:rPr lang="en-CH" dirty="0"/>
              <a:t>Single annotation/variant:</a:t>
            </a:r>
          </a:p>
          <a:p>
            <a:pPr lvl="1"/>
            <a:r>
              <a:rPr lang="en-CH" dirty="0"/>
              <a:t>Effect with most impact</a:t>
            </a:r>
          </a:p>
          <a:p>
            <a:pPr lvl="1"/>
            <a:r>
              <a:rPr lang="en-CH" dirty="0"/>
              <a:t>Most relevant transcript, e.g. based on ensembl </a:t>
            </a:r>
            <a:r>
              <a:rPr lang="en-CH" dirty="0">
                <a:hlinkClick r:id="rId2"/>
              </a:rPr>
              <a:t>transcript tags</a:t>
            </a:r>
            <a:endParaRPr lang="en-CH" dirty="0"/>
          </a:p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F48F3-D043-BB4A-96C7-380B88EC6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5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A8D259-22A4-734F-82B4-17B7A919098F}"/>
              </a:ext>
            </a:extLst>
          </p:cNvPr>
          <p:cNvSpPr/>
          <p:nvPr/>
        </p:nvSpPr>
        <p:spPr>
          <a:xfrm>
            <a:off x="1682902" y="1893664"/>
            <a:ext cx="802114" cy="2796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75EDA9-3B0E-2144-9652-DF441CC12645}"/>
              </a:ext>
            </a:extLst>
          </p:cNvPr>
          <p:cNvSpPr/>
          <p:nvPr/>
        </p:nvSpPr>
        <p:spPr>
          <a:xfrm>
            <a:off x="3227293" y="1893663"/>
            <a:ext cx="753036" cy="2796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5D969C-C897-D54A-8FD5-3E343211A269}"/>
              </a:ext>
            </a:extLst>
          </p:cNvPr>
          <p:cNvSpPr/>
          <p:nvPr/>
        </p:nvSpPr>
        <p:spPr>
          <a:xfrm>
            <a:off x="4959276" y="1893662"/>
            <a:ext cx="355003" cy="2796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BD9C3A-D3B7-B441-8827-2E29A6CB1253}"/>
              </a:ext>
            </a:extLst>
          </p:cNvPr>
          <p:cNvSpPr/>
          <p:nvPr/>
        </p:nvSpPr>
        <p:spPr>
          <a:xfrm>
            <a:off x="5752986" y="1893661"/>
            <a:ext cx="355003" cy="2796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E5E083-99FA-B84B-91F9-47254ACC7C37}"/>
              </a:ext>
            </a:extLst>
          </p:cNvPr>
          <p:cNvSpPr/>
          <p:nvPr/>
        </p:nvSpPr>
        <p:spPr>
          <a:xfrm>
            <a:off x="6546696" y="1893660"/>
            <a:ext cx="540240" cy="2796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77DFDB-EB73-EF4E-9B75-60DEBA7FAAF8}"/>
              </a:ext>
            </a:extLst>
          </p:cNvPr>
          <p:cNvSpPr/>
          <p:nvPr/>
        </p:nvSpPr>
        <p:spPr>
          <a:xfrm>
            <a:off x="7095340" y="1964101"/>
            <a:ext cx="427949" cy="13881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A45E384-4127-4541-8169-5D14CCDEF78E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2485016" y="2033512"/>
            <a:ext cx="742277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8AAB9D-6D19-2F40-94D8-5D282290A306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3980329" y="2033512"/>
            <a:ext cx="978947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79B210-7770-FD49-90C4-032BF16B1B15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5314279" y="2033511"/>
            <a:ext cx="438707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0E0BBC3-6CEE-C94B-8661-FBA5DD6104A8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6107989" y="2033510"/>
            <a:ext cx="438707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70A4CF8-84F1-C346-B594-9419543E7DEB}"/>
              </a:ext>
            </a:extLst>
          </p:cNvPr>
          <p:cNvCxnSpPr>
            <a:cxnSpLocks/>
          </p:cNvCxnSpPr>
          <p:nvPr/>
        </p:nvCxnSpPr>
        <p:spPr>
          <a:xfrm>
            <a:off x="505609" y="2033509"/>
            <a:ext cx="74934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43B7CD2-DA2B-874B-8FE2-777C7FBD9380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7523289" y="2033509"/>
            <a:ext cx="117678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D3969727-9A5C-0A40-A3D8-D472546B6BB8}"/>
              </a:ext>
            </a:extLst>
          </p:cNvPr>
          <p:cNvSpPr/>
          <p:nvPr/>
        </p:nvSpPr>
        <p:spPr>
          <a:xfrm>
            <a:off x="1246549" y="1964101"/>
            <a:ext cx="427949" cy="13881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85056B7E-312C-5C46-B4D5-3F85B1641428}"/>
              </a:ext>
            </a:extLst>
          </p:cNvPr>
          <p:cNvCxnSpPr>
            <a:stCxn id="17" idx="1"/>
          </p:cNvCxnSpPr>
          <p:nvPr/>
        </p:nvCxnSpPr>
        <p:spPr>
          <a:xfrm rot="10800000" flipH="1">
            <a:off x="1246548" y="1646237"/>
            <a:ext cx="436353" cy="387272"/>
          </a:xfrm>
          <a:prstGeom prst="bentConnector3">
            <a:avLst>
              <a:gd name="adj1" fmla="val 4314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5-Point Star 19">
            <a:extLst>
              <a:ext uri="{FF2B5EF4-FFF2-40B4-BE49-F238E27FC236}">
                <a16:creationId xmlns:a16="http://schemas.microsoft.com/office/drawing/2014/main" id="{96329219-0E6D-BD4A-BBD5-EED866F32AD6}"/>
              </a:ext>
            </a:extLst>
          </p:cNvPr>
          <p:cNvSpPr/>
          <p:nvPr/>
        </p:nvSpPr>
        <p:spPr>
          <a:xfrm>
            <a:off x="3470517" y="1882902"/>
            <a:ext cx="290457" cy="290457"/>
          </a:xfrm>
          <a:prstGeom prst="star5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936545-59F4-BA48-9F64-8D8638CE8092}"/>
              </a:ext>
            </a:extLst>
          </p:cNvPr>
          <p:cNvSpPr txBox="1"/>
          <p:nvPr/>
        </p:nvSpPr>
        <p:spPr>
          <a:xfrm>
            <a:off x="3088620" y="2443005"/>
            <a:ext cx="10542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1400" dirty="0"/>
              <a:t>Coding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747CB0B-B667-0041-AACB-B5FD31173C4C}"/>
              </a:ext>
            </a:extLst>
          </p:cNvPr>
          <p:cNvCxnSpPr/>
          <p:nvPr/>
        </p:nvCxnSpPr>
        <p:spPr>
          <a:xfrm flipH="1" flipV="1">
            <a:off x="3613389" y="2162597"/>
            <a:ext cx="1" cy="2696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A8D6E81A-7599-1D4B-9441-1044FF1DBF34}"/>
              </a:ext>
            </a:extLst>
          </p:cNvPr>
          <p:cNvSpPr/>
          <p:nvPr/>
        </p:nvSpPr>
        <p:spPr>
          <a:xfrm>
            <a:off x="1682902" y="2922570"/>
            <a:ext cx="802114" cy="2796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073C1AE-AC98-D143-A43C-5BE0FC167352}"/>
              </a:ext>
            </a:extLst>
          </p:cNvPr>
          <p:cNvSpPr/>
          <p:nvPr/>
        </p:nvSpPr>
        <p:spPr>
          <a:xfrm>
            <a:off x="3830901" y="2922569"/>
            <a:ext cx="149427" cy="2796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584D299-AD87-A043-8952-E7E494BA7D64}"/>
              </a:ext>
            </a:extLst>
          </p:cNvPr>
          <p:cNvSpPr/>
          <p:nvPr/>
        </p:nvSpPr>
        <p:spPr>
          <a:xfrm>
            <a:off x="4959276" y="2922568"/>
            <a:ext cx="355003" cy="2796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AF0F240-27A9-DF4F-A685-EF93C570A105}"/>
              </a:ext>
            </a:extLst>
          </p:cNvPr>
          <p:cNvSpPr/>
          <p:nvPr/>
        </p:nvSpPr>
        <p:spPr>
          <a:xfrm>
            <a:off x="5752986" y="2922567"/>
            <a:ext cx="355003" cy="2796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0F7B5E0-BF10-2642-94BE-6BF4FE1DDD2E}"/>
              </a:ext>
            </a:extLst>
          </p:cNvPr>
          <p:cNvSpPr/>
          <p:nvPr/>
        </p:nvSpPr>
        <p:spPr>
          <a:xfrm>
            <a:off x="6546696" y="2922566"/>
            <a:ext cx="540240" cy="2796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E910080-6DDD-9249-940C-5D19D3B342C4}"/>
              </a:ext>
            </a:extLst>
          </p:cNvPr>
          <p:cNvSpPr/>
          <p:nvPr/>
        </p:nvSpPr>
        <p:spPr>
          <a:xfrm>
            <a:off x="7095340" y="2993007"/>
            <a:ext cx="427949" cy="13881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E6EFAE8-B44C-634D-A640-ADED8D72655A}"/>
              </a:ext>
            </a:extLst>
          </p:cNvPr>
          <p:cNvCxnSpPr>
            <a:cxnSpLocks/>
            <a:stCxn id="34" idx="3"/>
            <a:endCxn id="35" idx="1"/>
          </p:cNvCxnSpPr>
          <p:nvPr/>
        </p:nvCxnSpPr>
        <p:spPr>
          <a:xfrm>
            <a:off x="2485016" y="3062418"/>
            <a:ext cx="1345885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D0412BC-F05E-F540-AE39-F4C7B73798E9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>
          <a:xfrm flipV="1">
            <a:off x="3980328" y="3062418"/>
            <a:ext cx="978948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5E3C763-C163-3343-A34C-9302CDDBE0B5}"/>
              </a:ext>
            </a:extLst>
          </p:cNvPr>
          <p:cNvCxnSpPr>
            <a:cxnSpLocks/>
            <a:stCxn id="36" idx="3"/>
            <a:endCxn id="37" idx="1"/>
          </p:cNvCxnSpPr>
          <p:nvPr/>
        </p:nvCxnSpPr>
        <p:spPr>
          <a:xfrm flipV="1">
            <a:off x="5314279" y="3062417"/>
            <a:ext cx="438707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8C13BC2-9883-9D44-BFC4-36647FAB6C13}"/>
              </a:ext>
            </a:extLst>
          </p:cNvPr>
          <p:cNvCxnSpPr>
            <a:cxnSpLocks/>
            <a:stCxn id="37" idx="3"/>
            <a:endCxn id="38" idx="1"/>
          </p:cNvCxnSpPr>
          <p:nvPr/>
        </p:nvCxnSpPr>
        <p:spPr>
          <a:xfrm flipV="1">
            <a:off x="6107989" y="3062416"/>
            <a:ext cx="438707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E8AE57A-950B-8A44-B016-2D505A44E167}"/>
              </a:ext>
            </a:extLst>
          </p:cNvPr>
          <p:cNvCxnSpPr>
            <a:cxnSpLocks/>
          </p:cNvCxnSpPr>
          <p:nvPr/>
        </p:nvCxnSpPr>
        <p:spPr>
          <a:xfrm>
            <a:off x="505609" y="3062415"/>
            <a:ext cx="74934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9E29555-C077-F546-BFA3-EB0106A1C50B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7523289" y="3062415"/>
            <a:ext cx="117678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38CC056D-DC78-8440-B5B1-789EC8DACC22}"/>
              </a:ext>
            </a:extLst>
          </p:cNvPr>
          <p:cNvSpPr/>
          <p:nvPr/>
        </p:nvSpPr>
        <p:spPr>
          <a:xfrm>
            <a:off x="1246549" y="2993007"/>
            <a:ext cx="427949" cy="13881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D7452E21-8E7B-3740-8FBE-CDA7F751AB4D}"/>
              </a:ext>
            </a:extLst>
          </p:cNvPr>
          <p:cNvCxnSpPr>
            <a:stCxn id="46" idx="1"/>
          </p:cNvCxnSpPr>
          <p:nvPr/>
        </p:nvCxnSpPr>
        <p:spPr>
          <a:xfrm rot="10800000" flipH="1">
            <a:off x="1246548" y="2675143"/>
            <a:ext cx="436353" cy="387272"/>
          </a:xfrm>
          <a:prstGeom prst="bentConnector3">
            <a:avLst>
              <a:gd name="adj1" fmla="val 4314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5-Point Star 47">
            <a:extLst>
              <a:ext uri="{FF2B5EF4-FFF2-40B4-BE49-F238E27FC236}">
                <a16:creationId xmlns:a16="http://schemas.microsoft.com/office/drawing/2014/main" id="{4FC1CF4C-8DA2-9240-B57F-D7F62D3AA8A9}"/>
              </a:ext>
            </a:extLst>
          </p:cNvPr>
          <p:cNvSpPr/>
          <p:nvPr/>
        </p:nvSpPr>
        <p:spPr>
          <a:xfrm>
            <a:off x="3470517" y="2911808"/>
            <a:ext cx="290457" cy="290457"/>
          </a:xfrm>
          <a:prstGeom prst="star5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BF3612C-51BD-A048-B9D5-92A8CD9B38BB}"/>
              </a:ext>
            </a:extLst>
          </p:cNvPr>
          <p:cNvSpPr txBox="1"/>
          <p:nvPr/>
        </p:nvSpPr>
        <p:spPr>
          <a:xfrm>
            <a:off x="3088620" y="3471911"/>
            <a:ext cx="10542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1400" dirty="0"/>
              <a:t>Intronic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71FA7B5-9EBE-C241-B126-EBD4E9F63D51}"/>
              </a:ext>
            </a:extLst>
          </p:cNvPr>
          <p:cNvCxnSpPr/>
          <p:nvPr/>
        </p:nvCxnSpPr>
        <p:spPr>
          <a:xfrm flipH="1" flipV="1">
            <a:off x="3613389" y="3191503"/>
            <a:ext cx="1" cy="2696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3A173380-3DAB-C14D-90C4-0FEA6F456DAE}"/>
              </a:ext>
            </a:extLst>
          </p:cNvPr>
          <p:cNvSpPr txBox="1"/>
          <p:nvPr/>
        </p:nvSpPr>
        <p:spPr>
          <a:xfrm>
            <a:off x="7570778" y="1687226"/>
            <a:ext cx="13832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1400" dirty="0"/>
              <a:t>Transcript 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3FA400F-0446-E94A-B715-45E3E30CBA5C}"/>
              </a:ext>
            </a:extLst>
          </p:cNvPr>
          <p:cNvSpPr txBox="1"/>
          <p:nvPr/>
        </p:nvSpPr>
        <p:spPr>
          <a:xfrm>
            <a:off x="7570777" y="2729137"/>
            <a:ext cx="13832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1400" dirty="0"/>
              <a:t>Transcript B</a:t>
            </a:r>
          </a:p>
        </p:txBody>
      </p:sp>
    </p:spTree>
    <p:extLst>
      <p:ext uri="{BB962C8B-B14F-4D97-AF65-F5344CB8AC3E}">
        <p14:creationId xmlns:p14="http://schemas.microsoft.com/office/powerpoint/2010/main" val="870195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39930-8472-5A40-8203-655CEAF21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Functional annotation tools</a:t>
            </a:r>
          </a:p>
        </p:txBody>
      </p:sp>
      <p:pic>
        <p:nvPicPr>
          <p:cNvPr id="6" name="Content Placeholder 5" descr="Graphical user interface, application, chat or text message&#10;&#10;Description automatically generated">
            <a:extLst>
              <a:ext uri="{FF2B5EF4-FFF2-40B4-BE49-F238E27FC236}">
                <a16:creationId xmlns:a16="http://schemas.microsoft.com/office/drawing/2014/main" id="{FBC005A6-FB61-314A-988E-09F9564519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768" y="1942503"/>
            <a:ext cx="3669215" cy="163821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AC295-D62E-C840-851D-ADA3CFACF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6</a:t>
            </a:fld>
            <a:endParaRPr lang="en-GB"/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A647EA93-3402-844B-8BEE-49C843292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8650" y="1991304"/>
            <a:ext cx="1778000" cy="63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4E3AD12-7D06-DD49-A753-D50DB94D3B64}"/>
              </a:ext>
            </a:extLst>
          </p:cNvPr>
          <p:cNvSpPr/>
          <p:nvPr/>
        </p:nvSpPr>
        <p:spPr>
          <a:xfrm>
            <a:off x="504752" y="1831732"/>
            <a:ext cx="4068000" cy="21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222195-9AB3-164C-94C5-7EAA1B230991}"/>
              </a:ext>
            </a:extLst>
          </p:cNvPr>
          <p:cNvSpPr/>
          <p:nvPr/>
        </p:nvSpPr>
        <p:spPr>
          <a:xfrm>
            <a:off x="4723542" y="1831732"/>
            <a:ext cx="4068000" cy="21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2FD6DD-2659-0D46-AF43-F5188493D8CF}"/>
              </a:ext>
            </a:extLst>
          </p:cNvPr>
          <p:cNvSpPr/>
          <p:nvPr/>
        </p:nvSpPr>
        <p:spPr>
          <a:xfrm>
            <a:off x="2686051" y="4264517"/>
            <a:ext cx="4068000" cy="21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12" name="Grafik 12">
            <a:extLst>
              <a:ext uri="{FF2B5EF4-FFF2-40B4-BE49-F238E27FC236}">
                <a16:creationId xmlns:a16="http://schemas.microsoft.com/office/drawing/2014/main" id="{EA066A7B-7B9C-5C42-B78C-CDA2C7CD94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5191" y="4422283"/>
            <a:ext cx="3889720" cy="1637109"/>
          </a:xfrm>
          <a:prstGeom prst="rect">
            <a:avLst/>
          </a:prstGeom>
        </p:spPr>
      </p:pic>
      <p:sp>
        <p:nvSpPr>
          <p:cNvPr id="13" name="Rechteck 6">
            <a:extLst>
              <a:ext uri="{FF2B5EF4-FFF2-40B4-BE49-F238E27FC236}">
                <a16:creationId xmlns:a16="http://schemas.microsoft.com/office/drawing/2014/main" id="{846829C5-09A3-0D4E-A16C-C22FB266DEEB}"/>
              </a:ext>
            </a:extLst>
          </p:cNvPr>
          <p:cNvSpPr/>
          <p:nvPr/>
        </p:nvSpPr>
        <p:spPr>
          <a:xfrm>
            <a:off x="504752" y="3580716"/>
            <a:ext cx="3904227" cy="24622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000" dirty="0">
                <a:ea typeface="Verdana"/>
                <a:hlinkClick r:id="rId5"/>
              </a:rPr>
              <a:t>VEP</a:t>
            </a:r>
            <a:endParaRPr lang="en-US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387692-082E-7840-A5AA-691E35F85EDD}"/>
              </a:ext>
            </a:extLst>
          </p:cNvPr>
          <p:cNvSpPr txBox="1"/>
          <p:nvPr/>
        </p:nvSpPr>
        <p:spPr>
          <a:xfrm>
            <a:off x="4759586" y="2706348"/>
            <a:ext cx="54541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Command line: </a:t>
            </a:r>
            <a:r>
              <a:rPr lang="en-US" sz="1400" dirty="0">
                <a:hlinkClick r:id="rId6"/>
              </a:rPr>
              <a:t>https://annovar.openbioinformatics.org/</a:t>
            </a:r>
            <a:endParaRPr lang="en-US" sz="1400" dirty="0"/>
          </a:p>
          <a:p>
            <a:r>
              <a:rPr lang="en-CH" dirty="0"/>
              <a:t>Web-based: </a:t>
            </a:r>
          </a:p>
          <a:p>
            <a:r>
              <a:rPr lang="en-US" sz="1400" dirty="0">
                <a:hlinkClick r:id="rId7"/>
              </a:rPr>
              <a:t>https://</a:t>
            </a:r>
            <a:r>
              <a:rPr lang="en-US" sz="1400" dirty="0" err="1">
                <a:hlinkClick r:id="rId7"/>
              </a:rPr>
              <a:t>wannovar.wglab.org</a:t>
            </a:r>
            <a:r>
              <a:rPr lang="en-US" sz="1400" dirty="0">
                <a:hlinkClick r:id="rId7"/>
              </a:rPr>
              <a:t>/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5744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27A12-E963-944A-8FAE-971303B90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Effect prediction scores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94514-4438-AE42-8271-1484A9178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66022"/>
            <a:ext cx="6197297" cy="52919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CH" dirty="0"/>
              <a:t>One “high impact” mutation is not the other </a:t>
            </a:r>
          </a:p>
          <a:p>
            <a:r>
              <a:rPr lang="en-CH" dirty="0"/>
              <a:t>Prediction of effect based on e.g.:</a:t>
            </a:r>
          </a:p>
          <a:p>
            <a:pPr lvl="1"/>
            <a:r>
              <a:rPr lang="en-CH" dirty="0"/>
              <a:t>Comparative genomics (conserved regions)</a:t>
            </a:r>
          </a:p>
          <a:p>
            <a:pPr lvl="1"/>
            <a:r>
              <a:rPr lang="en-CH" dirty="0"/>
              <a:t>Protein structure/biochemistry</a:t>
            </a:r>
          </a:p>
          <a:p>
            <a:pPr lvl="1"/>
            <a:r>
              <a:rPr lang="en-CH" dirty="0"/>
              <a:t>Experimental function (e.g. eQTL)</a:t>
            </a:r>
          </a:p>
          <a:p>
            <a:r>
              <a:rPr lang="en-CH" dirty="0"/>
              <a:t>For human genome many databases available, e.g.:</a:t>
            </a:r>
          </a:p>
          <a:p>
            <a:pPr lvl="1"/>
            <a:r>
              <a:rPr lang="en-CH" dirty="0">
                <a:hlinkClick r:id="rId2"/>
              </a:rPr>
              <a:t>dbNSFP</a:t>
            </a:r>
          </a:p>
          <a:p>
            <a:pPr lvl="1"/>
            <a:r>
              <a:rPr lang="en-CH" dirty="0">
                <a:hlinkClick r:id="rId3"/>
              </a:rPr>
              <a:t>MutationTaster</a:t>
            </a:r>
            <a:endParaRPr lang="en-CH" dirty="0"/>
          </a:p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48A7F-5960-E34A-928D-0E758EE7B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FFD7-BD89-4AAB-A8FF-0A6846053A87}" type="slidenum">
              <a:rPr lang="en-GB" smtClean="0"/>
              <a:t>7</a:t>
            </a:fld>
            <a:endParaRPr lang="en-GB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17218A44-1478-EE40-8750-037E0E0528E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14" t="31661" r="27752"/>
          <a:stretch/>
        </p:blipFill>
        <p:spPr>
          <a:xfrm>
            <a:off x="6825947" y="3760115"/>
            <a:ext cx="2289474" cy="289175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EB92D5E-4FD1-5D47-A694-89E91D3286E2}"/>
              </a:ext>
            </a:extLst>
          </p:cNvPr>
          <p:cNvSpPr/>
          <p:nvPr/>
        </p:nvSpPr>
        <p:spPr>
          <a:xfrm>
            <a:off x="6831546" y="3677294"/>
            <a:ext cx="247426" cy="398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E7E242-DA87-3E49-9E39-15EADA47D528}"/>
              </a:ext>
            </a:extLst>
          </p:cNvPr>
          <p:cNvSpPr/>
          <p:nvPr/>
        </p:nvSpPr>
        <p:spPr>
          <a:xfrm>
            <a:off x="8851637" y="5563497"/>
            <a:ext cx="292363" cy="6099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23258242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Kantoorth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4037</TotalTime>
  <Words>273</Words>
  <Application>Microsoft Office PowerPoint</Application>
  <PresentationFormat>On-screen Show (4:3)</PresentationFormat>
  <Paragraphs>57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Kantoorthema</vt:lpstr>
      <vt:lpstr>NGS – variant analysis  Variant annotation </vt:lpstr>
      <vt:lpstr>Variant annotation</vt:lpstr>
      <vt:lpstr>Coding variants</vt:lpstr>
      <vt:lpstr>Sequence ontology</vt:lpstr>
      <vt:lpstr>Isoforms</vt:lpstr>
      <vt:lpstr>Functional annotation tools</vt:lpstr>
      <vt:lpstr>Effect prediction scores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Molecular breeding for postharvest performance in chrysanthemum</dc:title>
  <dc:creator>Geert van Geest</dc:creator>
  <cp:lastModifiedBy>Geert van Geest</cp:lastModifiedBy>
  <cp:revision>608</cp:revision>
  <dcterms:created xsi:type="dcterms:W3CDTF">2016-03-03T14:17:47Z</dcterms:created>
  <dcterms:modified xsi:type="dcterms:W3CDTF">2026-04-09T13:07:12Z</dcterms:modified>
</cp:coreProperties>
</file>