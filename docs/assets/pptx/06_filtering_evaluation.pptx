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442" r:id="rId2"/>
    <p:sldId id="459" r:id="rId3"/>
    <p:sldId id="468" r:id="rId4"/>
    <p:sldId id="472" r:id="rId5"/>
    <p:sldId id="480" r:id="rId6"/>
    <p:sldId id="476" r:id="rId7"/>
    <p:sldId id="481" r:id="rId8"/>
    <p:sldId id="479" r:id="rId9"/>
    <p:sldId id="477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eert van Geest" initials="GvG" lastIdx="1" clrIdx="0">
    <p:extLst>
      <p:ext uri="{19B8F6BF-5375-455C-9EA6-DF929625EA0E}">
        <p15:presenceInfo xmlns:p15="http://schemas.microsoft.com/office/powerpoint/2012/main" userId="Geert van Gees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99EB"/>
    <a:srgbClr val="DB55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99F304-F495-72AD-9EBA-B5C305B60884}" v="37" dt="2026-04-09T12:36:41.4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Geen stijl, tabel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Stijl, lich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48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696" y="1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ndrille Duchemin" userId="S::wandrille.duchemin@sib.swiss::596953ca-d0e7-4045-97a9-2ed7b88fab1e" providerId="AD" clId="Web-{9099F304-F495-72AD-9EBA-B5C305B60884}"/>
    <pc:docChg chg="addSld modSld sldOrd">
      <pc:chgData name="Wandrille Duchemin" userId="S::wandrille.duchemin@sib.swiss::596953ca-d0e7-4045-97a9-2ed7b88fab1e" providerId="AD" clId="Web-{9099F304-F495-72AD-9EBA-B5C305B60884}" dt="2026-04-09T12:36:41.421" v="36"/>
      <pc:docMkLst>
        <pc:docMk/>
      </pc:docMkLst>
      <pc:sldChg chg="delSp delAnim">
        <pc:chgData name="Wandrille Duchemin" userId="S::wandrille.duchemin@sib.swiss::596953ca-d0e7-4045-97a9-2ed7b88fab1e" providerId="AD" clId="Web-{9099F304-F495-72AD-9EBA-B5C305B60884}" dt="2026-04-09T12:29:32.927" v="4"/>
        <pc:sldMkLst>
          <pc:docMk/>
          <pc:sldMk cId="217673025" sldId="472"/>
        </pc:sldMkLst>
        <pc:spChg chg="del">
          <ac:chgData name="Wandrille Duchemin" userId="S::wandrille.duchemin@sib.swiss::596953ca-d0e7-4045-97a9-2ed7b88fab1e" providerId="AD" clId="Web-{9099F304-F495-72AD-9EBA-B5C305B60884}" dt="2026-04-09T12:29:23.381" v="1"/>
          <ac:spMkLst>
            <pc:docMk/>
            <pc:sldMk cId="217673025" sldId="472"/>
            <ac:spMk id="21" creationId="{F4E61935-5987-A445-B090-44514A4D76D6}"/>
          </ac:spMkLst>
        </pc:spChg>
        <pc:grpChg chg="del">
          <ac:chgData name="Wandrille Duchemin" userId="S::wandrille.duchemin@sib.swiss::596953ca-d0e7-4045-97a9-2ed7b88fab1e" providerId="AD" clId="Web-{9099F304-F495-72AD-9EBA-B5C305B60884}" dt="2026-04-09T12:29:27.287" v="3"/>
          <ac:grpSpMkLst>
            <pc:docMk/>
            <pc:sldMk cId="217673025" sldId="472"/>
            <ac:grpSpMk id="28" creationId="{5A02DCB9-74F3-8C4D-8A33-D819496742D3}"/>
          </ac:grpSpMkLst>
        </pc:grpChg>
        <pc:grpChg chg="del">
          <ac:chgData name="Wandrille Duchemin" userId="S::wandrille.duchemin@sib.swiss::596953ca-d0e7-4045-97a9-2ed7b88fab1e" providerId="AD" clId="Web-{9099F304-F495-72AD-9EBA-B5C305B60884}" dt="2026-04-09T12:29:23.709" v="2"/>
          <ac:grpSpMkLst>
            <pc:docMk/>
            <pc:sldMk cId="217673025" sldId="472"/>
            <ac:grpSpMk id="29" creationId="{57C1C650-BB05-3D43-A7F1-1909EEE5668C}"/>
          </ac:grpSpMkLst>
        </pc:grpChg>
        <pc:cxnChg chg="del">
          <ac:chgData name="Wandrille Duchemin" userId="S::wandrille.duchemin@sib.swiss::596953ca-d0e7-4045-97a9-2ed7b88fab1e" providerId="AD" clId="Web-{9099F304-F495-72AD-9EBA-B5C305B60884}" dt="2026-04-09T12:29:32.927" v="4"/>
          <ac:cxnSpMkLst>
            <pc:docMk/>
            <pc:sldMk cId="217673025" sldId="472"/>
            <ac:cxnSpMk id="25" creationId="{7D93853E-0685-5047-B17E-FC272FA41E17}"/>
          </ac:cxnSpMkLst>
        </pc:cxnChg>
      </pc:sldChg>
      <pc:sldChg chg="addSp delSp modSp">
        <pc:chgData name="Wandrille Duchemin" userId="S::wandrille.duchemin@sib.swiss::596953ca-d0e7-4045-97a9-2ed7b88fab1e" providerId="AD" clId="Web-{9099F304-F495-72AD-9EBA-B5C305B60884}" dt="2026-04-09T12:32:43.767" v="28" actId="14100"/>
        <pc:sldMkLst>
          <pc:docMk/>
          <pc:sldMk cId="1601238633" sldId="476"/>
        </pc:sldMkLst>
        <pc:spChg chg="add mod">
          <ac:chgData name="Wandrille Duchemin" userId="S::wandrille.duchemin@sib.swiss::596953ca-d0e7-4045-97a9-2ed7b88fab1e" providerId="AD" clId="Web-{9099F304-F495-72AD-9EBA-B5C305B60884}" dt="2026-04-09T12:32:43.767" v="28" actId="14100"/>
          <ac:spMkLst>
            <pc:docMk/>
            <pc:sldMk cId="1601238633" sldId="476"/>
            <ac:spMk id="6" creationId="{A73D297C-FFC6-1B77-67B4-1C1B827C3CAF}"/>
          </ac:spMkLst>
        </pc:spChg>
        <pc:spChg chg="mod">
          <ac:chgData name="Wandrille Duchemin" userId="S::wandrille.duchemin@sib.swiss::596953ca-d0e7-4045-97a9-2ed7b88fab1e" providerId="AD" clId="Web-{9099F304-F495-72AD-9EBA-B5C305B60884}" dt="2026-04-09T12:30:24.692" v="8" actId="14100"/>
          <ac:spMkLst>
            <pc:docMk/>
            <pc:sldMk cId="1601238633" sldId="476"/>
            <ac:spMk id="15" creationId="{C505E8F0-0446-6C46-BF6C-0F3B4FC29715}"/>
          </ac:spMkLst>
        </pc:spChg>
        <pc:grpChg chg="del mod">
          <ac:chgData name="Wandrille Duchemin" userId="S::wandrille.duchemin@sib.swiss::596953ca-d0e7-4045-97a9-2ed7b88fab1e" providerId="AD" clId="Web-{9099F304-F495-72AD-9EBA-B5C305B60884}" dt="2026-04-09T12:30:18.942" v="7"/>
          <ac:grpSpMkLst>
            <pc:docMk/>
            <pc:sldMk cId="1601238633" sldId="476"/>
            <ac:grpSpMk id="16" creationId="{7431DA12-36E6-D846-867C-7C18D165BAC3}"/>
          </ac:grpSpMkLst>
        </pc:grpChg>
        <pc:grpChg chg="del">
          <ac:chgData name="Wandrille Duchemin" userId="S::wandrille.duchemin@sib.swiss::596953ca-d0e7-4045-97a9-2ed7b88fab1e" providerId="AD" clId="Web-{9099F304-F495-72AD-9EBA-B5C305B60884}" dt="2026-04-09T12:32:30.892" v="25"/>
          <ac:grpSpMkLst>
            <pc:docMk/>
            <pc:sldMk cId="1601238633" sldId="476"/>
            <ac:grpSpMk id="22" creationId="{6C353CC3-07B3-114C-A679-6CF6336A20AE}"/>
          </ac:grpSpMkLst>
        </pc:grpChg>
        <pc:picChg chg="mod">
          <ac:chgData name="Wandrille Duchemin" userId="S::wandrille.duchemin@sib.swiss::596953ca-d0e7-4045-97a9-2ed7b88fab1e" providerId="AD" clId="Web-{9099F304-F495-72AD-9EBA-B5C305B60884}" dt="2026-04-09T12:31:27.018" v="16" actId="1076"/>
          <ac:picMkLst>
            <pc:docMk/>
            <pc:sldMk cId="1601238633" sldId="476"/>
            <ac:picMk id="14" creationId="{EAAB899B-A576-194C-AA9F-9F9429FD5D00}"/>
          </ac:picMkLst>
        </pc:picChg>
        <pc:cxnChg chg="add del mod">
          <ac:chgData name="Wandrille Duchemin" userId="S::wandrille.duchemin@sib.swiss::596953ca-d0e7-4045-97a9-2ed7b88fab1e" providerId="AD" clId="Web-{9099F304-F495-72AD-9EBA-B5C305B60884}" dt="2026-04-09T12:32:23.768" v="23"/>
          <ac:cxnSpMkLst>
            <pc:docMk/>
            <pc:sldMk cId="1601238633" sldId="476"/>
            <ac:cxnSpMk id="5" creationId="{9FCB1789-193F-C958-183C-C8278435D013}"/>
          </ac:cxnSpMkLst>
        </pc:cxnChg>
        <pc:cxnChg chg="del mod">
          <ac:chgData name="Wandrille Duchemin" userId="S::wandrille.duchemin@sib.swiss::596953ca-d0e7-4045-97a9-2ed7b88fab1e" providerId="AD" clId="Web-{9099F304-F495-72AD-9EBA-B5C305B60884}" dt="2026-04-09T12:32:24.736" v="24"/>
          <ac:cxnSpMkLst>
            <pc:docMk/>
            <pc:sldMk cId="1601238633" sldId="476"/>
            <ac:cxnSpMk id="30" creationId="{543F5FDB-76E1-6440-87F0-1F0738869207}"/>
          </ac:cxnSpMkLst>
        </pc:cxnChg>
      </pc:sldChg>
      <pc:sldChg chg="ord">
        <pc:chgData name="Wandrille Duchemin" userId="S::wandrille.duchemin@sib.swiss::596953ca-d0e7-4045-97a9-2ed7b88fab1e" providerId="AD" clId="Web-{9099F304-F495-72AD-9EBA-B5C305B60884}" dt="2026-04-09T12:36:41.421" v="36"/>
        <pc:sldMkLst>
          <pc:docMk/>
          <pc:sldMk cId="3723840322" sldId="477"/>
        </pc:sldMkLst>
      </pc:sldChg>
      <pc:sldChg chg="modSp ord">
        <pc:chgData name="Wandrille Duchemin" userId="S::wandrille.duchemin@sib.swiss::596953ca-d0e7-4045-97a9-2ed7b88fab1e" providerId="AD" clId="Web-{9099F304-F495-72AD-9EBA-B5C305B60884}" dt="2026-04-09T12:36:17.234" v="32"/>
        <pc:sldMkLst>
          <pc:docMk/>
          <pc:sldMk cId="3469122684" sldId="479"/>
        </pc:sldMkLst>
        <pc:spChg chg="mod">
          <ac:chgData name="Wandrille Duchemin" userId="S::wandrille.duchemin@sib.swiss::596953ca-d0e7-4045-97a9-2ed7b88fab1e" providerId="AD" clId="Web-{9099F304-F495-72AD-9EBA-B5C305B60884}" dt="2026-04-09T12:33:54.313" v="30" actId="20577"/>
          <ac:spMkLst>
            <pc:docMk/>
            <pc:sldMk cId="3469122684" sldId="479"/>
            <ac:spMk id="2" creationId="{C6D4AFA3-B331-D24C-B2B2-2DD221EF3DEE}"/>
          </ac:spMkLst>
        </pc:spChg>
      </pc:sldChg>
      <pc:sldChg chg="delSp modSp add replId delAnim">
        <pc:chgData name="Wandrille Duchemin" userId="S::wandrille.duchemin@sib.swiss::596953ca-d0e7-4045-97a9-2ed7b88fab1e" providerId="AD" clId="Web-{9099F304-F495-72AD-9EBA-B5C305B60884}" dt="2026-04-09T12:30:33.723" v="10" actId="14100"/>
        <pc:sldMkLst>
          <pc:docMk/>
          <pc:sldMk cId="62102041" sldId="480"/>
        </pc:sldMkLst>
        <pc:spChg chg="mod">
          <ac:chgData name="Wandrille Duchemin" userId="S::wandrille.duchemin@sib.swiss::596953ca-d0e7-4045-97a9-2ed7b88fab1e" providerId="AD" clId="Web-{9099F304-F495-72AD-9EBA-B5C305B60884}" dt="2026-04-09T12:30:33.723" v="10" actId="14100"/>
          <ac:spMkLst>
            <pc:docMk/>
            <pc:sldMk cId="62102041" sldId="480"/>
            <ac:spMk id="21" creationId="{53B1F2F6-A76D-3C59-1F48-2BF22432D77C}"/>
          </ac:spMkLst>
        </pc:spChg>
        <pc:grpChg chg="del">
          <ac:chgData name="Wandrille Duchemin" userId="S::wandrille.duchemin@sib.swiss::596953ca-d0e7-4045-97a9-2ed7b88fab1e" providerId="AD" clId="Web-{9099F304-F495-72AD-9EBA-B5C305B60884}" dt="2026-04-09T12:30:30.004" v="9"/>
          <ac:grpSpMkLst>
            <pc:docMk/>
            <pc:sldMk cId="62102041" sldId="480"/>
            <ac:grpSpMk id="28" creationId="{5EF83A0E-92B4-5282-2A97-BA5E55C4ECA3}"/>
          </ac:grpSpMkLst>
        </pc:grpChg>
      </pc:sldChg>
      <pc:sldChg chg="delSp add ord replId delAnim">
        <pc:chgData name="Wandrille Duchemin" userId="S::wandrille.duchemin@sib.swiss::596953ca-d0e7-4045-97a9-2ed7b88fab1e" providerId="AD" clId="Web-{9099F304-F495-72AD-9EBA-B5C305B60884}" dt="2026-04-09T12:36:38.265" v="35"/>
        <pc:sldMkLst>
          <pc:docMk/>
          <pc:sldMk cId="1428563930" sldId="481"/>
        </pc:sldMkLst>
        <pc:spChg chg="del">
          <ac:chgData name="Wandrille Duchemin" userId="S::wandrille.duchemin@sib.swiss::596953ca-d0e7-4045-97a9-2ed7b88fab1e" providerId="AD" clId="Web-{9099F304-F495-72AD-9EBA-B5C305B60884}" dt="2026-04-09T12:36:32.687" v="34"/>
          <ac:spMkLst>
            <pc:docMk/>
            <pc:sldMk cId="1428563930" sldId="481"/>
            <ac:spMk id="6" creationId="{D003168F-FD08-7D0C-A392-E28FD89CFDB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DEC89-0886-420E-BA80-019B54138DC0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669826-3F6A-4D3F-89A3-ED6A12A088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9253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69826-3F6A-4D3F-89A3-ED6A12A0882D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3782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0746-0CDE-4074-BDE5-E623F7146983}" type="datetime1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6132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Klik om de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E43D9-9064-4F11-9875-3DC42457D86C}" type="datetime1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1726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A713F-5FE2-4DC7-A660-466F25E4EAED}" type="datetime1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3476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83AA8-1775-46AE-88D7-871ABB959436}" type="datetime1">
              <a:rPr lang="en-GB" smtClean="0"/>
              <a:t>09/04/2026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8715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81AF8-1EB4-4CCB-BAD6-D5824E8F7DDC}" type="datetime1">
              <a:rPr lang="en-GB" smtClean="0"/>
              <a:t>09/04/2026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1386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DF14D-29EE-4785-B586-2D7AC2C36860}" type="datetime1">
              <a:rPr lang="en-GB" smtClean="0"/>
              <a:t>09/04/2026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6615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30A99-36EB-4660-8947-15D8E10E490E}" type="datetime1">
              <a:rPr lang="en-GB" smtClean="0"/>
              <a:t>09/04/2026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7626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B993D-33E3-484B-97CE-88461009D7BB}" type="datetime1">
              <a:rPr lang="en-GB" smtClean="0"/>
              <a:t>09/04/2026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1241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AFE4C-1BFC-4B5D-A48B-D19CBF206252}" type="datetime1">
              <a:rPr lang="en-GB" smtClean="0"/>
              <a:t>09/04/2026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5672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A398-4A14-4452-B35F-7EA90DD56283}" type="datetime1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7613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65B57-DD6C-4DD3-A370-C9B21AE60DC8}" type="datetime1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4795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294E0E-2BC3-44B2-B96D-B63459DB3886}" type="datetime1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2133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7194" y="1131999"/>
            <a:ext cx="7878156" cy="4000546"/>
          </a:xfrm>
        </p:spPr>
        <p:txBody>
          <a:bodyPr>
            <a:noAutofit/>
          </a:bodyPr>
          <a:lstStyle/>
          <a:p>
            <a:r>
              <a:rPr lang="en-GB" b="1" dirty="0"/>
              <a:t>NGS – variant analysis</a:t>
            </a:r>
            <a:br>
              <a:rPr lang="en-GB" b="1" dirty="0"/>
            </a:br>
            <a:br>
              <a:rPr lang="en-GB" b="1" dirty="0"/>
            </a:br>
            <a:r>
              <a:rPr lang="en-GB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Filtering and evaluation</a:t>
            </a:r>
            <a:br>
              <a:rPr lang="en-GB" b="1" dirty="0"/>
            </a:br>
            <a:endParaRPr lang="en-GB" b="1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4329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826A2-C216-D746-AE10-F33FFABEC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/>
              <a:t>GATK workflow</a:t>
            </a:r>
          </a:p>
        </p:txBody>
      </p:sp>
      <p:pic>
        <p:nvPicPr>
          <p:cNvPr id="6" name="Content Placeholder 5" descr="A picture containing diagram&#10;&#10;Description automatically generated">
            <a:extLst>
              <a:ext uri="{FF2B5EF4-FFF2-40B4-BE49-F238E27FC236}">
                <a16:creationId xmlns:a16="http://schemas.microsoft.com/office/drawing/2014/main" id="{4FB9174F-F1CD-584D-BF30-F186433F72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354229"/>
            <a:ext cx="7886700" cy="360816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7F0170-CE48-5244-81CA-9E6C436C5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2</a:t>
            </a:fld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2AD2C7-528B-D240-BB21-F854B7B0F030}"/>
              </a:ext>
            </a:extLst>
          </p:cNvPr>
          <p:cNvSpPr txBox="1"/>
          <p:nvPr/>
        </p:nvSpPr>
        <p:spPr>
          <a:xfrm>
            <a:off x="999066" y="1612772"/>
            <a:ext cx="1411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/>
              <a:t>Yesterday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C31C1F-0DAF-474C-8582-C5B1821C7B5D}"/>
              </a:ext>
            </a:extLst>
          </p:cNvPr>
          <p:cNvSpPr txBox="1"/>
          <p:nvPr/>
        </p:nvSpPr>
        <p:spPr>
          <a:xfrm>
            <a:off x="345232" y="6417684"/>
            <a:ext cx="56450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200"/>
              <a:t>image source: </a:t>
            </a:r>
            <a:r>
              <a:rPr lang="en-US" sz="1200" dirty="0"/>
              <a:t>https://</a:t>
            </a:r>
            <a:r>
              <a:rPr lang="en-US" sz="1200" dirty="0" err="1"/>
              <a:t>gatk.broadinstitute.org</a:t>
            </a:r>
            <a:endParaRPr lang="en-CH" sz="1200"/>
          </a:p>
        </p:txBody>
      </p:sp>
    </p:spTree>
    <p:extLst>
      <p:ext uri="{BB962C8B-B14F-4D97-AF65-F5344CB8AC3E}">
        <p14:creationId xmlns:p14="http://schemas.microsoft.com/office/powerpoint/2010/main" val="367504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6C00D-2989-834E-AD29-9FC52C489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Important QC info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8DD1E-61A5-9A4B-8246-B34C55767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Mapping quality</a:t>
            </a:r>
          </a:p>
          <a:p>
            <a:r>
              <a:rPr lang="en-CH" dirty="0"/>
              <a:t>Depth </a:t>
            </a:r>
          </a:p>
          <a:p>
            <a:r>
              <a:rPr lang="en-CH" dirty="0"/>
              <a:t>Strand-bias</a:t>
            </a:r>
          </a:p>
          <a:p>
            <a:r>
              <a:rPr lang="en-CH" dirty="0"/>
              <a:t>..</a:t>
            </a:r>
          </a:p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AB136-1B9F-0148-93C2-EF3903CAC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6207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AFD28-EDB8-CC41-AD70-AEAEBB140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49FB5-660A-034A-9920-458E15361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Hard filtering: take thresholds of each measure</a:t>
            </a:r>
          </a:p>
          <a:p>
            <a:r>
              <a:rPr lang="en-CH" dirty="0"/>
              <a:t>Machine-learning-based: VQSR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84E249-B2D2-9A48-A02E-5EE23B745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4</a:t>
            </a:fld>
            <a:endParaRPr lang="en-GB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E821997-7B31-0D46-B463-C528C8F0D8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94423" y="3366840"/>
            <a:ext cx="3354636" cy="335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73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43164-4139-5DA0-B960-EFEDA2B6B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B8BD6-5D32-4029-1A9E-86B4A5BC7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C7664-D0A4-FFFD-476E-8DC8933B2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Hard filtering: take thresholds of each measure</a:t>
            </a:r>
          </a:p>
          <a:p>
            <a:r>
              <a:rPr lang="en-CH" dirty="0"/>
              <a:t>Machine-learning-based: VQSR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E8A40-719B-DC2B-B93C-EA9789C7D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5</a:t>
            </a:fld>
            <a:endParaRPr lang="en-GB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353792B-09F1-3960-5F6E-74C76DDE2E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94423" y="3366840"/>
            <a:ext cx="3354636" cy="3354636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53B1F2F6-A76D-3C59-1F48-2BF22432D77C}"/>
              </a:ext>
            </a:extLst>
          </p:cNvPr>
          <p:cNvSpPr/>
          <p:nvPr/>
        </p:nvSpPr>
        <p:spPr>
          <a:xfrm>
            <a:off x="6072809" y="3547214"/>
            <a:ext cx="1405262" cy="1832380"/>
          </a:xfrm>
          <a:prstGeom prst="rect">
            <a:avLst/>
          </a:prstGeom>
          <a:solidFill>
            <a:srgbClr val="E7E6E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66E1852-E20C-4EC9-44AC-16A9D4E84F45}"/>
              </a:ext>
            </a:extLst>
          </p:cNvPr>
          <p:cNvGrpSpPr/>
          <p:nvPr/>
        </p:nvGrpSpPr>
        <p:grpSpPr>
          <a:xfrm>
            <a:off x="6072809" y="5391164"/>
            <a:ext cx="2588966" cy="920735"/>
            <a:chOff x="4572000" y="5391164"/>
            <a:chExt cx="2588966" cy="92073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CCEA1A3-AE3F-503F-F0B1-DBC77FED78D8}"/>
                </a:ext>
              </a:extLst>
            </p:cNvPr>
            <p:cNvSpPr/>
            <p:nvPr/>
          </p:nvSpPr>
          <p:spPr>
            <a:xfrm>
              <a:off x="4572000" y="5409282"/>
              <a:ext cx="2588966" cy="902617"/>
            </a:xfrm>
            <a:prstGeom prst="rect">
              <a:avLst/>
            </a:prstGeom>
            <a:solidFill>
              <a:srgbClr val="E7E6E6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C7FC5C6-A72A-FCCC-DCB5-790CC0980639}"/>
                </a:ext>
              </a:extLst>
            </p:cNvPr>
            <p:cNvCxnSpPr/>
            <p:nvPr/>
          </p:nvCxnSpPr>
          <p:spPr>
            <a:xfrm>
              <a:off x="4572000" y="5391164"/>
              <a:ext cx="2588965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BD972D6-E0B6-D8D4-7324-211C7D637083}"/>
              </a:ext>
            </a:extLst>
          </p:cNvPr>
          <p:cNvCxnSpPr>
            <a:cxnSpLocks/>
          </p:cNvCxnSpPr>
          <p:nvPr/>
        </p:nvCxnSpPr>
        <p:spPr>
          <a:xfrm flipV="1">
            <a:off x="7507759" y="3547431"/>
            <a:ext cx="0" cy="276446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102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AFD28-EDB8-CC41-AD70-AEAEBB140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VQSR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49FB5-660A-034A-9920-458E15361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Better performance compared to hard filtering, but you will need:</a:t>
            </a:r>
          </a:p>
          <a:p>
            <a:pPr lvl="1"/>
            <a:r>
              <a:rPr lang="en-CH" dirty="0"/>
              <a:t>Truth-set</a:t>
            </a:r>
          </a:p>
          <a:p>
            <a:pPr lvl="1"/>
            <a:r>
              <a:rPr lang="en-CH" dirty="0"/>
              <a:t>‘Large’ dataset (whole </a:t>
            </a:r>
            <a:r>
              <a:rPr lang="en-CH"/>
              <a:t>genome or </a:t>
            </a:r>
            <a:r>
              <a:rPr lang="en-CH" dirty="0"/>
              <a:t>30 whole exomes)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84E249-B2D2-9A48-A02E-5EE23B745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6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EAAB899B-A576-194C-AA9F-9F9429FD5D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94423" y="3366840"/>
            <a:ext cx="3354636" cy="335463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505E8F0-0446-6C46-BF6C-0F3B4FC29715}"/>
              </a:ext>
            </a:extLst>
          </p:cNvPr>
          <p:cNvSpPr/>
          <p:nvPr/>
        </p:nvSpPr>
        <p:spPr>
          <a:xfrm>
            <a:off x="6072809" y="4744642"/>
            <a:ext cx="1405262" cy="634952"/>
          </a:xfrm>
          <a:prstGeom prst="rect">
            <a:avLst/>
          </a:prstGeom>
          <a:solidFill>
            <a:srgbClr val="E7E6E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3D297C-FFC6-1B77-67B4-1C1B827C3CAF}"/>
              </a:ext>
            </a:extLst>
          </p:cNvPr>
          <p:cNvSpPr/>
          <p:nvPr/>
        </p:nvSpPr>
        <p:spPr>
          <a:xfrm>
            <a:off x="6072809" y="5316142"/>
            <a:ext cx="2586876" cy="928424"/>
          </a:xfrm>
          <a:prstGeom prst="rect">
            <a:avLst/>
          </a:prstGeom>
          <a:solidFill>
            <a:srgbClr val="E7E6E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01238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CF2E2-6970-7C5A-99B3-C25F218F5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4F0F7-C4F8-CA9C-51FF-340116990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Evaluation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E9540D-8651-2749-F10E-5884EDD12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7</a:t>
            </a:fld>
            <a:endParaRPr lang="en-GB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69BDCD3-3065-1A33-FC47-164DE7E1A1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1863" y="0"/>
            <a:ext cx="37734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FF4B68-26FE-89C1-A94A-7B50B198F966}"/>
              </a:ext>
            </a:extLst>
          </p:cNvPr>
          <p:cNvSpPr txBox="1"/>
          <p:nvPr/>
        </p:nvSpPr>
        <p:spPr>
          <a:xfrm>
            <a:off x="0" y="6576271"/>
            <a:ext cx="90847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By </a:t>
            </a:r>
            <a:r>
              <a:rPr lang="en-US" sz="1000" dirty="0" err="1">
                <a:solidFill>
                  <a:schemeClr val="bg1">
                    <a:lumMod val="65000"/>
                  </a:schemeClr>
                </a:solidFill>
              </a:rPr>
              <a:t>Walber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 - Own work, CC BY-SA 4.0, https://</a:t>
            </a:r>
            <a:r>
              <a:rPr lang="en-US" sz="1000" dirty="0" err="1">
                <a:solidFill>
                  <a:schemeClr val="bg1">
                    <a:lumMod val="65000"/>
                  </a:schemeClr>
                </a:solidFill>
              </a:rPr>
              <a:t>commons.wikimedia.org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/w/</a:t>
            </a:r>
            <a:r>
              <a:rPr lang="en-US" sz="1000" dirty="0" err="1">
                <a:solidFill>
                  <a:schemeClr val="bg1">
                    <a:lumMod val="65000"/>
                  </a:schemeClr>
                </a:solidFill>
              </a:rPr>
              <a:t>index.php?curid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=36926283</a:t>
            </a:r>
            <a:endParaRPr lang="en-CH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FA230C0-F659-1457-B4DB-94BD00C58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1825625"/>
            <a:ext cx="3943350" cy="4351338"/>
          </a:xfrm>
        </p:spPr>
        <p:txBody>
          <a:bodyPr/>
          <a:lstStyle/>
          <a:p>
            <a:r>
              <a:rPr lang="en-CH" b="1" dirty="0"/>
              <a:t>Precision</a:t>
            </a:r>
            <a:r>
              <a:rPr lang="en-CH" dirty="0"/>
              <a:t>: how many of the selected variants were true variants?</a:t>
            </a:r>
          </a:p>
          <a:p>
            <a:r>
              <a:rPr lang="en-CH" b="1" dirty="0"/>
              <a:t>Recall</a:t>
            </a:r>
            <a:r>
              <a:rPr lang="en-CH" dirty="0"/>
              <a:t>: how many of the true variants were selected?</a:t>
            </a:r>
          </a:p>
        </p:txBody>
      </p:sp>
    </p:spTree>
    <p:extLst>
      <p:ext uri="{BB962C8B-B14F-4D97-AF65-F5344CB8AC3E}">
        <p14:creationId xmlns:p14="http://schemas.microsoft.com/office/powerpoint/2010/main" val="1428563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4AFA3-B331-D24C-B2B2-2DD221EF3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/>
              <a:t>Question 14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347B1-55EE-4A47-BBD6-DF123797A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8</a:t>
            </a:fld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8FA5BA9-A88A-B542-83CD-EB56A3E8E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/>
          <a:lstStyle/>
          <a:p>
            <a:pPr marL="0" indent="0">
              <a:buNone/>
            </a:pP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469122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88FBC-02A9-4F40-BECA-78C359BD3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Evaluation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1077B-CBFD-7D4B-A511-9DFE6F3A2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9</a:t>
            </a:fld>
            <a:endParaRPr lang="en-GB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7A1FF58-49F3-D242-AE8E-979F446ED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1863" y="0"/>
            <a:ext cx="37734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55734D-C164-0B45-8A0F-AB9AF2FC4329}"/>
              </a:ext>
            </a:extLst>
          </p:cNvPr>
          <p:cNvSpPr txBox="1"/>
          <p:nvPr/>
        </p:nvSpPr>
        <p:spPr>
          <a:xfrm>
            <a:off x="0" y="6576271"/>
            <a:ext cx="90847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By </a:t>
            </a:r>
            <a:r>
              <a:rPr lang="en-US" sz="1000" dirty="0" err="1">
                <a:solidFill>
                  <a:schemeClr val="bg1">
                    <a:lumMod val="65000"/>
                  </a:schemeClr>
                </a:solidFill>
              </a:rPr>
              <a:t>Walber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 - Own work, CC BY-SA 4.0, https://</a:t>
            </a:r>
            <a:r>
              <a:rPr lang="en-US" sz="1000" dirty="0" err="1">
                <a:solidFill>
                  <a:schemeClr val="bg1">
                    <a:lumMod val="65000"/>
                  </a:schemeClr>
                </a:solidFill>
              </a:rPr>
              <a:t>commons.wikimedia.org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/w/</a:t>
            </a:r>
            <a:r>
              <a:rPr lang="en-US" sz="1000" dirty="0" err="1">
                <a:solidFill>
                  <a:schemeClr val="bg1">
                    <a:lumMod val="65000"/>
                  </a:schemeClr>
                </a:solidFill>
              </a:rPr>
              <a:t>index.php?curid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=36926283</a:t>
            </a:r>
            <a:endParaRPr lang="en-CH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AF36961-4016-364B-9AB2-10B55DDF0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1825625"/>
            <a:ext cx="3943350" cy="4351338"/>
          </a:xfrm>
        </p:spPr>
        <p:txBody>
          <a:bodyPr/>
          <a:lstStyle/>
          <a:p>
            <a:r>
              <a:rPr lang="en-CH" b="1" dirty="0"/>
              <a:t>Precision</a:t>
            </a:r>
            <a:r>
              <a:rPr lang="en-CH" dirty="0"/>
              <a:t>: how many of the selected variants were true variants?</a:t>
            </a:r>
          </a:p>
          <a:p>
            <a:r>
              <a:rPr lang="en-CH" b="1" dirty="0"/>
              <a:t>Recall</a:t>
            </a:r>
            <a:r>
              <a:rPr lang="en-CH" dirty="0"/>
              <a:t>: how many of the true variants were selected?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E51B58E-2C1A-4E45-86FE-7317A00D31B6}"/>
              </a:ext>
            </a:extLst>
          </p:cNvPr>
          <p:cNvSpPr/>
          <p:nvPr/>
        </p:nvSpPr>
        <p:spPr>
          <a:xfrm>
            <a:off x="5527964" y="1690689"/>
            <a:ext cx="1859972" cy="1569163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723840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theme/theme1.xml><?xml version="1.0" encoding="utf-8"?>
<a:theme xmlns:a="http://schemas.openxmlformats.org/drawingml/2006/main" name="Kantoorthema">
  <a:themeElements>
    <a:clrScheme name="Kantoorth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2808</TotalTime>
  <Words>129</Words>
  <Application>Microsoft Office PowerPoint</Application>
  <PresentationFormat>On-screen Show (4:3)</PresentationFormat>
  <Paragraphs>29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Kantoorthema</vt:lpstr>
      <vt:lpstr>NGS – variant analysis  Filtering and evaluation </vt:lpstr>
      <vt:lpstr>GATK workflow</vt:lpstr>
      <vt:lpstr>Important QC info</vt:lpstr>
      <vt:lpstr>Filtering</vt:lpstr>
      <vt:lpstr>Filtering</vt:lpstr>
      <vt:lpstr>VQSR</vt:lpstr>
      <vt:lpstr>Evaluation</vt:lpstr>
      <vt:lpstr>Question 14</vt:lpstr>
      <vt:lpstr>Evaluation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Molecular breeding for postharvest performance in chrysanthemum</dc:title>
  <dc:creator>Geert van Geest</dc:creator>
  <cp:lastModifiedBy>Geert vanGeest</cp:lastModifiedBy>
  <cp:revision>531</cp:revision>
  <dcterms:created xsi:type="dcterms:W3CDTF">2016-03-03T14:17:47Z</dcterms:created>
  <dcterms:modified xsi:type="dcterms:W3CDTF">2026-04-09T12:36:50Z</dcterms:modified>
</cp:coreProperties>
</file>